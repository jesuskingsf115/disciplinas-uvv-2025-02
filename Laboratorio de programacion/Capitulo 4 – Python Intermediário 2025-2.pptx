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74" r:id="rId2"/>
    <p:sldId id="262" r:id="rId3"/>
    <p:sldId id="365" r:id="rId4"/>
    <p:sldId id="366" r:id="rId5"/>
    <p:sldId id="367" r:id="rId6"/>
    <p:sldId id="364" r:id="rId7"/>
    <p:sldId id="279" r:id="rId8"/>
    <p:sldId id="327" r:id="rId9"/>
    <p:sldId id="263" r:id="rId10"/>
    <p:sldId id="328" r:id="rId11"/>
    <p:sldId id="336" r:id="rId12"/>
    <p:sldId id="337" r:id="rId13"/>
    <p:sldId id="333" r:id="rId14"/>
    <p:sldId id="369" r:id="rId15"/>
    <p:sldId id="370" r:id="rId16"/>
    <p:sldId id="371" r:id="rId17"/>
    <p:sldId id="372" r:id="rId18"/>
    <p:sldId id="334" r:id="rId19"/>
    <p:sldId id="368" r:id="rId20"/>
    <p:sldId id="373" r:id="rId21"/>
    <p:sldId id="319" r:id="rId22"/>
    <p:sldId id="374" r:id="rId23"/>
    <p:sldId id="338" r:id="rId24"/>
    <p:sldId id="375" r:id="rId25"/>
    <p:sldId id="376" r:id="rId26"/>
    <p:sldId id="361" r:id="rId27"/>
    <p:sldId id="377" r:id="rId28"/>
    <p:sldId id="378" r:id="rId29"/>
    <p:sldId id="363" r:id="rId30"/>
    <p:sldId id="379" r:id="rId31"/>
    <p:sldId id="381" r:id="rId32"/>
    <p:sldId id="380" r:id="rId33"/>
    <p:sldId id="305" r:id="rId34"/>
    <p:sldId id="326" r:id="rId35"/>
    <p:sldId id="353" r:id="rId36"/>
    <p:sldId id="309" r:id="rId37"/>
    <p:sldId id="354" r:id="rId38"/>
    <p:sldId id="322" r:id="rId39"/>
    <p:sldId id="382" r:id="rId40"/>
    <p:sldId id="332" r:id="rId41"/>
    <p:sldId id="299" r:id="rId42"/>
    <p:sldId id="313" r:id="rId43"/>
    <p:sldId id="301" r:id="rId44"/>
    <p:sldId id="324" r:id="rId45"/>
    <p:sldId id="356" r:id="rId46"/>
    <p:sldId id="357" r:id="rId47"/>
    <p:sldId id="266" r:id="rId48"/>
    <p:sldId id="312" r:id="rId49"/>
    <p:sldId id="358" r:id="rId50"/>
    <p:sldId id="335" r:id="rId51"/>
    <p:sldId id="345" r:id="rId52"/>
    <p:sldId id="346" r:id="rId53"/>
    <p:sldId id="383" r:id="rId54"/>
    <p:sldId id="384" r:id="rId55"/>
    <p:sldId id="385" r:id="rId56"/>
    <p:sldId id="386" r:id="rId57"/>
    <p:sldId id="387" r:id="rId58"/>
    <p:sldId id="388" r:id="rId5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FF99FF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E3BF71-A833-42DD-8C5E-AECAE9DDF623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4F634-290B-43E7-A386-9A8C4A3EF2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6826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F4F634-290B-43E7-A386-9A8C4A3EF22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1192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F4F634-290B-43E7-A386-9A8C4A3EF22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6933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C55D4-A66A-425E-85B5-AF7B4D8609E4}" type="datetimeFigureOut">
              <a:rPr lang="pt-BR" smtClean="0"/>
              <a:t>04/10/2025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A08-A6D6-4EAF-9AD5-6B411538F78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0323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C55D4-A66A-425E-85B5-AF7B4D8609E4}" type="datetimeFigureOut">
              <a:rPr lang="pt-BR" smtClean="0"/>
              <a:t>04/10/2025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A08-A6D6-4EAF-9AD5-6B411538F78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5758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C55D4-A66A-425E-85B5-AF7B4D8609E4}" type="datetimeFigureOut">
              <a:rPr lang="pt-BR" smtClean="0"/>
              <a:t>04/10/2025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A08-A6D6-4EAF-9AD5-6B411538F78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75227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C55D4-A66A-425E-85B5-AF7B4D8609E4}" type="datetimeFigureOut">
              <a:rPr lang="pt-BR" smtClean="0"/>
              <a:t>04/10/2025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A08-A6D6-4EAF-9AD5-6B411538F78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1399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C55D4-A66A-425E-85B5-AF7B4D8609E4}" type="datetimeFigureOut">
              <a:rPr lang="pt-BR" smtClean="0"/>
              <a:t>04/10/2025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A08-A6D6-4EAF-9AD5-6B411538F78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1075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C55D4-A66A-425E-85B5-AF7B4D8609E4}" type="datetimeFigureOut">
              <a:rPr lang="pt-BR" smtClean="0"/>
              <a:t>04/10/2025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A08-A6D6-4EAF-9AD5-6B411538F78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74289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C55D4-A66A-425E-85B5-AF7B4D8609E4}" type="datetimeFigureOut">
              <a:rPr lang="pt-BR" smtClean="0"/>
              <a:t>04/10/2025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A08-A6D6-4EAF-9AD5-6B411538F78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1932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C55D4-A66A-425E-85B5-AF7B4D8609E4}" type="datetimeFigureOut">
              <a:rPr lang="pt-BR" smtClean="0"/>
              <a:t>04/10/2025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A08-A6D6-4EAF-9AD5-6B411538F78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63502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C55D4-A66A-425E-85B5-AF7B4D8609E4}" type="datetimeFigureOut">
              <a:rPr lang="pt-BR" smtClean="0"/>
              <a:t>04/10/2025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A08-A6D6-4EAF-9AD5-6B411538F78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5308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C55D4-A66A-425E-85B5-AF7B4D8609E4}" type="datetimeFigureOut">
              <a:rPr lang="pt-BR" smtClean="0"/>
              <a:t>04/10/2025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A08-A6D6-4EAF-9AD5-6B411538F78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3332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C55D4-A66A-425E-85B5-AF7B4D8609E4}" type="datetimeFigureOut">
              <a:rPr lang="pt-BR" smtClean="0"/>
              <a:t>04/10/2025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A08-A6D6-4EAF-9AD5-6B411538F78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73330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C55D4-A66A-425E-85B5-AF7B4D8609E4}" type="datetimeFigureOut">
              <a:rPr lang="pt-BR" smtClean="0"/>
              <a:t>04/10/2025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D3A08-A6D6-4EAF-9AD5-6B411538F78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5513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pt-br/3/library/math.html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23081" y="818866"/>
            <a:ext cx="115869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CAPÍTULO 4 </a:t>
            </a:r>
          </a:p>
          <a:p>
            <a:pPr algn="ctr"/>
            <a:r>
              <a:rPr lang="pt-BR" sz="6000" b="1" dirty="0"/>
              <a:t>PYTHON Intermediário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443" y="2555117"/>
            <a:ext cx="3385185" cy="418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127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/>
          <p:cNvSpPr txBox="1"/>
          <p:nvPr/>
        </p:nvSpPr>
        <p:spPr>
          <a:xfrm>
            <a:off x="390006" y="79697"/>
            <a:ext cx="4243589" cy="5601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b="1" dirty="0" err="1">
                <a:solidFill>
                  <a:srgbClr val="FF0000"/>
                </a:solidFill>
              </a:rPr>
              <a:t>Funções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em</a:t>
            </a:r>
            <a:r>
              <a:rPr lang="en-US" sz="2800" b="1" dirty="0">
                <a:solidFill>
                  <a:srgbClr val="FF0000"/>
                </a:solidFill>
              </a:rPr>
              <a:t> Python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Na </a:t>
            </a:r>
            <a:r>
              <a:rPr lang="en-US" sz="2000" b="1" dirty="0" err="1"/>
              <a:t>programação</a:t>
            </a:r>
            <a:r>
              <a:rPr lang="en-US" sz="2000" b="1" dirty="0"/>
              <a:t>, </a:t>
            </a:r>
            <a:r>
              <a:rPr lang="en-US" sz="2000" b="1" dirty="0" err="1"/>
              <a:t>funções</a:t>
            </a:r>
            <a:r>
              <a:rPr lang="en-US" sz="2000" b="1" dirty="0"/>
              <a:t> </a:t>
            </a:r>
            <a:r>
              <a:rPr lang="en-US" sz="2000" b="1" dirty="0" err="1"/>
              <a:t>são</a:t>
            </a:r>
            <a:r>
              <a:rPr lang="en-US" sz="2000" b="1" dirty="0"/>
              <a:t> </a:t>
            </a:r>
            <a:r>
              <a:rPr lang="en-US" sz="2000" b="1" dirty="0" err="1"/>
              <a:t>blocos</a:t>
            </a:r>
            <a:r>
              <a:rPr lang="en-US" sz="2000" b="1" dirty="0"/>
              <a:t> de </a:t>
            </a:r>
            <a:r>
              <a:rPr lang="en-US" sz="2000" b="1" dirty="0" err="1"/>
              <a:t>códigos</a:t>
            </a:r>
            <a:r>
              <a:rPr lang="en-US" sz="2000" b="1" dirty="0"/>
              <a:t>(</a:t>
            </a:r>
            <a:r>
              <a:rPr lang="en-US" sz="2000" b="1" dirty="0" err="1"/>
              <a:t>instruções</a:t>
            </a:r>
            <a:r>
              <a:rPr lang="en-US" sz="2000" b="1" dirty="0"/>
              <a:t>)  que </a:t>
            </a:r>
            <a:r>
              <a:rPr lang="en-US" sz="2000" b="1" dirty="0" err="1"/>
              <a:t>realizam</a:t>
            </a:r>
            <a:r>
              <a:rPr lang="en-US" sz="2000" b="1" dirty="0"/>
              <a:t> </a:t>
            </a:r>
            <a:r>
              <a:rPr lang="en-US" sz="2000" b="1" dirty="0" err="1"/>
              <a:t>determinadas</a:t>
            </a:r>
            <a:r>
              <a:rPr lang="en-US" sz="2000" b="1" dirty="0"/>
              <a:t> </a:t>
            </a:r>
            <a:r>
              <a:rPr lang="en-US" sz="2000" b="1" dirty="0" err="1"/>
              <a:t>tarefas</a:t>
            </a:r>
            <a:r>
              <a:rPr lang="en-US" sz="2000" b="1" dirty="0"/>
              <a:t> que </a:t>
            </a:r>
            <a:r>
              <a:rPr lang="en-US" sz="2000" b="1" dirty="0" err="1"/>
              <a:t>normalmente</a:t>
            </a:r>
            <a:r>
              <a:rPr lang="en-US" sz="2000" b="1" dirty="0"/>
              <a:t> </a:t>
            </a:r>
            <a:r>
              <a:rPr lang="en-US" sz="2000" b="1" dirty="0" err="1"/>
              <a:t>precisam</a:t>
            </a:r>
            <a:r>
              <a:rPr lang="en-US" sz="2000" b="1" dirty="0"/>
              <a:t> ser </a:t>
            </a:r>
            <a:r>
              <a:rPr lang="en-US" sz="2000" b="1" dirty="0" err="1"/>
              <a:t>executadas</a:t>
            </a:r>
            <a:r>
              <a:rPr lang="en-US" sz="2000" b="1" dirty="0"/>
              <a:t> </a:t>
            </a:r>
            <a:r>
              <a:rPr lang="en-US" sz="2000" b="1" dirty="0" err="1"/>
              <a:t>diversas</a:t>
            </a:r>
            <a:r>
              <a:rPr lang="en-US" sz="2000" b="1" dirty="0"/>
              <a:t> </a:t>
            </a:r>
            <a:r>
              <a:rPr lang="en-US" sz="2000" b="1" dirty="0" err="1"/>
              <a:t>vezes</a:t>
            </a:r>
            <a:r>
              <a:rPr lang="en-US" sz="2000" b="1" dirty="0"/>
              <a:t> </a:t>
            </a:r>
            <a:r>
              <a:rPr lang="en-US" sz="2000" b="1" dirty="0" err="1"/>
              <a:t>dentro</a:t>
            </a:r>
            <a:r>
              <a:rPr lang="en-US" sz="2000" b="1" dirty="0"/>
              <a:t> de um </a:t>
            </a:r>
            <a:r>
              <a:rPr lang="en-US" sz="2000" b="1" dirty="0" err="1"/>
              <a:t>programa</a:t>
            </a:r>
            <a:r>
              <a:rPr lang="en-US" sz="2000" b="1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Para que </a:t>
            </a:r>
            <a:r>
              <a:rPr lang="en-US" b="1" dirty="0" err="1"/>
              <a:t>essas</a:t>
            </a:r>
            <a:r>
              <a:rPr lang="en-US" b="1" dirty="0"/>
              <a:t> </a:t>
            </a:r>
            <a:r>
              <a:rPr lang="en-US" b="1" dirty="0" err="1"/>
              <a:t>instruções</a:t>
            </a:r>
            <a:r>
              <a:rPr lang="en-US" b="1" dirty="0"/>
              <a:t> </a:t>
            </a:r>
            <a:r>
              <a:rPr lang="en-US" b="1" dirty="0" err="1"/>
              <a:t>não</a:t>
            </a:r>
            <a:r>
              <a:rPr lang="en-US" b="1" dirty="0"/>
              <a:t> </a:t>
            </a:r>
            <a:r>
              <a:rPr lang="en-US" b="1" dirty="0" err="1"/>
              <a:t>precisem</a:t>
            </a:r>
            <a:r>
              <a:rPr lang="en-US" b="1" dirty="0"/>
              <a:t> ser </a:t>
            </a:r>
            <a:r>
              <a:rPr lang="en-US" b="1" dirty="0" err="1"/>
              <a:t>repetidas</a:t>
            </a:r>
            <a:r>
              <a:rPr lang="en-US" b="1" dirty="0"/>
              <a:t> no </a:t>
            </a:r>
            <a:r>
              <a:rPr lang="en-US" b="1" dirty="0" err="1"/>
              <a:t>programa</a:t>
            </a:r>
            <a:r>
              <a:rPr lang="en-US" b="1" dirty="0"/>
              <a:t> </a:t>
            </a:r>
            <a:r>
              <a:rPr lang="en-US" b="1" dirty="0" err="1"/>
              <a:t>elas</a:t>
            </a:r>
            <a:r>
              <a:rPr lang="en-US" b="1" dirty="0"/>
              <a:t> </a:t>
            </a:r>
            <a:r>
              <a:rPr lang="en-US" b="1" dirty="0" err="1"/>
              <a:t>são</a:t>
            </a:r>
            <a:r>
              <a:rPr lang="en-US" b="1" dirty="0"/>
              <a:t> </a:t>
            </a:r>
            <a:r>
              <a:rPr lang="en-US" b="1" dirty="0" err="1"/>
              <a:t>agrupadas</a:t>
            </a:r>
            <a:r>
              <a:rPr lang="en-US" b="1" dirty="0"/>
              <a:t> </a:t>
            </a:r>
            <a:r>
              <a:rPr lang="en-US" b="1" dirty="0" err="1"/>
              <a:t>em</a:t>
            </a:r>
            <a:r>
              <a:rPr lang="en-US" b="1" dirty="0"/>
              <a:t> </a:t>
            </a:r>
            <a:r>
              <a:rPr lang="en-US" b="1" dirty="0" err="1"/>
              <a:t>uma</a:t>
            </a:r>
            <a:r>
              <a:rPr lang="en-US" b="1" dirty="0"/>
              <a:t> </a:t>
            </a:r>
            <a:r>
              <a:rPr lang="en-US" b="1" dirty="0" err="1"/>
              <a:t>função</a:t>
            </a:r>
            <a:r>
              <a:rPr lang="en-US" b="1" dirty="0"/>
              <a:t> que </a:t>
            </a:r>
            <a:r>
              <a:rPr lang="en-US" b="1" dirty="0" err="1"/>
              <a:t>recebe</a:t>
            </a:r>
            <a:r>
              <a:rPr lang="en-US" b="1" dirty="0"/>
              <a:t> um </a:t>
            </a:r>
            <a:r>
              <a:rPr lang="en-US" b="1" dirty="0" err="1"/>
              <a:t>nome</a:t>
            </a:r>
            <a:r>
              <a:rPr lang="en-US" b="1" dirty="0"/>
              <a:t> </a:t>
            </a:r>
            <a:r>
              <a:rPr lang="en-US" b="1" dirty="0" err="1"/>
              <a:t>específico</a:t>
            </a:r>
            <a:r>
              <a:rPr lang="en-US" b="1" dirty="0"/>
              <a:t>. 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/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Quando surge a </a:t>
            </a:r>
            <a:r>
              <a:rPr lang="en-US" b="1" dirty="0" err="1"/>
              <a:t>necessidade</a:t>
            </a:r>
            <a:r>
              <a:rPr lang="en-US" b="1" dirty="0"/>
              <a:t> de </a:t>
            </a:r>
            <a:r>
              <a:rPr lang="en-US" b="1" dirty="0" err="1"/>
              <a:t>executá</a:t>
            </a:r>
            <a:r>
              <a:rPr lang="en-US" b="1" dirty="0"/>
              <a:t>-las </a:t>
            </a:r>
            <a:r>
              <a:rPr lang="en-US" b="1" dirty="0" err="1"/>
              <a:t>em</a:t>
            </a:r>
            <a:r>
              <a:rPr lang="en-US" b="1" dirty="0"/>
              <a:t> </a:t>
            </a:r>
            <a:r>
              <a:rPr lang="en-US" b="1" dirty="0" err="1"/>
              <a:t>uma</a:t>
            </a:r>
            <a:r>
              <a:rPr lang="en-US" b="1" dirty="0"/>
              <a:t> </a:t>
            </a:r>
            <a:r>
              <a:rPr lang="en-US" b="1" dirty="0" err="1"/>
              <a:t>determinada</a:t>
            </a:r>
            <a:r>
              <a:rPr lang="en-US" b="1" dirty="0"/>
              <a:t> </a:t>
            </a:r>
            <a:r>
              <a:rPr lang="en-US" b="1" dirty="0" err="1"/>
              <a:t>parte</a:t>
            </a:r>
            <a:r>
              <a:rPr lang="en-US" b="1" dirty="0"/>
              <a:t> do </a:t>
            </a:r>
            <a:r>
              <a:rPr lang="en-US" b="1" dirty="0" err="1"/>
              <a:t>programa</a:t>
            </a:r>
            <a:r>
              <a:rPr lang="en-US" b="1" dirty="0"/>
              <a:t> o </a:t>
            </a:r>
            <a:r>
              <a:rPr lang="en-US" b="1" dirty="0" err="1"/>
              <a:t>nome</a:t>
            </a:r>
            <a:r>
              <a:rPr lang="en-US" b="1" dirty="0"/>
              <a:t> da </a:t>
            </a:r>
            <a:r>
              <a:rPr lang="en-US" b="1" dirty="0" err="1"/>
              <a:t>função</a:t>
            </a:r>
            <a:r>
              <a:rPr lang="en-US" b="1" dirty="0"/>
              <a:t> é </a:t>
            </a:r>
            <a:r>
              <a:rPr lang="en-US" b="1" dirty="0" err="1"/>
              <a:t>mencionado</a:t>
            </a:r>
            <a:r>
              <a:rPr lang="en-US" b="1" dirty="0"/>
              <a:t> (</a:t>
            </a:r>
            <a:r>
              <a:rPr lang="en-US" b="1" dirty="0" err="1"/>
              <a:t>chamado</a:t>
            </a:r>
            <a:r>
              <a:rPr lang="en-US" b="1" dirty="0"/>
              <a:t>) e </a:t>
            </a:r>
            <a:r>
              <a:rPr lang="en-US" b="1" dirty="0" err="1"/>
              <a:t>aquele</a:t>
            </a:r>
            <a:r>
              <a:rPr lang="en-US" b="1" dirty="0"/>
              <a:t> </a:t>
            </a:r>
            <a:r>
              <a:rPr lang="en-US" b="1" dirty="0" err="1"/>
              <a:t>código</a:t>
            </a:r>
            <a:r>
              <a:rPr lang="en-US" b="1" dirty="0"/>
              <a:t> é </a:t>
            </a:r>
            <a:r>
              <a:rPr lang="en-US" b="1" dirty="0" err="1"/>
              <a:t>executado</a:t>
            </a:r>
            <a:r>
              <a:rPr lang="en-US" b="1" dirty="0"/>
              <a:t>.</a:t>
            </a:r>
          </a:p>
        </p:txBody>
      </p:sp>
      <p:pic>
        <p:nvPicPr>
          <p:cNvPr id="4" name="Imagem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C9662E8C-1BCA-4FB1-3537-2CEFD5157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04925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B3249E4-71C2-E3A0-CFB5-E5C667804341}"/>
              </a:ext>
            </a:extLst>
          </p:cNvPr>
          <p:cNvSpPr txBox="1"/>
          <p:nvPr/>
        </p:nvSpPr>
        <p:spPr>
          <a:xfrm>
            <a:off x="1290320" y="1188224"/>
            <a:ext cx="8920480" cy="430887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</a:rPr>
              <a:t># FUNÇÃO PARA ESCREVER UMA SAUDAÇÃO PERSONALIZADA</a:t>
            </a:r>
          </a:p>
          <a:p>
            <a:r>
              <a:rPr lang="pt-BR" sz="2400" dirty="0" err="1"/>
              <a:t>def</a:t>
            </a:r>
            <a:r>
              <a:rPr lang="pt-BR" sz="2400" dirty="0"/>
              <a:t> </a:t>
            </a:r>
            <a:r>
              <a:rPr lang="pt-BR" sz="2400" dirty="0" err="1"/>
              <a:t>saudacao_personalizada</a:t>
            </a:r>
            <a:r>
              <a:rPr lang="pt-BR" sz="2400" dirty="0"/>
              <a:t>(nome):</a:t>
            </a:r>
          </a:p>
          <a:p>
            <a:r>
              <a:rPr lang="pt-BR" sz="2400" dirty="0"/>
              <a:t>	print(</a:t>
            </a:r>
            <a:r>
              <a:rPr lang="pt-BR" sz="2400" dirty="0" err="1"/>
              <a:t>f"Olá</a:t>
            </a:r>
            <a:r>
              <a:rPr lang="pt-BR" sz="2400" dirty="0"/>
              <a:t>, {nome}! Bem-vindo(a) ao meu programa simples.")</a:t>
            </a:r>
          </a:p>
          <a:p>
            <a:endParaRPr lang="pt-BR" sz="2400" dirty="0"/>
          </a:p>
          <a:p>
            <a:endParaRPr lang="pt-BR" sz="2400" dirty="0"/>
          </a:p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</a:rPr>
              <a:t># PROGRAMA PRINCIPAL</a:t>
            </a:r>
          </a:p>
          <a:p>
            <a:r>
              <a:rPr lang="pt-BR" sz="2400" dirty="0">
                <a:solidFill>
                  <a:srgbClr val="FF7C80"/>
                </a:solidFill>
              </a:rPr>
              <a:t># Chamando a função</a:t>
            </a:r>
          </a:p>
          <a:p>
            <a:r>
              <a:rPr lang="pt-BR" sz="2400" dirty="0" err="1"/>
              <a:t>saudacao_personalizada</a:t>
            </a:r>
            <a:r>
              <a:rPr lang="pt-BR" sz="2400" dirty="0"/>
              <a:t>("Alice")</a:t>
            </a:r>
          </a:p>
          <a:p>
            <a:r>
              <a:rPr lang="pt-BR" sz="2400" dirty="0" err="1"/>
              <a:t>saudacao_personalizada</a:t>
            </a:r>
            <a:r>
              <a:rPr lang="pt-BR" sz="2400" dirty="0"/>
              <a:t>("Bob")</a:t>
            </a:r>
          </a:p>
          <a:p>
            <a:r>
              <a:rPr lang="pt-BR" sz="2400" dirty="0" err="1"/>
              <a:t>saudacao_personalizada</a:t>
            </a:r>
            <a:r>
              <a:rPr lang="pt-BR" sz="2400" dirty="0"/>
              <a:t>("Charlie")</a:t>
            </a:r>
          </a:p>
          <a:p>
            <a:r>
              <a:rPr lang="pt-BR" sz="2400" dirty="0" err="1"/>
              <a:t>usuario</a:t>
            </a:r>
            <a:r>
              <a:rPr lang="pt-BR" sz="2400" dirty="0"/>
              <a:t> = "Daniel"</a:t>
            </a:r>
          </a:p>
          <a:p>
            <a:r>
              <a:rPr lang="pt-BR" sz="2400" dirty="0" err="1"/>
              <a:t>saudacao_personalizada</a:t>
            </a:r>
            <a:r>
              <a:rPr lang="pt-BR" sz="2400" dirty="0"/>
              <a:t>(</a:t>
            </a:r>
            <a:r>
              <a:rPr lang="pt-BR" sz="2400" dirty="0" err="1"/>
              <a:t>usuario</a:t>
            </a:r>
            <a:r>
              <a:rPr lang="pt-BR" sz="2400" dirty="0"/>
              <a:t>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947CF62-2463-109B-135C-1C4AE91AA115}"/>
              </a:ext>
            </a:extLst>
          </p:cNvPr>
          <p:cNvSpPr txBox="1"/>
          <p:nvPr/>
        </p:nvSpPr>
        <p:spPr>
          <a:xfrm>
            <a:off x="91440" y="164842"/>
            <a:ext cx="10017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EXEMPLO:</a:t>
            </a:r>
          </a:p>
        </p:txBody>
      </p:sp>
    </p:spTree>
    <p:extLst>
      <p:ext uri="{BB962C8B-B14F-4D97-AF65-F5344CB8AC3E}">
        <p14:creationId xmlns:p14="http://schemas.microsoft.com/office/powerpoint/2010/main" val="3027197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C2D61D7-0969-04E3-907A-E7F47DDAC1FA}"/>
              </a:ext>
            </a:extLst>
          </p:cNvPr>
          <p:cNvSpPr txBox="1"/>
          <p:nvPr/>
        </p:nvSpPr>
        <p:spPr>
          <a:xfrm>
            <a:off x="1595120" y="805329"/>
            <a:ext cx="7792720" cy="557075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# FUNÇÃO PARA  Calcular e retornar a área de um retângulo.</a:t>
            </a:r>
          </a:p>
          <a:p>
            <a:r>
              <a:rPr lang="pt-BR" sz="2400" dirty="0" err="1"/>
              <a:t>def</a:t>
            </a:r>
            <a:r>
              <a:rPr lang="pt-BR" sz="2400" dirty="0"/>
              <a:t> </a:t>
            </a:r>
            <a:r>
              <a:rPr lang="pt-BR" sz="2400" dirty="0" err="1"/>
              <a:t>calcular_area_retangulo</a:t>
            </a:r>
            <a:r>
              <a:rPr lang="pt-BR" sz="2400" dirty="0"/>
              <a:t>(largura, altura):</a:t>
            </a:r>
          </a:p>
          <a:p>
            <a:r>
              <a:rPr lang="pt-BR" sz="2400" dirty="0"/>
              <a:t>    </a:t>
            </a:r>
            <a:r>
              <a:rPr lang="pt-BR" sz="2400" dirty="0" err="1"/>
              <a:t>area</a:t>
            </a:r>
            <a:r>
              <a:rPr lang="pt-BR" sz="2400" dirty="0"/>
              <a:t> = largura * altura</a:t>
            </a:r>
          </a:p>
          <a:p>
            <a:r>
              <a:rPr lang="pt-BR" sz="2400" dirty="0"/>
              <a:t>    </a:t>
            </a:r>
            <a:r>
              <a:rPr lang="pt-BR" sz="2400" dirty="0" err="1"/>
              <a:t>return</a:t>
            </a:r>
            <a:r>
              <a:rPr lang="pt-BR" sz="2400" dirty="0"/>
              <a:t> </a:t>
            </a:r>
            <a:r>
              <a:rPr lang="pt-BR" sz="2400" dirty="0" err="1"/>
              <a:t>area</a:t>
            </a:r>
            <a:endParaRPr lang="pt-BR" sz="2400" dirty="0"/>
          </a:p>
          <a:p>
            <a:endParaRPr lang="pt-BR" sz="2400" dirty="0"/>
          </a:p>
          <a:p>
            <a:r>
              <a:rPr lang="pt-BR" sz="2400" b="1" dirty="0">
                <a:solidFill>
                  <a:srgbClr val="0070C0"/>
                </a:solidFill>
              </a:rPr>
              <a:t># PROGRAMA PRINCIPAL</a:t>
            </a:r>
          </a:p>
          <a:p>
            <a:r>
              <a:rPr lang="pt-BR" sz="2400" dirty="0">
                <a:solidFill>
                  <a:srgbClr val="FF7C80"/>
                </a:solidFill>
              </a:rPr>
              <a:t># Chamadas da função</a:t>
            </a:r>
          </a:p>
          <a:p>
            <a:r>
              <a:rPr lang="pt-BR" sz="2400" dirty="0"/>
              <a:t>area1 = </a:t>
            </a:r>
            <a:r>
              <a:rPr lang="pt-BR" sz="2400" dirty="0" err="1"/>
              <a:t>calcular_area_retangulo</a:t>
            </a:r>
            <a:r>
              <a:rPr lang="pt-BR" sz="2400" dirty="0"/>
              <a:t>(10, 5)</a:t>
            </a:r>
          </a:p>
          <a:p>
            <a:r>
              <a:rPr lang="pt-BR" sz="2400" dirty="0"/>
              <a:t>print(</a:t>
            </a:r>
            <a:r>
              <a:rPr lang="pt-BR" sz="2400" dirty="0" err="1"/>
              <a:t>f"A</a:t>
            </a:r>
            <a:r>
              <a:rPr lang="pt-BR" sz="2400" dirty="0"/>
              <a:t> área do primeiro retângulo é: {area1}")</a:t>
            </a:r>
          </a:p>
          <a:p>
            <a:r>
              <a:rPr lang="pt-BR" sz="2400" dirty="0"/>
              <a:t>area2 = </a:t>
            </a:r>
            <a:r>
              <a:rPr lang="pt-BR" sz="2400" dirty="0" err="1"/>
              <a:t>calcular_area_retangulo</a:t>
            </a:r>
            <a:r>
              <a:rPr lang="pt-BR" sz="2400" dirty="0"/>
              <a:t>(7.5, 3)</a:t>
            </a:r>
          </a:p>
          <a:p>
            <a:r>
              <a:rPr lang="pt-BR" sz="2400" dirty="0"/>
              <a:t>print(</a:t>
            </a:r>
            <a:r>
              <a:rPr lang="pt-BR" sz="2400" dirty="0" err="1"/>
              <a:t>f"A</a:t>
            </a:r>
            <a:r>
              <a:rPr lang="pt-BR" sz="2400" dirty="0"/>
              <a:t> área do segundo retângulo é: {area2}")</a:t>
            </a:r>
          </a:p>
          <a:p>
            <a:r>
              <a:rPr lang="pt-BR" sz="2400" dirty="0"/>
              <a:t>l = 12</a:t>
            </a:r>
          </a:p>
          <a:p>
            <a:r>
              <a:rPr lang="pt-BR" sz="2400" dirty="0"/>
              <a:t>h = 8</a:t>
            </a:r>
          </a:p>
          <a:p>
            <a:r>
              <a:rPr lang="pt-BR" sz="2400" dirty="0"/>
              <a:t>area3 = </a:t>
            </a:r>
            <a:r>
              <a:rPr lang="pt-BR" sz="2400" dirty="0" err="1"/>
              <a:t>calcular_area_retangulo</a:t>
            </a:r>
            <a:r>
              <a:rPr lang="pt-BR" sz="2400" dirty="0"/>
              <a:t>(l, h)</a:t>
            </a:r>
          </a:p>
          <a:p>
            <a:r>
              <a:rPr lang="pt-BR" sz="2400" dirty="0"/>
              <a:t>print(</a:t>
            </a:r>
            <a:r>
              <a:rPr lang="pt-BR" sz="2400" dirty="0" err="1"/>
              <a:t>f"A</a:t>
            </a:r>
            <a:r>
              <a:rPr lang="pt-BR" sz="2400" dirty="0"/>
              <a:t> área do terceiro retângulo é: {area3}")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50D0E8F-C313-F105-63F4-14984BDC3ED4}"/>
              </a:ext>
            </a:extLst>
          </p:cNvPr>
          <p:cNvSpPr txBox="1"/>
          <p:nvPr/>
        </p:nvSpPr>
        <p:spPr>
          <a:xfrm>
            <a:off x="482600" y="235694"/>
            <a:ext cx="10017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EXEMPLO:</a:t>
            </a:r>
          </a:p>
        </p:txBody>
      </p:sp>
    </p:spTree>
    <p:extLst>
      <p:ext uri="{BB962C8B-B14F-4D97-AF65-F5344CB8AC3E}">
        <p14:creationId xmlns:p14="http://schemas.microsoft.com/office/powerpoint/2010/main" val="3779903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57D6774-4B0E-D359-698A-AA9C14C00F48}"/>
              </a:ext>
            </a:extLst>
          </p:cNvPr>
          <p:cNvSpPr txBox="1"/>
          <p:nvPr/>
        </p:nvSpPr>
        <p:spPr>
          <a:xfrm>
            <a:off x="309880" y="1166842"/>
            <a:ext cx="11572240" cy="452431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7C80"/>
                </a:solidFill>
              </a:rPr>
              <a:t># FUNÇÃO PARA Analisar uma lista de números, calcular e retornar a soma, a média, o valor máximo e o valor mínimo.</a:t>
            </a:r>
          </a:p>
          <a:p>
            <a:r>
              <a:rPr lang="pt-BR" dirty="0" err="1"/>
              <a:t>def</a:t>
            </a:r>
            <a:r>
              <a:rPr lang="pt-BR" dirty="0"/>
              <a:t> </a:t>
            </a:r>
            <a:r>
              <a:rPr lang="pt-BR" dirty="0" err="1"/>
              <a:t>analisar_lista_numeros</a:t>
            </a:r>
            <a:r>
              <a:rPr lang="pt-BR" dirty="0"/>
              <a:t>(lista):</a:t>
            </a:r>
          </a:p>
          <a:p>
            <a:r>
              <a:rPr lang="pt-BR" dirty="0"/>
              <a:t>    soma = sum(lista)</a:t>
            </a:r>
          </a:p>
          <a:p>
            <a:r>
              <a:rPr lang="pt-BR" dirty="0"/>
              <a:t>    media = soma / </a:t>
            </a:r>
            <a:r>
              <a:rPr lang="pt-BR" dirty="0" err="1"/>
              <a:t>len</a:t>
            </a:r>
            <a:r>
              <a:rPr lang="pt-BR" dirty="0"/>
              <a:t>(lista)</a:t>
            </a:r>
          </a:p>
          <a:p>
            <a:r>
              <a:rPr lang="pt-BR" dirty="0"/>
              <a:t>    </a:t>
            </a:r>
            <a:r>
              <a:rPr lang="pt-BR" dirty="0" err="1"/>
              <a:t>maximo</a:t>
            </a:r>
            <a:r>
              <a:rPr lang="pt-BR" dirty="0"/>
              <a:t> = </a:t>
            </a:r>
            <a:r>
              <a:rPr lang="pt-BR" dirty="0" err="1"/>
              <a:t>max</a:t>
            </a:r>
            <a:r>
              <a:rPr lang="pt-BR" dirty="0"/>
              <a:t>(lista)</a:t>
            </a:r>
          </a:p>
          <a:p>
            <a:r>
              <a:rPr lang="pt-BR" dirty="0"/>
              <a:t>    </a:t>
            </a:r>
            <a:r>
              <a:rPr lang="pt-BR" dirty="0" err="1"/>
              <a:t>minimo</a:t>
            </a:r>
            <a:r>
              <a:rPr lang="pt-BR" dirty="0"/>
              <a:t> = min(lista)</a:t>
            </a:r>
          </a:p>
          <a:p>
            <a:r>
              <a:rPr lang="pt-BR" dirty="0"/>
              <a:t>    </a:t>
            </a:r>
            <a:r>
              <a:rPr lang="pt-BR" dirty="0" err="1"/>
              <a:t>return</a:t>
            </a:r>
            <a:r>
              <a:rPr lang="pt-BR" dirty="0"/>
              <a:t> { "soma": soma, "media": media,"</a:t>
            </a:r>
            <a:r>
              <a:rPr lang="pt-BR" dirty="0" err="1"/>
              <a:t>maximo</a:t>
            </a:r>
            <a:r>
              <a:rPr lang="pt-BR" dirty="0"/>
              <a:t>": </a:t>
            </a:r>
            <a:r>
              <a:rPr lang="pt-BR" dirty="0" err="1"/>
              <a:t>maximo</a:t>
            </a:r>
            <a:r>
              <a:rPr lang="pt-BR" dirty="0"/>
              <a:t>, "</a:t>
            </a:r>
            <a:r>
              <a:rPr lang="pt-BR" dirty="0" err="1"/>
              <a:t>minimo</a:t>
            </a:r>
            <a:r>
              <a:rPr lang="pt-BR" dirty="0"/>
              <a:t>": </a:t>
            </a:r>
            <a:r>
              <a:rPr lang="pt-BR" dirty="0" err="1"/>
              <a:t>minimo</a:t>
            </a:r>
            <a:r>
              <a:rPr lang="pt-BR" dirty="0"/>
              <a:t> }</a:t>
            </a:r>
          </a:p>
          <a:p>
            <a:endParaRPr lang="pt-BR" dirty="0"/>
          </a:p>
          <a:p>
            <a:r>
              <a:rPr lang="pt-BR" b="1" dirty="0">
                <a:solidFill>
                  <a:srgbClr val="0070C0"/>
                </a:solidFill>
              </a:rPr>
              <a:t># PROGRAMA PRINCIPAL</a:t>
            </a:r>
          </a:p>
          <a:p>
            <a:r>
              <a:rPr lang="pt-BR" dirty="0" err="1"/>
              <a:t>minha_lista</a:t>
            </a:r>
            <a:r>
              <a:rPr lang="pt-BR" dirty="0"/>
              <a:t> = [10, 25, 30, 15, 5, 20]</a:t>
            </a:r>
          </a:p>
          <a:p>
            <a:r>
              <a:rPr lang="pt-BR" dirty="0"/>
              <a:t>resultados = </a:t>
            </a:r>
            <a:r>
              <a:rPr lang="pt-BR" dirty="0" err="1"/>
              <a:t>analisar_lista_numeros</a:t>
            </a:r>
            <a:r>
              <a:rPr lang="pt-BR" dirty="0"/>
              <a:t>(</a:t>
            </a:r>
            <a:r>
              <a:rPr lang="pt-BR" dirty="0" err="1"/>
              <a:t>minha_lista</a:t>
            </a:r>
            <a:r>
              <a:rPr lang="pt-BR" dirty="0"/>
              <a:t>)</a:t>
            </a:r>
          </a:p>
          <a:p>
            <a:r>
              <a:rPr lang="pt-BR" dirty="0"/>
              <a:t>print("Resultados da análise:")</a:t>
            </a:r>
          </a:p>
          <a:p>
            <a:r>
              <a:rPr lang="pt-BR" dirty="0"/>
              <a:t>print(</a:t>
            </a:r>
            <a:r>
              <a:rPr lang="pt-BR" dirty="0" err="1"/>
              <a:t>f"Soma</a:t>
            </a:r>
            <a:r>
              <a:rPr lang="pt-BR" dirty="0"/>
              <a:t>: {resultados['soma']}")</a:t>
            </a:r>
          </a:p>
          <a:p>
            <a:r>
              <a:rPr lang="pt-BR" dirty="0"/>
              <a:t>print(</a:t>
            </a:r>
            <a:r>
              <a:rPr lang="pt-BR" dirty="0" err="1"/>
              <a:t>f"Média</a:t>
            </a:r>
            <a:r>
              <a:rPr lang="pt-BR" dirty="0"/>
              <a:t>: {resultados['media']:.2f}")</a:t>
            </a:r>
          </a:p>
          <a:p>
            <a:r>
              <a:rPr lang="pt-BR" dirty="0"/>
              <a:t>print(</a:t>
            </a:r>
            <a:r>
              <a:rPr lang="pt-BR" dirty="0" err="1"/>
              <a:t>f"Máximo</a:t>
            </a:r>
            <a:r>
              <a:rPr lang="pt-BR" dirty="0"/>
              <a:t>: {resultados['</a:t>
            </a:r>
            <a:r>
              <a:rPr lang="pt-BR" dirty="0" err="1"/>
              <a:t>maximo</a:t>
            </a:r>
            <a:r>
              <a:rPr lang="pt-BR" dirty="0"/>
              <a:t>']}")</a:t>
            </a:r>
          </a:p>
          <a:p>
            <a:r>
              <a:rPr lang="pt-BR" dirty="0"/>
              <a:t>print(</a:t>
            </a:r>
            <a:r>
              <a:rPr lang="pt-BR" dirty="0" err="1"/>
              <a:t>f"Mínimo</a:t>
            </a:r>
            <a:r>
              <a:rPr lang="pt-BR" dirty="0"/>
              <a:t>: {resultados['</a:t>
            </a:r>
            <a:r>
              <a:rPr lang="pt-BR" dirty="0" err="1"/>
              <a:t>minimo</a:t>
            </a:r>
            <a:r>
              <a:rPr lang="pt-BR" dirty="0"/>
              <a:t>']}")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6279452-108A-EA9B-D09A-DC3A7A1B9F86}"/>
              </a:ext>
            </a:extLst>
          </p:cNvPr>
          <p:cNvSpPr txBox="1"/>
          <p:nvPr/>
        </p:nvSpPr>
        <p:spPr>
          <a:xfrm>
            <a:off x="482600" y="235694"/>
            <a:ext cx="10017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EXEMPLO:</a:t>
            </a:r>
          </a:p>
        </p:txBody>
      </p:sp>
    </p:spTree>
    <p:extLst>
      <p:ext uri="{BB962C8B-B14F-4D97-AF65-F5344CB8AC3E}">
        <p14:creationId xmlns:p14="http://schemas.microsoft.com/office/powerpoint/2010/main" val="2628039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A72CF-1869-F2AA-C94D-CC06375DC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C19294A-E73F-F516-69AC-8E3EBDC2DDA2}"/>
              </a:ext>
            </a:extLst>
          </p:cNvPr>
          <p:cNvSpPr txBox="1"/>
          <p:nvPr/>
        </p:nvSpPr>
        <p:spPr>
          <a:xfrm>
            <a:off x="0" y="0"/>
            <a:ext cx="12049760" cy="52322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EXEMPLO DE DECLARAÇÃO DE UMA FUNÇÃO EM PYTHON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1FF69516-580C-1617-AC5A-69C151E34E72}"/>
              </a:ext>
            </a:extLst>
          </p:cNvPr>
          <p:cNvGrpSpPr/>
          <p:nvPr/>
        </p:nvGrpSpPr>
        <p:grpSpPr>
          <a:xfrm>
            <a:off x="260352" y="640681"/>
            <a:ext cx="11529055" cy="3118519"/>
            <a:chOff x="595633" y="488281"/>
            <a:chExt cx="11529055" cy="3118519"/>
          </a:xfrm>
        </p:grpSpPr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84438548-B228-1C2F-83B0-EBFF9CFA559A}"/>
                </a:ext>
              </a:extLst>
            </p:cNvPr>
            <p:cNvSpPr/>
            <p:nvPr/>
          </p:nvSpPr>
          <p:spPr>
            <a:xfrm>
              <a:off x="595633" y="1920410"/>
              <a:ext cx="4128767" cy="168639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8D78FDD6-1132-3D8B-E0D1-320ED09DA120}"/>
                </a:ext>
              </a:extLst>
            </p:cNvPr>
            <p:cNvSpPr txBox="1"/>
            <p:nvPr/>
          </p:nvSpPr>
          <p:spPr>
            <a:xfrm>
              <a:off x="670561" y="1427359"/>
              <a:ext cx="5699760" cy="16172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endParaRPr lang="pt-BR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endParaRPr lang="pt-BR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pt-BR" sz="1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def</a:t>
              </a:r>
              <a:r>
                <a:rPr lang="pt-BR" sz="18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BR" sz="1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hello</a:t>
              </a:r>
              <a:r>
                <a:rPr lang="pt-BR" sz="1800" b="1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pt-BR" sz="1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meu_nome</a:t>
              </a:r>
              <a:r>
                <a:rPr lang="pt-BR" sz="1800" b="1" dirty="0">
                  <a:latin typeface="Arial" panose="020B0604020202020204" pitchFamily="34" charset="0"/>
                  <a:cs typeface="Arial" panose="020B0604020202020204" pitchFamily="34" charset="0"/>
                </a:rPr>
                <a:t>):</a:t>
              </a:r>
            </a:p>
            <a:p>
              <a:pPr>
                <a:lnSpc>
                  <a:spcPct val="150000"/>
                </a:lnSpc>
              </a:pPr>
              <a:r>
                <a:rPr lang="pt-BR" sz="1800" b="1" dirty="0">
                  <a:latin typeface="Arial" panose="020B0604020202020204" pitchFamily="34" charset="0"/>
                  <a:cs typeface="Arial" panose="020B0604020202020204" pitchFamily="34" charset="0"/>
                </a:rPr>
                <a:t>  	print('Olá', </a:t>
              </a:r>
              <a:r>
                <a:rPr lang="pt-BR" sz="1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meu_nome</a:t>
              </a:r>
              <a:r>
                <a:rPr lang="pt-BR" sz="1800" b="1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pt-BR" dirty="0"/>
            </a:p>
          </p:txBody>
        </p:sp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2ACAA5AE-0CE9-3800-260C-24677F13BC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3379" y="1605280"/>
              <a:ext cx="1120141" cy="731964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67115C82-ADDE-F138-D0AB-4D7E701068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2280" y="2830295"/>
              <a:ext cx="1935480" cy="26095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C89AA872-B9D3-AC07-2214-53B83A01FB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0001" y="1814742"/>
              <a:ext cx="3464559" cy="522502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A7244485-B3B2-7C61-6D7A-D6CCAEC85D86}"/>
                </a:ext>
              </a:extLst>
            </p:cNvPr>
            <p:cNvSpPr txBox="1"/>
            <p:nvPr/>
          </p:nvSpPr>
          <p:spPr>
            <a:xfrm>
              <a:off x="6217918" y="2615074"/>
              <a:ext cx="4216401" cy="4565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800" b="1" dirty="0">
                  <a:latin typeface="Arial" panose="020B0604020202020204" pitchFamily="34" charset="0"/>
                  <a:cs typeface="Arial" panose="020B0604020202020204" pitchFamily="34" charset="0"/>
                </a:rPr>
                <a:t>CORPO DA FUNÇÃO (INSTRUÇÕES)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F0090B40-C8F1-D0F8-9337-6F593C9CB8D8}"/>
                </a:ext>
              </a:extLst>
            </p:cNvPr>
            <p:cNvSpPr txBox="1"/>
            <p:nvPr/>
          </p:nvSpPr>
          <p:spPr>
            <a:xfrm>
              <a:off x="2763520" y="1358207"/>
              <a:ext cx="2301240" cy="4565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b="1" dirty="0">
                  <a:latin typeface="Arial" panose="020B0604020202020204" pitchFamily="34" charset="0"/>
                  <a:cs typeface="Arial" panose="020B0604020202020204" pitchFamily="34" charset="0"/>
                </a:rPr>
                <a:t>NOME DA FUNÇÃO</a:t>
              </a:r>
              <a:r>
                <a:rPr lang="pt-BR" sz="18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E9DBF44-BC0A-7F7E-6A88-DDC86918109F}"/>
                </a:ext>
              </a:extLst>
            </p:cNvPr>
            <p:cNvSpPr txBox="1"/>
            <p:nvPr/>
          </p:nvSpPr>
          <p:spPr>
            <a:xfrm>
              <a:off x="6085840" y="1463875"/>
              <a:ext cx="3403600" cy="4565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b="1" dirty="0">
                  <a:latin typeface="Arial" panose="020B0604020202020204" pitchFamily="34" charset="0"/>
                  <a:cs typeface="Arial" panose="020B0604020202020204" pitchFamily="34" charset="0"/>
                </a:rPr>
                <a:t>PARÂMETROS DA FUNÇÃO</a:t>
              </a:r>
              <a:endParaRPr lang="pt-BR" sz="1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36EAFABB-A3BF-3E1B-0298-191A9E1550EF}"/>
                </a:ext>
              </a:extLst>
            </p:cNvPr>
            <p:cNvSpPr txBox="1"/>
            <p:nvPr/>
          </p:nvSpPr>
          <p:spPr>
            <a:xfrm>
              <a:off x="924560" y="488281"/>
              <a:ext cx="11200128" cy="5778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800" b="1" dirty="0">
                  <a:latin typeface="Arial" panose="020B0604020202020204" pitchFamily="34" charset="0"/>
                  <a:cs typeface="Arial" panose="020B0604020202020204" pitchFamily="34" charset="0"/>
                </a:rPr>
                <a:t>A palavra reservada </a:t>
              </a:r>
              <a:r>
                <a:rPr lang="pt-BR" sz="2400" b="1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def</a:t>
              </a:r>
              <a:r>
                <a:rPr lang="pt-BR" sz="2400" b="1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</a:t>
              </a:r>
              <a:r>
                <a:rPr lang="pt-BR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BR" sz="1800" b="1" dirty="0">
                  <a:latin typeface="Arial" panose="020B0604020202020204" pitchFamily="34" charset="0"/>
                  <a:cs typeface="Arial" panose="020B0604020202020204" pitchFamily="34" charset="0"/>
                </a:rPr>
                <a:t>na primeira linha, explicita a definição da função naquele ponto. </a:t>
              </a:r>
            </a:p>
          </p:txBody>
        </p:sp>
        <p:cxnSp>
          <p:nvCxnSpPr>
            <p:cNvPr id="21" name="Conector de Seta Reta 20">
              <a:extLst>
                <a:ext uri="{FF2B5EF4-FFF2-40B4-BE49-F238E27FC236}">
                  <a16:creationId xmlns:a16="http://schemas.microsoft.com/office/drawing/2014/main" id="{1213FE91-EE62-0F58-20C7-EFF949B500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970" y="981251"/>
              <a:ext cx="1144270" cy="1254727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BCDEB7F-1B73-F274-8486-F8D217006701}"/>
              </a:ext>
            </a:extLst>
          </p:cNvPr>
          <p:cNvSpPr txBox="1"/>
          <p:nvPr/>
        </p:nvSpPr>
        <p:spPr>
          <a:xfrm>
            <a:off x="260351" y="4106882"/>
            <a:ext cx="11200129" cy="141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pt-BR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executar a função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, devemos simplesmente chamar, NO PROGRAMA PRINCIPAL,  seu nome e passar os parâmetros esperados entre parênteses, conforme o código a seguir.</a:t>
            </a:r>
          </a:p>
          <a:p>
            <a:pPr lvl="4">
              <a:lnSpc>
                <a:spcPct val="150000"/>
              </a:lnSpc>
            </a:pPr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hello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('Fabio’)</a:t>
            </a:r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244C4D8-C26F-71C3-F416-DCF4EE67963D}"/>
              </a:ext>
            </a:extLst>
          </p:cNvPr>
          <p:cNvSpPr txBox="1"/>
          <p:nvPr/>
        </p:nvSpPr>
        <p:spPr>
          <a:xfrm>
            <a:off x="457835" y="5972040"/>
            <a:ext cx="8893807" cy="669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4">
              <a:lnSpc>
                <a:spcPct val="150000"/>
              </a:lnSpc>
            </a:pP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Vai ser impresso o seguinte: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Olá Fabio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6433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923650" y="1672206"/>
            <a:ext cx="10648590" cy="31393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# DECLARAÇÃO DA FUNÇÃO</a:t>
            </a:r>
          </a:p>
          <a:p>
            <a:endParaRPr lang="pt-BR" b="1" dirty="0"/>
          </a:p>
          <a:p>
            <a:r>
              <a:rPr lang="pt-BR" b="1" dirty="0" err="1"/>
              <a:t>def</a:t>
            </a:r>
            <a:r>
              <a:rPr lang="pt-BR" b="1" dirty="0"/>
              <a:t> </a:t>
            </a:r>
            <a:r>
              <a:rPr lang="pt-BR" b="1" dirty="0" err="1"/>
              <a:t>hello</a:t>
            </a:r>
            <a:r>
              <a:rPr lang="pt-BR" b="1" dirty="0"/>
              <a:t>(</a:t>
            </a:r>
            <a:r>
              <a:rPr lang="pt-BR" b="1" dirty="0" err="1"/>
              <a:t>meu_nome,idade</a:t>
            </a:r>
            <a:r>
              <a:rPr lang="pt-BR" b="1" dirty="0"/>
              <a:t>):                        </a:t>
            </a:r>
            <a:r>
              <a:rPr lang="pt-BR" b="1" dirty="0">
                <a:solidFill>
                  <a:srgbClr val="FF0000"/>
                </a:solidFill>
                <a:sym typeface="Wingdings" panose="05000000000000000000" pitchFamily="2" charset="2"/>
              </a:rPr>
              <a:t>--------------------------------------- Dois argumentos</a:t>
            </a:r>
            <a:endParaRPr lang="pt-BR" b="1" dirty="0">
              <a:solidFill>
                <a:srgbClr val="FF0000"/>
              </a:solidFill>
            </a:endParaRPr>
          </a:p>
          <a:p>
            <a:pPr lvl="1"/>
            <a:endParaRPr lang="pt-BR" b="1" dirty="0">
              <a:solidFill>
                <a:srgbClr val="FF0000"/>
              </a:solidFill>
            </a:endParaRPr>
          </a:p>
          <a:p>
            <a:pPr lvl="1"/>
            <a:r>
              <a:rPr lang="pt-BR" b="1" dirty="0"/>
              <a:t>print('Olá',</a:t>
            </a:r>
            <a:r>
              <a:rPr lang="pt-BR" b="1" dirty="0" err="1"/>
              <a:t>meu_nome</a:t>
            </a:r>
            <a:r>
              <a:rPr lang="pt-BR" b="1" dirty="0"/>
              <a:t>,'\</a:t>
            </a:r>
            <a:r>
              <a:rPr lang="pt-BR" b="1" dirty="0" err="1"/>
              <a:t>nSua</a:t>
            </a:r>
            <a:r>
              <a:rPr lang="pt-BR" b="1" dirty="0"/>
              <a:t> idade é:',idade)</a:t>
            </a:r>
          </a:p>
          <a:p>
            <a:pPr lvl="1"/>
            <a:endParaRPr lang="pt-BR" b="1" dirty="0"/>
          </a:p>
          <a:p>
            <a:pPr lvl="1"/>
            <a:endParaRPr lang="pt-BR" b="1" dirty="0"/>
          </a:p>
          <a:p>
            <a:r>
              <a:rPr lang="pt" b="1" dirty="0"/>
              <a:t># CHAMADA DA FUNÇÃO NO PROGRAMA PRINCIPAL</a:t>
            </a:r>
          </a:p>
          <a:p>
            <a:r>
              <a:rPr lang="pt-BR" b="1" dirty="0"/>
              <a:t>	 </a:t>
            </a:r>
            <a:r>
              <a:rPr lang="pt-BR" b="1" dirty="0" err="1"/>
              <a:t>hello</a:t>
            </a:r>
            <a:r>
              <a:rPr lang="pt-BR" b="1" dirty="0"/>
              <a:t>('Fabio',28)</a:t>
            </a:r>
          </a:p>
          <a:p>
            <a:r>
              <a:rPr lang="pt-BR" b="1" dirty="0"/>
              <a:t>	</a:t>
            </a:r>
          </a:p>
          <a:p>
            <a:r>
              <a:rPr lang="pt-BR" b="1" dirty="0"/>
              <a:t>	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8EE476D-5E66-AE16-E0E3-B6C88DEA43B3}"/>
              </a:ext>
            </a:extLst>
          </p:cNvPr>
          <p:cNvSpPr txBox="1"/>
          <p:nvPr/>
        </p:nvSpPr>
        <p:spPr>
          <a:xfrm>
            <a:off x="4826000" y="566773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Olá Fabio</a:t>
            </a:r>
          </a:p>
          <a:p>
            <a:r>
              <a:rPr lang="pt-BR" b="1" dirty="0"/>
              <a:t>Sua idade é: 28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A4D3298-C13E-F872-3331-8EDE82C65354}"/>
              </a:ext>
            </a:extLst>
          </p:cNvPr>
          <p:cNvSpPr txBox="1"/>
          <p:nvPr/>
        </p:nvSpPr>
        <p:spPr>
          <a:xfrm>
            <a:off x="1270000" y="5718144"/>
            <a:ext cx="6746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6">
                    <a:lumMod val="75000"/>
                  </a:schemeClr>
                </a:solidFill>
              </a:rPr>
              <a:t>VAI SER IMPRESSO </a:t>
            </a:r>
            <a:r>
              <a:rPr lang="pt-BR" sz="2400" b="1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</a:t>
            </a:r>
            <a:endParaRPr lang="pt-BR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FA646E2-ABF8-5989-8A5B-90D1F635C174}"/>
              </a:ext>
            </a:extLst>
          </p:cNvPr>
          <p:cNvSpPr txBox="1"/>
          <p:nvPr/>
        </p:nvSpPr>
        <p:spPr>
          <a:xfrm>
            <a:off x="334825" y="201137"/>
            <a:ext cx="118262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FF0000"/>
                </a:solidFill>
              </a:rPr>
              <a:t>Funções podem ter nenhum ou vários argumento</a:t>
            </a:r>
          </a:p>
          <a:p>
            <a:endParaRPr lang="pt-BR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288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1360449" y="1956838"/>
            <a:ext cx="5108589" cy="2764823"/>
          </a:xfrm>
          <a:prstGeom prst="rect">
            <a:avLst/>
          </a:prstGeom>
          <a:noFill/>
          <a:ln w="57150">
            <a:solidFill>
              <a:srgbClr val="FF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/>
          <p:cNvSpPr txBox="1"/>
          <p:nvPr/>
        </p:nvSpPr>
        <p:spPr>
          <a:xfrm>
            <a:off x="1095389" y="98580"/>
            <a:ext cx="10668982" cy="6863417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Funções podem retornar valores de saída, provenientes de determinadas operações que são feitas dentro dela:</a:t>
            </a:r>
            <a:r>
              <a:rPr lang="pt-BR" sz="1600" dirty="0"/>
              <a:t>  </a:t>
            </a:r>
          </a:p>
          <a:p>
            <a:endParaRPr lang="pt-BR" dirty="0"/>
          </a:p>
          <a:p>
            <a:r>
              <a:rPr lang="pt-BR" b="1" dirty="0" err="1"/>
              <a:t>Ex</a:t>
            </a:r>
            <a:r>
              <a:rPr lang="pt-BR" b="1" dirty="0"/>
              <a:t>: </a:t>
            </a:r>
            <a:r>
              <a:rPr lang="pt-BR" sz="1600" b="1" dirty="0"/>
              <a:t>Função para Cálculo do Pagamento dos Empregados de </a:t>
            </a:r>
          </a:p>
          <a:p>
            <a:r>
              <a:rPr lang="pt-BR" sz="1600" b="1" dirty="0"/>
              <a:t>      uma Empresa</a:t>
            </a:r>
          </a:p>
          <a:p>
            <a:endParaRPr lang="pt-BR" sz="1600" dirty="0"/>
          </a:p>
          <a:p>
            <a:endParaRPr lang="pt" dirty="0"/>
          </a:p>
          <a:p>
            <a:r>
              <a:rPr lang="pt-BR" b="1" dirty="0"/>
              <a:t>     </a:t>
            </a:r>
            <a:r>
              <a:rPr lang="pt-BR" b="1" dirty="0" err="1"/>
              <a:t>def</a:t>
            </a:r>
            <a:r>
              <a:rPr lang="pt-BR" b="1" dirty="0"/>
              <a:t> </a:t>
            </a:r>
            <a:r>
              <a:rPr lang="pt-BR" b="1" dirty="0" err="1"/>
              <a:t>calcular_pagamento</a:t>
            </a:r>
            <a:r>
              <a:rPr lang="pt-BR" b="1" dirty="0"/>
              <a:t>(</a:t>
            </a:r>
            <a:r>
              <a:rPr lang="pt-BR" b="1" dirty="0" err="1"/>
              <a:t>qtd_horas</a:t>
            </a:r>
            <a:r>
              <a:rPr lang="pt-BR" b="1" dirty="0"/>
              <a:t>, </a:t>
            </a:r>
            <a:r>
              <a:rPr lang="pt-BR" b="1" dirty="0" err="1"/>
              <a:t>valor_hora</a:t>
            </a:r>
            <a:r>
              <a:rPr lang="pt-BR" b="1" dirty="0"/>
              <a:t>):</a:t>
            </a:r>
          </a:p>
          <a:p>
            <a:r>
              <a:rPr lang="pt-BR" b="1" dirty="0"/>
              <a:t>  	horas = </a:t>
            </a:r>
            <a:r>
              <a:rPr lang="pt-BR" b="1" dirty="0" err="1"/>
              <a:t>float</a:t>
            </a:r>
            <a:r>
              <a:rPr lang="pt-BR" b="1" dirty="0"/>
              <a:t>(</a:t>
            </a:r>
            <a:r>
              <a:rPr lang="pt-BR" b="1" dirty="0" err="1"/>
              <a:t>qtd_horas</a:t>
            </a:r>
            <a:r>
              <a:rPr lang="pt-BR" b="1" dirty="0"/>
              <a:t>)</a:t>
            </a:r>
          </a:p>
          <a:p>
            <a:r>
              <a:rPr lang="pt-BR" b="1" dirty="0"/>
              <a:t>  	taxa = </a:t>
            </a:r>
            <a:r>
              <a:rPr lang="pt-BR" b="1" dirty="0" err="1"/>
              <a:t>float</a:t>
            </a:r>
            <a:r>
              <a:rPr lang="pt-BR" b="1" dirty="0"/>
              <a:t>(</a:t>
            </a:r>
            <a:r>
              <a:rPr lang="pt-BR" b="1" dirty="0" err="1"/>
              <a:t>valor_hora</a:t>
            </a:r>
            <a:r>
              <a:rPr lang="pt-BR" b="1" dirty="0"/>
              <a:t>)</a:t>
            </a:r>
          </a:p>
          <a:p>
            <a:r>
              <a:rPr lang="pt-BR" b="1" dirty="0"/>
              <a:t>  	</a:t>
            </a:r>
            <a:r>
              <a:rPr lang="pt-BR" b="1" dirty="0" err="1"/>
              <a:t>if</a:t>
            </a:r>
            <a:r>
              <a:rPr lang="pt-BR" b="1" dirty="0"/>
              <a:t> horas &lt;= 40:</a:t>
            </a:r>
          </a:p>
          <a:p>
            <a:r>
              <a:rPr lang="pt-BR" b="1" dirty="0"/>
              <a:t>    	     salario=horas*taxa</a:t>
            </a:r>
          </a:p>
          <a:p>
            <a:r>
              <a:rPr lang="pt-BR" b="1" dirty="0"/>
              <a:t>  	</a:t>
            </a:r>
            <a:r>
              <a:rPr lang="pt-BR" b="1" dirty="0" err="1"/>
              <a:t>else</a:t>
            </a:r>
            <a:r>
              <a:rPr lang="pt-BR" b="1" dirty="0"/>
              <a:t>:</a:t>
            </a:r>
          </a:p>
          <a:p>
            <a:r>
              <a:rPr lang="pt-BR" b="1" dirty="0"/>
              <a:t>                      </a:t>
            </a:r>
            <a:r>
              <a:rPr lang="pt-BR" b="1" dirty="0" err="1"/>
              <a:t>h_excd</a:t>
            </a:r>
            <a:r>
              <a:rPr lang="pt-BR" b="1" dirty="0"/>
              <a:t> = horas - 40</a:t>
            </a:r>
          </a:p>
          <a:p>
            <a:r>
              <a:rPr lang="pt-BR" b="1" dirty="0"/>
              <a:t>  	    salario = 40*taxa+(</a:t>
            </a:r>
            <a:r>
              <a:rPr lang="pt-BR" b="1" dirty="0" err="1"/>
              <a:t>h_excd</a:t>
            </a:r>
            <a:r>
              <a:rPr lang="pt-BR" b="1" dirty="0"/>
              <a:t>*(1.5*taxa))</a:t>
            </a:r>
          </a:p>
          <a:p>
            <a:pPr lvl="2"/>
            <a:r>
              <a:rPr lang="pt-BR" b="1" dirty="0"/>
              <a:t> </a:t>
            </a:r>
            <a:r>
              <a:rPr lang="pt-BR" b="1" dirty="0" err="1"/>
              <a:t>return</a:t>
            </a:r>
            <a:r>
              <a:rPr lang="pt-BR" b="1" dirty="0"/>
              <a:t> salario</a:t>
            </a:r>
          </a:p>
          <a:p>
            <a:pPr lvl="2"/>
            <a:endParaRPr lang="pt-BR" b="1" dirty="0"/>
          </a:p>
          <a:p>
            <a:pPr lvl="2"/>
            <a:endParaRPr lang="pt-BR" b="1" dirty="0"/>
          </a:p>
          <a:p>
            <a:pPr lvl="2"/>
            <a:endParaRPr lang="pt-BR" b="1" dirty="0"/>
          </a:p>
          <a:p>
            <a:pPr lvl="2"/>
            <a:endParaRPr lang="pt-BR" b="1" dirty="0"/>
          </a:p>
          <a:p>
            <a:pPr lvl="2"/>
            <a:endParaRPr lang="pt-BR" b="1" dirty="0"/>
          </a:p>
          <a:p>
            <a:pPr lvl="2"/>
            <a:endParaRPr lang="pt-BR" b="1" dirty="0"/>
          </a:p>
          <a:p>
            <a:pPr lvl="2"/>
            <a:endParaRPr lang="pt-BR" b="1" dirty="0"/>
          </a:p>
          <a:p>
            <a:pPr lvl="2"/>
            <a:endParaRPr lang="pt-BR" b="1" dirty="0"/>
          </a:p>
        </p:txBody>
      </p:sp>
      <p:sp>
        <p:nvSpPr>
          <p:cNvPr id="4" name="CaixaDeTexto 3"/>
          <p:cNvSpPr txBox="1"/>
          <p:nvPr/>
        </p:nvSpPr>
        <p:spPr>
          <a:xfrm>
            <a:off x="6469039" y="948690"/>
            <a:ext cx="529533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função </a:t>
            </a:r>
            <a:r>
              <a:rPr lang="pt-BR" dirty="0" err="1"/>
              <a:t>calcular_pagamento</a:t>
            </a:r>
            <a:r>
              <a:rPr lang="pt-BR" dirty="0"/>
              <a:t>() recebe dois parâmetros, </a:t>
            </a:r>
            <a:r>
              <a:rPr lang="pt-BR" dirty="0" err="1"/>
              <a:t>qtd_horas</a:t>
            </a:r>
            <a:r>
              <a:rPr lang="pt-BR" dirty="0"/>
              <a:t> e </a:t>
            </a:r>
            <a:r>
              <a:rPr lang="pt-BR" dirty="0" err="1"/>
              <a:t>valor_hora</a:t>
            </a:r>
            <a:r>
              <a:rPr lang="pt-BR" dirty="0"/>
              <a:t>.</a:t>
            </a:r>
          </a:p>
          <a:p>
            <a:r>
              <a:rPr lang="pt-BR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Nas linhas 2 e 3, esses valores são convertidos para o tipo </a:t>
            </a:r>
            <a:r>
              <a:rPr lang="pt-BR" dirty="0" err="1"/>
              <a:t>float</a:t>
            </a:r>
            <a:r>
              <a:rPr lang="pt-B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Na linha 4 , verificamos se a quantidade de horas trabalhadas é menor ou igual a 40.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Caso seja verdadeiro, na linha 5 calculamos o valor do salário apenas multiplicando a quantidade de horas pelo valor de cada hora trabalhada.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Se a quantidade for maior que 40 (linha 6), adicionamos ao salário um valor adicional pelas horas extras. Por fim, na linha 9 retornamos o resultado do cálculo (contido na variável salario) com a instrução </a:t>
            </a:r>
            <a:r>
              <a:rPr lang="pt-BR" dirty="0" err="1"/>
              <a:t>return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1222343" y="5016758"/>
            <a:ext cx="5384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Definimos explicitamente que a função deve retornar um determinado resultado por meio da instrução </a:t>
            </a:r>
            <a:r>
              <a:rPr lang="pt-BR" sz="2400" b="1" u="sng" dirty="0" err="1">
                <a:solidFill>
                  <a:srgbClr val="C00000"/>
                </a:solidFill>
              </a:rPr>
              <a:t>return</a:t>
            </a:r>
            <a:r>
              <a:rPr lang="pt-BR" sz="2400" b="1" u="sng" dirty="0">
                <a:solidFill>
                  <a:srgbClr val="C00000"/>
                </a:solidFill>
              </a:rPr>
              <a:t>.</a:t>
            </a:r>
            <a:r>
              <a:rPr lang="pt-BR" b="1" dirty="0"/>
              <a:t> Caso isso não seja feito, o valor padrão retornado será </a:t>
            </a:r>
            <a:r>
              <a:rPr lang="pt-BR" b="1" dirty="0" err="1"/>
              <a:t>None</a:t>
            </a:r>
            <a:r>
              <a:rPr lang="pt-BR" b="1" dirty="0"/>
              <a:t>, equivalente ao </a:t>
            </a:r>
            <a:r>
              <a:rPr lang="pt-BR" b="1" dirty="0" err="1"/>
              <a:t>null</a:t>
            </a:r>
            <a:r>
              <a:rPr lang="pt-BR" b="1" dirty="0"/>
              <a:t>, </a:t>
            </a:r>
            <a:r>
              <a:rPr lang="pt-BR" b="1" dirty="0" err="1"/>
              <a:t>void</a:t>
            </a:r>
            <a:r>
              <a:rPr lang="pt-BR" b="1" dirty="0"/>
              <a:t> ou </a:t>
            </a:r>
            <a:r>
              <a:rPr lang="pt-BR" b="1" dirty="0" err="1"/>
              <a:t>nil</a:t>
            </a:r>
            <a:r>
              <a:rPr lang="pt-BR" b="1" dirty="0"/>
              <a:t> encontrado em outras linguagens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1346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1119118" y="1481271"/>
            <a:ext cx="5650173" cy="15775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/>
          <p:cNvSpPr txBox="1"/>
          <p:nvPr/>
        </p:nvSpPr>
        <p:spPr>
          <a:xfrm>
            <a:off x="416866" y="803962"/>
            <a:ext cx="11219543" cy="544899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No código abaixo, vemos como utilizar essa função, obtendo seu retorno e o imprimindo na tela posteriormente:</a:t>
            </a:r>
          </a:p>
          <a:p>
            <a:endParaRPr lang="pt" dirty="0"/>
          </a:p>
          <a:p>
            <a:pPr lvl="2"/>
            <a:r>
              <a:rPr lang="pt-BR" b="1" dirty="0" err="1"/>
              <a:t>str_horas</a:t>
            </a:r>
            <a:r>
              <a:rPr lang="pt-BR" b="1" dirty="0"/>
              <a:t>= input('Digite as horas: ')</a:t>
            </a:r>
          </a:p>
          <a:p>
            <a:pPr lvl="2"/>
            <a:r>
              <a:rPr lang="pt-BR" b="1" dirty="0" err="1"/>
              <a:t>str_taxa</a:t>
            </a:r>
            <a:r>
              <a:rPr lang="pt-BR" b="1" dirty="0"/>
              <a:t>=input('Digite a taxa: ')</a:t>
            </a:r>
          </a:p>
          <a:p>
            <a:pPr lvl="2"/>
            <a:r>
              <a:rPr lang="pt-BR" b="1" dirty="0" err="1"/>
              <a:t>total_salario</a:t>
            </a:r>
            <a:r>
              <a:rPr lang="pt-BR" b="1" dirty="0"/>
              <a:t> = </a:t>
            </a:r>
            <a:r>
              <a:rPr lang="pt-BR" b="1" dirty="0" err="1"/>
              <a:t>calcular_pagamento</a:t>
            </a:r>
            <a:r>
              <a:rPr lang="pt-BR" b="1" dirty="0"/>
              <a:t>(</a:t>
            </a:r>
            <a:r>
              <a:rPr lang="pt-BR" b="1" dirty="0" err="1"/>
              <a:t>str_horas,str_taxa</a:t>
            </a:r>
            <a:r>
              <a:rPr lang="pt-BR" b="1" dirty="0"/>
              <a:t>)</a:t>
            </a:r>
          </a:p>
          <a:p>
            <a:pPr lvl="2"/>
            <a:r>
              <a:rPr lang="pt-BR" b="1" dirty="0" err="1"/>
              <a:t>print</a:t>
            </a:r>
            <a:r>
              <a:rPr lang="pt-BR" b="1" dirty="0"/>
              <a:t>('O valor de seus rendimentos é R$',</a:t>
            </a:r>
            <a:r>
              <a:rPr lang="pt-BR" b="1" dirty="0" err="1"/>
              <a:t>total_salario</a:t>
            </a:r>
            <a:r>
              <a:rPr lang="pt-BR" b="1" dirty="0"/>
              <a:t>)</a:t>
            </a:r>
          </a:p>
          <a:p>
            <a:pPr lvl="2"/>
            <a:endParaRPr lang="pt-BR" b="1" dirty="0"/>
          </a:p>
          <a:p>
            <a:pPr lvl="2"/>
            <a:endParaRPr lang="pt-BR" b="1" dirty="0"/>
          </a:p>
          <a:p>
            <a:pPr>
              <a:lnSpc>
                <a:spcPct val="150000"/>
              </a:lnSpc>
            </a:pPr>
            <a:endParaRPr lang="pt-BR" dirty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</a:pPr>
            <a:endParaRPr lang="pt-BR" dirty="0">
              <a:latin typeface="Arial Black" panose="020B0A040201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Primeiramente, solicitamos do usuário as informações necessárias, que serão armazenadas como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e repassadas para a função (linhas 1 e 2). </a:t>
            </a:r>
          </a:p>
          <a:p>
            <a:pPr algn="just">
              <a:lnSpc>
                <a:spcPct val="150000"/>
              </a:lnSpc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Em seguida, na linha 3, obtemos o resultado da função e o atribuímos à variável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total_salario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que é impressa na linha 4.</a:t>
            </a:r>
            <a:endParaRPr lang="pt-BR" sz="28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347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02899" y="108426"/>
            <a:ext cx="11586950" cy="664797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FF0000"/>
                </a:solidFill>
              </a:rPr>
              <a:t>OUTROS  EXEMPLOS DE FUNÇÕES</a:t>
            </a:r>
          </a:p>
          <a:p>
            <a:endParaRPr lang="pt" dirty="0"/>
          </a:p>
          <a:p>
            <a:r>
              <a:rPr lang="pt-BR" dirty="0"/>
              <a:t>	</a:t>
            </a:r>
            <a:r>
              <a:rPr lang="pt-BR" dirty="0" err="1"/>
              <a:t>def</a:t>
            </a:r>
            <a:r>
              <a:rPr lang="pt-BR" dirty="0"/>
              <a:t> </a:t>
            </a:r>
            <a:r>
              <a:rPr lang="pt-BR" dirty="0" err="1"/>
              <a:t>calculo_imc</a:t>
            </a:r>
            <a:r>
              <a:rPr lang="pt-BR" dirty="0"/>
              <a:t>(peso, altura):</a:t>
            </a:r>
          </a:p>
          <a:p>
            <a:r>
              <a:rPr lang="pt-BR" dirty="0"/>
              <a:t>   		 </a:t>
            </a:r>
            <a:r>
              <a:rPr lang="pt-BR" dirty="0" err="1"/>
              <a:t>print</a:t>
            </a:r>
            <a:r>
              <a:rPr lang="pt-BR" dirty="0"/>
              <a:t>(peso / altura ** 2)</a:t>
            </a:r>
          </a:p>
          <a:p>
            <a:endParaRPr lang="pt" dirty="0"/>
          </a:p>
          <a:p>
            <a:r>
              <a:rPr lang="pt-BR" dirty="0"/>
              <a:t>	</a:t>
            </a:r>
            <a:r>
              <a:rPr lang="pt-BR" sz="2000" b="1" dirty="0" err="1"/>
              <a:t>calculo_imc</a:t>
            </a:r>
            <a:r>
              <a:rPr lang="pt-BR" sz="2000" b="1" dirty="0"/>
              <a:t>(75, 1.68)    </a:t>
            </a:r>
            <a:r>
              <a:rPr lang="pt-BR" sz="2000" b="1" dirty="0">
                <a:solidFill>
                  <a:srgbClr val="FF0000"/>
                </a:solidFill>
              </a:rPr>
              <a:t>---------------------------------   aqui chamamos a função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Observe que quando chamamos a função </a:t>
            </a:r>
            <a:r>
              <a:rPr lang="pt-BR" dirty="0" err="1"/>
              <a:t>calculo_imc</a:t>
            </a:r>
            <a:r>
              <a:rPr lang="pt-BR" dirty="0"/>
              <a:t>, não há uma identificação do que cada valor representa dentro daquela função. </a:t>
            </a:r>
          </a:p>
          <a:p>
            <a:endParaRPr lang="pt-BR" dirty="0"/>
          </a:p>
          <a:p>
            <a:r>
              <a:rPr lang="pt-BR" dirty="0"/>
              <a:t>Uma opção para ficar mais claro que valores estamos passando é a seguinte:</a:t>
            </a:r>
          </a:p>
          <a:p>
            <a:endParaRPr lang="pt" dirty="0"/>
          </a:p>
          <a:p>
            <a:r>
              <a:rPr lang="pt-BR" dirty="0"/>
              <a:t>	</a:t>
            </a:r>
            <a:r>
              <a:rPr lang="pt-BR" dirty="0" err="1"/>
              <a:t>def</a:t>
            </a:r>
            <a:r>
              <a:rPr lang="pt-BR" dirty="0"/>
              <a:t> </a:t>
            </a:r>
            <a:r>
              <a:rPr lang="pt-BR" dirty="0" err="1"/>
              <a:t>calculo_imc</a:t>
            </a:r>
            <a:r>
              <a:rPr lang="pt-BR" dirty="0"/>
              <a:t>(peso, altura):</a:t>
            </a:r>
          </a:p>
          <a:p>
            <a:r>
              <a:rPr lang="pt-BR" dirty="0"/>
              <a:t>   		 </a:t>
            </a:r>
            <a:r>
              <a:rPr lang="pt-BR" dirty="0" err="1"/>
              <a:t>print</a:t>
            </a:r>
            <a:r>
              <a:rPr lang="pt-BR" dirty="0"/>
              <a:t>(peso / altura ** 2)</a:t>
            </a:r>
          </a:p>
          <a:p>
            <a:endParaRPr lang="pt" dirty="0"/>
          </a:p>
          <a:p>
            <a:r>
              <a:rPr lang="pt-BR" dirty="0"/>
              <a:t>	</a:t>
            </a:r>
            <a:r>
              <a:rPr lang="pt-BR" sz="2000" b="1" dirty="0" err="1"/>
              <a:t>calculo_imc</a:t>
            </a:r>
            <a:r>
              <a:rPr lang="pt-BR" sz="2000" b="1" dirty="0"/>
              <a:t>(peso = 75, altura = 1.68)   </a:t>
            </a:r>
            <a:r>
              <a:rPr lang="pt-BR" sz="2000" b="1" dirty="0">
                <a:solidFill>
                  <a:srgbClr val="FF0000"/>
                </a:solidFill>
              </a:rPr>
              <a:t>---------------------- aqui chamamos a função</a:t>
            </a:r>
          </a:p>
          <a:p>
            <a:endParaRPr lang="pt-BR" sz="2000" b="1" dirty="0">
              <a:solidFill>
                <a:srgbClr val="FF0000"/>
              </a:solidFill>
            </a:endParaRPr>
          </a:p>
          <a:p>
            <a:r>
              <a:rPr lang="pt-BR" sz="2000" dirty="0"/>
              <a:t>Mesmo que venhamos a trocar a ordem dos argumentos na chamada da função, ela será executada corretamente da mesma forma, pois os parâmetros estão sendo identificados por um nome e não pela sua posição.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79040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217715" y="135184"/>
            <a:ext cx="11814629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FF0000"/>
                </a:solidFill>
              </a:rPr>
              <a:t>Importando Bibliotecas de funções  no Python (</a:t>
            </a:r>
            <a:r>
              <a:rPr lang="pt-BR" sz="3200" b="1" dirty="0" err="1">
                <a:solidFill>
                  <a:srgbClr val="FF0000"/>
                </a:solidFill>
              </a:rPr>
              <a:t>import</a:t>
            </a:r>
            <a:r>
              <a:rPr lang="pt-BR" sz="3200" b="1" dirty="0">
                <a:solidFill>
                  <a:srgbClr val="FF0000"/>
                </a:solidFill>
              </a:rPr>
              <a:t>)</a:t>
            </a:r>
          </a:p>
          <a:p>
            <a:endParaRPr lang="pt-BR" sz="3200" b="1" dirty="0">
              <a:solidFill>
                <a:srgbClr val="FF0000"/>
              </a:solidFill>
            </a:endParaRPr>
          </a:p>
          <a:p>
            <a:r>
              <a:rPr lang="pt-BR" sz="2400" b="1" dirty="0"/>
              <a:t>Pode-se importar bibliotecas que contém funções que existem e queremos usar na linguagem Python (em sua totalidade(a biblioteca inteira )  e parcialmente(função))</a:t>
            </a:r>
          </a:p>
          <a:p>
            <a:endParaRPr lang="pt-BR" b="1" dirty="0"/>
          </a:p>
          <a:p>
            <a:pPr marL="342900" indent="-342900">
              <a:buFontTx/>
              <a:buChar char="-"/>
            </a:pPr>
            <a:r>
              <a:rPr lang="pt-BR" sz="2400" b="1" dirty="0"/>
              <a:t>Para importar uma biblioteca utilizamos o </a:t>
            </a:r>
            <a:r>
              <a:rPr lang="pt-BR" sz="2400" b="1" dirty="0" err="1"/>
              <a:t>import</a:t>
            </a:r>
            <a:r>
              <a:rPr lang="pt-BR" sz="2400" b="1" dirty="0"/>
              <a:t>: </a:t>
            </a:r>
          </a:p>
          <a:p>
            <a:r>
              <a:rPr lang="pt-BR" sz="2400" b="1" i="1" dirty="0">
                <a:solidFill>
                  <a:srgbClr val="FF0000"/>
                </a:solidFill>
              </a:rPr>
              <a:t>		</a:t>
            </a:r>
            <a:r>
              <a:rPr lang="pt-BR" sz="3200" b="1" i="1" dirty="0" err="1">
                <a:solidFill>
                  <a:srgbClr val="FF0000"/>
                </a:solidFill>
              </a:rPr>
              <a:t>import</a:t>
            </a:r>
            <a:r>
              <a:rPr lang="pt-BR" sz="3200" b="1" i="1" dirty="0">
                <a:solidFill>
                  <a:srgbClr val="FF0000"/>
                </a:solidFill>
              </a:rPr>
              <a:t> </a:t>
            </a:r>
            <a:r>
              <a:rPr lang="pt-BR" sz="3200" b="1" i="1" dirty="0" err="1">
                <a:solidFill>
                  <a:srgbClr val="FF0000"/>
                </a:solidFill>
              </a:rPr>
              <a:t>nome_da_biblioteca</a:t>
            </a:r>
            <a:endParaRPr lang="pt-BR" sz="3200" b="1" i="1" dirty="0">
              <a:solidFill>
                <a:srgbClr val="FF0000"/>
              </a:solidFill>
            </a:endParaRPr>
          </a:p>
          <a:p>
            <a:endParaRPr lang="pt" b="1" dirty="0"/>
          </a:p>
          <a:p>
            <a:r>
              <a:rPr lang="pt-BR" b="1" dirty="0"/>
              <a:t>	</a:t>
            </a:r>
            <a:r>
              <a:rPr lang="pt-BR" sz="2400" b="1" dirty="0" err="1">
                <a:solidFill>
                  <a:schemeClr val="accent1">
                    <a:lumMod val="75000"/>
                  </a:schemeClr>
                </a:solidFill>
              </a:rPr>
              <a:t>Ex</a:t>
            </a:r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: 	</a:t>
            </a:r>
            <a:r>
              <a:rPr lang="pt-BR" sz="2400" b="1" dirty="0" err="1">
                <a:solidFill>
                  <a:schemeClr val="accent1">
                    <a:lumMod val="75000"/>
                  </a:schemeClr>
                </a:solidFill>
              </a:rPr>
              <a:t>import</a:t>
            </a:r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2400" b="1" dirty="0" err="1">
                <a:solidFill>
                  <a:schemeClr val="accent1">
                    <a:lumMod val="75000"/>
                  </a:schemeClr>
                </a:solidFill>
              </a:rPr>
              <a:t>math</a:t>
            </a:r>
            <a:endParaRPr lang="pt-BR" sz="24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pt-BR" sz="2400" b="1" dirty="0" err="1">
                <a:solidFill>
                  <a:schemeClr val="accent1">
                    <a:lumMod val="75000"/>
                  </a:schemeClr>
                </a:solidFill>
              </a:rPr>
              <a:t>print</a:t>
            </a:r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pt-BR" sz="2400" b="1" dirty="0" err="1">
                <a:solidFill>
                  <a:schemeClr val="accent1">
                    <a:lumMod val="75000"/>
                  </a:schemeClr>
                </a:solidFill>
              </a:rPr>
              <a:t>math.sqrt</a:t>
            </a:r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(25))</a:t>
            </a:r>
            <a:endParaRPr lang="pt-BR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b="1" dirty="0"/>
              <a:t>	</a:t>
            </a:r>
          </a:p>
          <a:p>
            <a:r>
              <a:rPr lang="pt-BR" b="1" dirty="0"/>
              <a:t>	O código acima importará todos os módulos de </a:t>
            </a:r>
            <a:r>
              <a:rPr lang="pt-BR" b="1" dirty="0" err="1">
                <a:solidFill>
                  <a:srgbClr val="C00000"/>
                </a:solidFill>
              </a:rPr>
              <a:t>math</a:t>
            </a:r>
            <a:r>
              <a:rPr lang="pt-BR" b="1" dirty="0">
                <a:solidFill>
                  <a:srgbClr val="C00000"/>
                </a:solidFill>
              </a:rPr>
              <a:t> </a:t>
            </a:r>
            <a:r>
              <a:rPr lang="pt-BR" b="1" dirty="0"/>
              <a:t>e eu estou usando apenas a função </a:t>
            </a:r>
            <a:r>
              <a:rPr lang="pt-BR" b="1" dirty="0" err="1">
                <a:solidFill>
                  <a:srgbClr val="C00000"/>
                </a:solidFill>
              </a:rPr>
              <a:t>sqrt</a:t>
            </a:r>
            <a:r>
              <a:rPr lang="pt-BR" b="1" dirty="0">
                <a:solidFill>
                  <a:srgbClr val="C00000"/>
                </a:solidFill>
              </a:rPr>
              <a:t>.</a:t>
            </a:r>
          </a:p>
          <a:p>
            <a:endParaRPr lang="pt-BR" b="1" dirty="0"/>
          </a:p>
          <a:p>
            <a:pPr marL="342900" indent="-342900">
              <a:buFontTx/>
              <a:buChar char="-"/>
            </a:pPr>
            <a:r>
              <a:rPr lang="pt-BR" sz="2400" b="1" dirty="0"/>
              <a:t>Para importar apenas uma ou mais funções da biblioteca utilizamos:</a:t>
            </a:r>
            <a:r>
              <a:rPr lang="pt-BR" sz="3200" b="1" i="1" dirty="0">
                <a:solidFill>
                  <a:srgbClr val="FF0000"/>
                </a:solidFill>
              </a:rPr>
              <a:t> </a:t>
            </a:r>
          </a:p>
          <a:p>
            <a:r>
              <a:rPr lang="pt-BR" sz="3200" b="1" i="1" dirty="0">
                <a:solidFill>
                  <a:srgbClr val="FF0000"/>
                </a:solidFill>
              </a:rPr>
              <a:t>		</a:t>
            </a:r>
            <a:r>
              <a:rPr lang="pt-BR" sz="3200" b="1" i="1" dirty="0" err="1">
                <a:solidFill>
                  <a:srgbClr val="FF0000"/>
                </a:solidFill>
              </a:rPr>
              <a:t>from</a:t>
            </a:r>
            <a:r>
              <a:rPr lang="pt-BR" sz="3200" b="1" i="1" dirty="0">
                <a:solidFill>
                  <a:srgbClr val="FF0000"/>
                </a:solidFill>
              </a:rPr>
              <a:t> </a:t>
            </a:r>
            <a:r>
              <a:rPr lang="pt-BR" sz="3200" b="1" i="1" dirty="0" err="1">
                <a:solidFill>
                  <a:srgbClr val="FF0000"/>
                </a:solidFill>
              </a:rPr>
              <a:t>nome_da_biblioteca</a:t>
            </a:r>
            <a:r>
              <a:rPr lang="pt-BR" sz="3200" b="1" i="1" dirty="0">
                <a:solidFill>
                  <a:srgbClr val="FF0000"/>
                </a:solidFill>
              </a:rPr>
              <a:t> </a:t>
            </a:r>
            <a:r>
              <a:rPr lang="pt-BR" sz="3200" b="1" i="1" dirty="0" err="1">
                <a:solidFill>
                  <a:srgbClr val="FF0000"/>
                </a:solidFill>
              </a:rPr>
              <a:t>import</a:t>
            </a:r>
            <a:r>
              <a:rPr lang="pt-BR" sz="3200" b="1" i="1" dirty="0">
                <a:solidFill>
                  <a:srgbClr val="FF0000"/>
                </a:solidFill>
              </a:rPr>
              <a:t> nome-</a:t>
            </a:r>
            <a:r>
              <a:rPr lang="pt-BR" sz="3200" b="1" i="1" dirty="0" err="1">
                <a:solidFill>
                  <a:srgbClr val="FF0000"/>
                </a:solidFill>
              </a:rPr>
              <a:t>da_função</a:t>
            </a:r>
            <a:endParaRPr lang="pt-BR" sz="3200" b="1" i="1" dirty="0">
              <a:solidFill>
                <a:srgbClr val="FF0000"/>
              </a:solidFill>
            </a:endParaRPr>
          </a:p>
          <a:p>
            <a:endParaRPr lang="pt" b="1" dirty="0"/>
          </a:p>
          <a:p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pt-BR" sz="2400" b="1" dirty="0" err="1">
                <a:solidFill>
                  <a:schemeClr val="accent1">
                    <a:lumMod val="75000"/>
                  </a:schemeClr>
                </a:solidFill>
              </a:rPr>
              <a:t>Ex</a:t>
            </a:r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: 	</a:t>
            </a:r>
            <a:r>
              <a:rPr lang="pt-BR" sz="2400" b="1" dirty="0" err="1">
                <a:solidFill>
                  <a:schemeClr val="accent1">
                    <a:lumMod val="75000"/>
                  </a:schemeClr>
                </a:solidFill>
              </a:rPr>
              <a:t>from</a:t>
            </a:r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2400" b="1" dirty="0" err="1">
                <a:solidFill>
                  <a:schemeClr val="accent1">
                    <a:lumMod val="75000"/>
                  </a:schemeClr>
                </a:solidFill>
              </a:rPr>
              <a:t>math</a:t>
            </a:r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2400" b="1" dirty="0" err="1">
                <a:solidFill>
                  <a:schemeClr val="accent1">
                    <a:lumMod val="75000"/>
                  </a:schemeClr>
                </a:solidFill>
              </a:rPr>
              <a:t>import</a:t>
            </a:r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2400" b="1" dirty="0" err="1">
                <a:solidFill>
                  <a:schemeClr val="accent1">
                    <a:lumMod val="75000"/>
                  </a:schemeClr>
                </a:solidFill>
              </a:rPr>
              <a:t>sqrt</a:t>
            </a:r>
            <a:endParaRPr lang="pt-BR" sz="24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pt-BR" sz="2400" b="1" dirty="0" err="1">
                <a:solidFill>
                  <a:schemeClr val="accent1">
                    <a:lumMod val="75000"/>
                  </a:schemeClr>
                </a:solidFill>
              </a:rPr>
              <a:t>print</a:t>
            </a:r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pt-BR" sz="2400" b="1" dirty="0" err="1">
                <a:solidFill>
                  <a:schemeClr val="accent1">
                    <a:lumMod val="75000"/>
                  </a:schemeClr>
                </a:solidFill>
              </a:rPr>
              <a:t>sqrt</a:t>
            </a:r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(25))</a:t>
            </a:r>
          </a:p>
        </p:txBody>
      </p:sp>
    </p:spTree>
    <p:extLst>
      <p:ext uri="{BB962C8B-B14F-4D97-AF65-F5344CB8AC3E}">
        <p14:creationId xmlns:p14="http://schemas.microsoft.com/office/powerpoint/2010/main" val="1767554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58056" y="194491"/>
            <a:ext cx="11814629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b="1" dirty="0"/>
          </a:p>
          <a:p>
            <a:r>
              <a:rPr lang="pt-BR" sz="2800" b="1" dirty="0"/>
              <a:t>Para diminuir a digitação, costuma-se importar todas as funções de uma biblioteca da seguinte  forma:</a:t>
            </a:r>
          </a:p>
          <a:p>
            <a:endParaRPr lang="pt-BR" sz="2800" b="1" dirty="0"/>
          </a:p>
          <a:p>
            <a:r>
              <a:rPr lang="pt-BR" sz="2800" b="1" dirty="0">
                <a:solidFill>
                  <a:srgbClr val="FF0000"/>
                </a:solidFill>
              </a:rPr>
              <a:t>	</a:t>
            </a:r>
            <a:r>
              <a:rPr lang="pt-BR" sz="2800" b="1" dirty="0" err="1">
                <a:solidFill>
                  <a:srgbClr val="FF0000"/>
                </a:solidFill>
              </a:rPr>
              <a:t>from</a:t>
            </a:r>
            <a:r>
              <a:rPr lang="pt-BR" sz="2800" b="1" dirty="0">
                <a:solidFill>
                  <a:srgbClr val="FF0000"/>
                </a:solidFill>
              </a:rPr>
              <a:t> </a:t>
            </a:r>
            <a:r>
              <a:rPr lang="pt-BR" sz="2800" b="1" dirty="0" err="1">
                <a:solidFill>
                  <a:srgbClr val="FF0000"/>
                </a:solidFill>
              </a:rPr>
              <a:t>package</a:t>
            </a:r>
            <a:r>
              <a:rPr lang="pt-BR" sz="2800" b="1" dirty="0">
                <a:solidFill>
                  <a:srgbClr val="FF0000"/>
                </a:solidFill>
              </a:rPr>
              <a:t> </a:t>
            </a:r>
            <a:r>
              <a:rPr lang="pt-BR" sz="2800" b="1" dirty="0" err="1">
                <a:solidFill>
                  <a:srgbClr val="FF0000"/>
                </a:solidFill>
              </a:rPr>
              <a:t>import</a:t>
            </a:r>
            <a:r>
              <a:rPr lang="pt-BR" sz="2800" b="1" dirty="0">
                <a:solidFill>
                  <a:srgbClr val="FF0000"/>
                </a:solidFill>
              </a:rPr>
              <a:t> *</a:t>
            </a:r>
          </a:p>
          <a:p>
            <a:endParaRPr lang="pt-BR" b="1" dirty="0"/>
          </a:p>
          <a:p>
            <a:r>
              <a:rPr lang="pt-BR" b="1" dirty="0"/>
              <a:t>	</a:t>
            </a:r>
            <a:r>
              <a:rPr lang="pt-BR" sz="2400" b="1" dirty="0" err="1">
                <a:solidFill>
                  <a:schemeClr val="accent1">
                    <a:lumMod val="75000"/>
                  </a:schemeClr>
                </a:solidFill>
              </a:rPr>
              <a:t>Ex</a:t>
            </a:r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:  </a:t>
            </a:r>
            <a:r>
              <a:rPr lang="pt-BR" sz="2400" b="1" dirty="0" err="1">
                <a:solidFill>
                  <a:schemeClr val="accent1">
                    <a:lumMod val="75000"/>
                  </a:schemeClr>
                </a:solidFill>
              </a:rPr>
              <a:t>from</a:t>
            </a:r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2400" b="1" dirty="0" err="1">
                <a:solidFill>
                  <a:schemeClr val="accent1">
                    <a:lumMod val="75000"/>
                  </a:schemeClr>
                </a:solidFill>
              </a:rPr>
              <a:t>math</a:t>
            </a:r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sz="2400" b="1" dirty="0" err="1">
                <a:solidFill>
                  <a:schemeClr val="accent1">
                    <a:lumMod val="75000"/>
                  </a:schemeClr>
                </a:solidFill>
              </a:rPr>
              <a:t>import</a:t>
            </a:r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 *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ACC0CBD-42CF-827A-1A06-7DDBEC3F720C}"/>
              </a:ext>
            </a:extLst>
          </p:cNvPr>
          <p:cNvSpPr txBox="1"/>
          <p:nvPr/>
        </p:nvSpPr>
        <p:spPr>
          <a:xfrm>
            <a:off x="924560" y="3739633"/>
            <a:ext cx="8323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2"/>
              </a:rPr>
              <a:t>https://docs.python.org/pt-br/3/library/math.html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2117587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1009934" y="2688610"/>
            <a:ext cx="3248167" cy="124194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/>
          <p:cNvSpPr/>
          <p:nvPr/>
        </p:nvSpPr>
        <p:spPr>
          <a:xfrm>
            <a:off x="0" y="0"/>
            <a:ext cx="12148675" cy="6586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000" b="1" dirty="0">
                <a:solidFill>
                  <a:srgbClr val="FF0000"/>
                </a:solidFill>
              </a:rPr>
              <a:t>Funções que já vem no Python não precisando importar</a:t>
            </a:r>
          </a:p>
          <a:p>
            <a:endParaRPr lang="pt-BR" dirty="0"/>
          </a:p>
          <a:p>
            <a:r>
              <a:rPr lang="pt-BR" sz="2000" b="1" dirty="0"/>
              <a:t>A biblioteca do Python contém vários componentes embutidos, que podem ser utilizados em qualquer parte do código sem a necessidade de um import. </a:t>
            </a:r>
          </a:p>
          <a:p>
            <a:endParaRPr lang="pt-BR" sz="2000" b="1" dirty="0"/>
          </a:p>
          <a:p>
            <a:r>
              <a:rPr lang="pt-BR" sz="2000" b="1" dirty="0"/>
              <a:t>Um exemplo disso é a função </a:t>
            </a:r>
            <a:r>
              <a:rPr lang="pt-BR" sz="2000" b="1" dirty="0" err="1"/>
              <a:t>max</a:t>
            </a:r>
            <a:r>
              <a:rPr lang="pt-BR" sz="2000" b="1" dirty="0"/>
              <a:t>(), que retorna o maior elemento de uma lista que lhe é passada por parâmetro. No código abaixo, temos dois exemplos de uso:</a:t>
            </a:r>
          </a:p>
          <a:p>
            <a:endParaRPr lang="pt" dirty="0"/>
          </a:p>
          <a:p>
            <a:r>
              <a:rPr lang="pt-BR" dirty="0"/>
              <a:t>	</a:t>
            </a:r>
            <a:r>
              <a:rPr lang="pt-BR" b="1" dirty="0" err="1"/>
              <a:t>maior_numero</a:t>
            </a:r>
            <a:r>
              <a:rPr lang="pt-BR" b="1" dirty="0"/>
              <a:t> = </a:t>
            </a:r>
            <a:r>
              <a:rPr lang="pt-BR" b="1" dirty="0" err="1"/>
              <a:t>max</a:t>
            </a:r>
            <a:r>
              <a:rPr lang="pt-BR" b="1" dirty="0"/>
              <a:t>(1, 2, 3)</a:t>
            </a:r>
          </a:p>
          <a:p>
            <a:r>
              <a:rPr lang="pt-BR" b="1" dirty="0"/>
              <a:t>	</a:t>
            </a:r>
            <a:r>
              <a:rPr lang="pt-BR" b="1" dirty="0" err="1"/>
              <a:t>maior_letra</a:t>
            </a:r>
            <a:r>
              <a:rPr lang="pt-BR" b="1" dirty="0"/>
              <a:t> = </a:t>
            </a:r>
            <a:r>
              <a:rPr lang="pt-BR" b="1" dirty="0" err="1"/>
              <a:t>max</a:t>
            </a:r>
            <a:r>
              <a:rPr lang="pt-BR" b="1" dirty="0"/>
              <a:t>('a', 'b', 'c')</a:t>
            </a:r>
          </a:p>
          <a:p>
            <a:r>
              <a:rPr lang="pt-BR" b="1" dirty="0"/>
              <a:t>	</a:t>
            </a:r>
            <a:r>
              <a:rPr lang="pt-BR" b="1" dirty="0" err="1"/>
              <a:t>print</a:t>
            </a:r>
            <a:r>
              <a:rPr lang="pt-BR" b="1" dirty="0"/>
              <a:t>(</a:t>
            </a:r>
            <a:r>
              <a:rPr lang="pt-BR" b="1" dirty="0" err="1"/>
              <a:t>maior_numero</a:t>
            </a:r>
            <a:r>
              <a:rPr lang="pt-BR" b="1" dirty="0"/>
              <a:t>)</a:t>
            </a:r>
          </a:p>
          <a:p>
            <a:r>
              <a:rPr lang="pt-BR" b="1" dirty="0"/>
              <a:t>	</a:t>
            </a:r>
            <a:r>
              <a:rPr lang="pt-BR" b="1" dirty="0" err="1"/>
              <a:t>print</a:t>
            </a:r>
            <a:r>
              <a:rPr lang="pt-BR" b="1" dirty="0"/>
              <a:t>(</a:t>
            </a:r>
            <a:r>
              <a:rPr lang="pt-BR" b="1" dirty="0" err="1"/>
              <a:t>maior_letra</a:t>
            </a:r>
            <a:r>
              <a:rPr lang="pt-BR" b="1" dirty="0"/>
              <a:t>)</a:t>
            </a:r>
          </a:p>
          <a:p>
            <a:endParaRPr lang="pt-BR" b="1" dirty="0"/>
          </a:p>
          <a:p>
            <a:endParaRPr lang="pt-BR" dirty="0"/>
          </a:p>
          <a:p>
            <a:pPr algn="just"/>
            <a:r>
              <a:rPr lang="pt-BR" sz="2000" dirty="0"/>
              <a:t>No primeiro exemplo, a variável </a:t>
            </a:r>
            <a:r>
              <a:rPr lang="pt-BR" sz="2000" dirty="0" err="1"/>
              <a:t>maior_numero</a:t>
            </a:r>
            <a:r>
              <a:rPr lang="pt-BR" sz="2000" dirty="0"/>
              <a:t> receberá o valor 3, por ele ser o maior elemento passado por parâmetro.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No segundo, a variável </a:t>
            </a:r>
            <a:r>
              <a:rPr lang="pt-BR" sz="2000" dirty="0" err="1"/>
              <a:t>maior_letra</a:t>
            </a:r>
            <a:r>
              <a:rPr lang="pt-BR" sz="2000" dirty="0"/>
              <a:t> receberá a letra “c”, pois seu valor na tabela ASCII é superior ao das letras “a” e “b”.</a:t>
            </a:r>
          </a:p>
          <a:p>
            <a:pPr algn="just"/>
            <a:endParaRPr lang="pt" sz="2000" dirty="0"/>
          </a:p>
          <a:p>
            <a:endParaRPr lang="pt" dirty="0"/>
          </a:p>
        </p:txBody>
      </p:sp>
    </p:spTree>
    <p:extLst>
      <p:ext uri="{BB962C8B-B14F-4D97-AF65-F5344CB8AC3E}">
        <p14:creationId xmlns:p14="http://schemas.microsoft.com/office/powerpoint/2010/main" val="2652238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0C78911-CA9D-D171-5698-AA9152B97D5A}"/>
              </a:ext>
            </a:extLst>
          </p:cNvPr>
          <p:cNvSpPr txBox="1"/>
          <p:nvPr/>
        </p:nvSpPr>
        <p:spPr>
          <a:xfrm>
            <a:off x="894080" y="919261"/>
            <a:ext cx="100076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b="1" dirty="0" err="1">
                <a:solidFill>
                  <a:srgbClr val="C00000"/>
                </a:solidFill>
              </a:rPr>
              <a:t>NumPy</a:t>
            </a:r>
            <a:r>
              <a:rPr lang="pt-BR" sz="2000" b="1" dirty="0">
                <a:solidFill>
                  <a:srgbClr val="C00000"/>
                </a:solidFill>
              </a:rPr>
              <a:t>: Computação Científica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A </a:t>
            </a:r>
            <a:r>
              <a:rPr lang="pt-BR" dirty="0" err="1"/>
              <a:t>NumPy</a:t>
            </a:r>
            <a:r>
              <a:rPr lang="pt-BR" dirty="0"/>
              <a:t> é uma biblioteca fundamental para a computação científica em Python. Ele fornece suporte para </a:t>
            </a:r>
            <a:r>
              <a:rPr lang="pt-BR" dirty="0" err="1"/>
              <a:t>arrays</a:t>
            </a:r>
            <a:r>
              <a:rPr lang="pt-BR" dirty="0"/>
              <a:t> e matrizes multidimensionais, além de funções matemáticas de alto nível para operar nessas estruturas. É amplamente utilizado para realizar operações de álgebra linear, transformadas de Fourier e manipulações de números aleatórios.</a:t>
            </a:r>
          </a:p>
          <a:p>
            <a:pPr algn="just">
              <a:buFont typeface="+mj-lt"/>
              <a:buAutoNum type="arabicPeriod"/>
            </a:pPr>
            <a:endParaRPr lang="pt-BR" dirty="0"/>
          </a:p>
          <a:p>
            <a:pPr algn="just"/>
            <a:r>
              <a:rPr lang="pt-BR" sz="2000" dirty="0">
                <a:solidFill>
                  <a:srgbClr val="C00000"/>
                </a:solidFill>
              </a:rPr>
              <a:t>Pandas: Análise de Dados</a:t>
            </a:r>
          </a:p>
          <a:p>
            <a:pPr algn="just"/>
            <a:endParaRPr lang="pt-BR" sz="2000" dirty="0">
              <a:solidFill>
                <a:srgbClr val="C00000"/>
              </a:solidFill>
            </a:endParaRPr>
          </a:p>
          <a:p>
            <a:pPr lvl="1" algn="just"/>
            <a:r>
              <a:rPr lang="pt-BR" dirty="0"/>
              <a:t>A Pandas é uma ferramenta poderosa para análise e manipulação de dados. Facilita o trabalho com dados tabulares, como aqueles encontrados em arquivos CSV e bancos de dados SQL. Pandas proporciona estruturas de dados de alto desempenho, como </a:t>
            </a:r>
            <a:r>
              <a:rPr lang="pt-BR" dirty="0" err="1"/>
              <a:t>DataFrames</a:t>
            </a:r>
            <a:r>
              <a:rPr lang="pt-BR" dirty="0"/>
              <a:t>, que permitem manipular, limpar e agregar conjuntos de dados de maneira eficiente.</a:t>
            </a:r>
          </a:p>
          <a:p>
            <a:pPr algn="just">
              <a:buFont typeface="+mj-lt"/>
              <a:buAutoNum type="arabicPeriod"/>
            </a:pPr>
            <a:endParaRPr lang="pt-BR" dirty="0"/>
          </a:p>
          <a:p>
            <a:pPr algn="just"/>
            <a:r>
              <a:rPr lang="pt-BR" sz="2000" dirty="0" err="1">
                <a:solidFill>
                  <a:srgbClr val="C00000"/>
                </a:solidFill>
              </a:rPr>
              <a:t>Matplotlib</a:t>
            </a:r>
            <a:r>
              <a:rPr lang="pt-BR" sz="2000" dirty="0">
                <a:solidFill>
                  <a:srgbClr val="C00000"/>
                </a:solidFill>
              </a:rPr>
              <a:t> &amp; </a:t>
            </a:r>
            <a:r>
              <a:rPr lang="pt-BR" sz="2000" dirty="0" err="1">
                <a:solidFill>
                  <a:srgbClr val="C00000"/>
                </a:solidFill>
              </a:rPr>
              <a:t>Seaborn</a:t>
            </a:r>
            <a:r>
              <a:rPr lang="pt-BR" sz="2000" dirty="0">
                <a:solidFill>
                  <a:srgbClr val="C00000"/>
                </a:solidFill>
              </a:rPr>
              <a:t>: Visualização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A </a:t>
            </a:r>
            <a:r>
              <a:rPr lang="pt-BR" dirty="0" err="1"/>
              <a:t>Matplotlib</a:t>
            </a:r>
            <a:r>
              <a:rPr lang="pt-BR" dirty="0"/>
              <a:t> é uma biblioteca de plotagem utilizada para criar visualizações estáticas, interativas e animadas em Python. Ela oferece controle total sobre o estilo de cada elemento no gráfico. </a:t>
            </a:r>
            <a:r>
              <a:rPr lang="pt-BR" dirty="0" err="1"/>
              <a:t>Seaborn</a:t>
            </a:r>
            <a:r>
              <a:rPr lang="pt-BR" dirty="0"/>
              <a:t> é construída sobre o </a:t>
            </a:r>
            <a:r>
              <a:rPr lang="pt-BR" dirty="0" err="1"/>
              <a:t>Matplotlib</a:t>
            </a:r>
            <a:r>
              <a:rPr lang="pt-BR" dirty="0"/>
              <a:t> e proporciona uma interface de nível mais alto para criar gráficos estatisticamente informativos e esteticamente agradáveis com menos código.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1EF4AA1-F7E8-9CBC-A07E-4313362B88DA}"/>
              </a:ext>
            </a:extLst>
          </p:cNvPr>
          <p:cNvSpPr txBox="1"/>
          <p:nvPr/>
        </p:nvSpPr>
        <p:spPr>
          <a:xfrm>
            <a:off x="782320" y="91440"/>
            <a:ext cx="1000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OUTRAS BIBLIOTECAS IMPORTANTES DO PYTHON</a:t>
            </a:r>
          </a:p>
        </p:txBody>
      </p:sp>
    </p:spTree>
    <p:extLst>
      <p:ext uri="{BB962C8B-B14F-4D97-AF65-F5344CB8AC3E}">
        <p14:creationId xmlns:p14="http://schemas.microsoft.com/office/powerpoint/2010/main" val="1044155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3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CC36FF3-DA65-4B6D-E3A5-D1E0A6B41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248" y="643467"/>
            <a:ext cx="8949504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21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7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95423E2-1745-F4E9-F519-DC0C62A7A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205" y="643467"/>
            <a:ext cx="898558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372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3E65944-F1C7-A169-0904-AF9A00101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904" y="643467"/>
            <a:ext cx="8878192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822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73089" y="0"/>
            <a:ext cx="11436824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 err="1">
                <a:solidFill>
                  <a:srgbClr val="FF0000"/>
                </a:solidFill>
              </a:rPr>
              <a:t>Exercicio</a:t>
            </a:r>
            <a:r>
              <a:rPr lang="pt-BR" sz="2400" b="1" dirty="0">
                <a:solidFill>
                  <a:srgbClr val="FF0000"/>
                </a:solidFill>
              </a:rPr>
              <a:t> 17 – Elabore e teste programas com as seguintes Funções em Python:</a:t>
            </a:r>
          </a:p>
          <a:p>
            <a:pPr algn="just"/>
            <a:endParaRPr lang="pt-BR" sz="2400" b="1" dirty="0">
              <a:solidFill>
                <a:srgbClr val="FF0000"/>
              </a:solidFill>
            </a:endParaRPr>
          </a:p>
          <a:p>
            <a:pPr algn="just"/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1- Função que recebe uma lista de números armazenados de forma crescente, e dois valores ( limite inferior e limite superior), e exiba a </a:t>
            </a:r>
            <a:r>
              <a:rPr lang="pt-B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sublista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cujos elementos são maiores ou iguais ao limite inferior e menores ou iguais ao limite superior. Exemplo: lista inicial=[12,14,15,16,18,20,24,26,28,32,34,38]  -  limite inferior=13  -  limite superior = 26</a:t>
            </a:r>
          </a:p>
          <a:p>
            <a:pPr algn="just"/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	lista exibida: [14,15,16,18,20,24,26]</a:t>
            </a:r>
          </a:p>
          <a:p>
            <a:pPr algn="just"/>
            <a:endParaRPr lang="pt-B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2 - Função que receba três argumentos e que forneça a soma desses três argumentos.</a:t>
            </a:r>
          </a:p>
          <a:p>
            <a:pPr algn="just"/>
            <a:endParaRPr lang="pt-B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3 -  Função que receba um argumento. A função retorna o valor de caractere ‘P’, se seu argumento for positivo, e ‘N’, se seu argumento for zero ou negativo.</a:t>
            </a:r>
          </a:p>
          <a:p>
            <a:pPr algn="just"/>
            <a:endParaRPr lang="pt-B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4 -  Função chamada </a:t>
            </a:r>
            <a:r>
              <a:rPr lang="pt-B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somaImposto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. A função possui dois parâmetros formais: </a:t>
            </a:r>
            <a:r>
              <a:rPr lang="pt-B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taxaImposto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, que é a quantia de imposto sobre vendas expressa em porcentagem e custo, que é o custo de um item antes do imposto. A função “altera” o valor de custo para incluir o imposto sobre vendas.</a:t>
            </a:r>
          </a:p>
          <a:p>
            <a:pPr marL="342900" indent="-342900" algn="just">
              <a:buAutoNum type="arabicPlain" startAt="4"/>
            </a:pPr>
            <a:endParaRPr lang="pt-B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AutoNum type="arabicPlain" startAt="5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-  Função que informe a quantidade de dígitos de um determinado número inteiro informado.</a:t>
            </a:r>
          </a:p>
          <a:p>
            <a:pPr algn="just"/>
            <a:endParaRPr lang="pt-B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6 -  Função que retorne o reverso de um número inteiro informado. Por exemplo: 127 -&gt; 721</a:t>
            </a:r>
            <a:r>
              <a:rPr lang="pt-BR" dirty="0"/>
              <a:t>.</a:t>
            </a:r>
          </a:p>
          <a:p>
            <a:pPr algn="just"/>
            <a:endParaRPr lang="pt-BR" dirty="0"/>
          </a:p>
          <a:p>
            <a:pPr algn="just"/>
            <a:r>
              <a:rPr lang="pt-BR" b="1" dirty="0"/>
              <a:t>7 - Use uma função da biblioteca </a:t>
            </a:r>
            <a:r>
              <a:rPr lang="pt-BR" b="1" dirty="0" err="1"/>
              <a:t>math</a:t>
            </a:r>
            <a:r>
              <a:rPr lang="pt-BR" b="1" dirty="0"/>
              <a:t> para calcular e imprimir a soma dos elementos da seguinte lista	c=[12,14,15,16,18,20,24,26,28,32,34,38]</a:t>
            </a:r>
          </a:p>
          <a:p>
            <a:pPr algn="just"/>
            <a:r>
              <a:rPr lang="pt-BR" b="1" dirty="0"/>
              <a:t>	</a:t>
            </a:r>
            <a:r>
              <a:rPr lang="pt-BR" dirty="0"/>
              <a:t>Veja no endereço a seguir quais os módulos (funções) da biblioteca </a:t>
            </a:r>
            <a:r>
              <a:rPr lang="pt-BR" dirty="0" err="1"/>
              <a:t>math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0546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C244E-522A-57B5-8383-7CDF111F7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C948BFB-E4B2-41D5-6DA0-442FA4FA0072}"/>
              </a:ext>
            </a:extLst>
          </p:cNvPr>
          <p:cNvSpPr txBox="1"/>
          <p:nvPr/>
        </p:nvSpPr>
        <p:spPr>
          <a:xfrm>
            <a:off x="173089" y="0"/>
            <a:ext cx="11436824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 err="1">
                <a:solidFill>
                  <a:srgbClr val="FF0000"/>
                </a:solidFill>
              </a:rPr>
              <a:t>Exercicio</a:t>
            </a:r>
            <a:r>
              <a:rPr lang="pt-BR" sz="2400" b="1" dirty="0">
                <a:solidFill>
                  <a:srgbClr val="FF0000"/>
                </a:solidFill>
              </a:rPr>
              <a:t> 17 – Elabore e teste programas com as seguintes Funções em Python:</a:t>
            </a:r>
          </a:p>
          <a:p>
            <a:pPr algn="just"/>
            <a:endParaRPr lang="pt-BR" sz="2400" b="1" dirty="0">
              <a:solidFill>
                <a:srgbClr val="FF0000"/>
              </a:solidFill>
            </a:endParaRPr>
          </a:p>
          <a:p>
            <a:pPr algn="just"/>
            <a:r>
              <a:rPr lang="pt-BR" dirty="0"/>
              <a:t>8-  Cálculo de Área de Círculo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Elabore um programa que solicite ao usuário o raio de um círculo. Utilizando a biblioteca </a:t>
            </a:r>
            <a:r>
              <a:rPr lang="pt-BR" dirty="0" err="1"/>
              <a:t>math</a:t>
            </a:r>
            <a:r>
              <a:rPr lang="pt-BR" dirty="0"/>
              <a:t>, calcule e imprima a área do círculo. O resultado deve ser formatado para duas casas decimais.</a:t>
            </a:r>
          </a:p>
          <a:p>
            <a:pPr algn="just"/>
            <a:r>
              <a:rPr lang="pt-BR" dirty="0"/>
              <a:t>Fórmula: </a:t>
            </a:r>
            <a:r>
              <a:rPr lang="pt-BR" dirty="0" err="1"/>
              <a:t>Aˊrea</a:t>
            </a:r>
            <a:r>
              <a:rPr lang="pt-BR" dirty="0"/>
              <a:t>=π⋅r2</a:t>
            </a:r>
          </a:p>
          <a:p>
            <a:pPr algn="just"/>
            <a:r>
              <a:rPr lang="pt-BR" dirty="0"/>
              <a:t>	Use </a:t>
            </a:r>
            <a:r>
              <a:rPr lang="pt-BR" dirty="0" err="1"/>
              <a:t>math.pi</a:t>
            </a:r>
            <a:r>
              <a:rPr lang="pt-BR" dirty="0"/>
              <a:t> para o valor de π.</a:t>
            </a:r>
          </a:p>
          <a:p>
            <a:pPr algn="just"/>
            <a:r>
              <a:rPr lang="pt-BR" dirty="0"/>
              <a:t>	Use </a:t>
            </a:r>
            <a:r>
              <a:rPr lang="pt-BR" dirty="0" err="1"/>
              <a:t>math.pow</a:t>
            </a:r>
            <a:r>
              <a:rPr lang="pt-BR" dirty="0"/>
              <a:t>() para calcular a potência.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r>
              <a:rPr lang="pt-BR" dirty="0"/>
              <a:t>9 -  Distância entre Dois Pontos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Crie um programa que peça ao usuário as coordenadas de dois pontos, P1(x1,y1) e P2(x2,y2). Usando a biblioteca </a:t>
            </a:r>
            <a:r>
              <a:rPr lang="pt-BR" dirty="0" err="1"/>
              <a:t>math</a:t>
            </a:r>
            <a:r>
              <a:rPr lang="pt-BR" dirty="0"/>
              <a:t>, calcule e imprima a distância euclidiana entre eles.</a:t>
            </a:r>
          </a:p>
          <a:p>
            <a:pPr algn="just"/>
            <a:r>
              <a:rPr lang="pt-BR" dirty="0"/>
              <a:t>Fórmula: Distancia=(x2−x1)2+(y2−y1)2 </a:t>
            </a:r>
          </a:p>
          <a:p>
            <a:pPr algn="just"/>
            <a:r>
              <a:rPr lang="pt-BR" dirty="0"/>
              <a:t>	Use </a:t>
            </a:r>
            <a:r>
              <a:rPr lang="pt-BR" dirty="0" err="1"/>
              <a:t>math.sqrt</a:t>
            </a:r>
            <a:r>
              <a:rPr lang="pt-BR" dirty="0"/>
              <a:t>() para calcular a raiz quadrada.</a:t>
            </a:r>
          </a:p>
          <a:p>
            <a:pPr algn="just"/>
            <a:r>
              <a:rPr lang="pt-BR" dirty="0"/>
              <a:t>	Use </a:t>
            </a:r>
            <a:r>
              <a:rPr lang="pt-BR" dirty="0" err="1"/>
              <a:t>math.pow</a:t>
            </a:r>
            <a:r>
              <a:rPr lang="pt-BR" dirty="0"/>
              <a:t>() para elevar os termos ao quadrado.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r>
              <a:rPr lang="pt-BR" dirty="0"/>
              <a:t>10- Conversão de Graus para Radianos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Desenvolva um programa que converta um ângulo de graus para radianos. Solicite ao usuário que insira um valor em graus e, em seguida, utilize a biblioteca </a:t>
            </a:r>
            <a:r>
              <a:rPr lang="pt-BR" dirty="0" err="1"/>
              <a:t>math</a:t>
            </a:r>
            <a:r>
              <a:rPr lang="pt-BR" dirty="0"/>
              <a:t> para realizar a conversão e imprimir o resultado.</a:t>
            </a:r>
          </a:p>
          <a:p>
            <a:pPr algn="just"/>
            <a:r>
              <a:rPr lang="pt-BR" dirty="0"/>
              <a:t>	Use </a:t>
            </a:r>
            <a:r>
              <a:rPr lang="pt-BR" dirty="0" err="1"/>
              <a:t>math.radians</a:t>
            </a:r>
            <a:r>
              <a:rPr lang="pt-BR" dirty="0"/>
              <a:t>() para a conversão.</a:t>
            </a:r>
          </a:p>
        </p:txBody>
      </p:sp>
    </p:spTree>
    <p:extLst>
      <p:ext uri="{BB962C8B-B14F-4D97-AF65-F5344CB8AC3E}">
        <p14:creationId xmlns:p14="http://schemas.microsoft.com/office/powerpoint/2010/main" val="2995657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4AA6F-4EB9-CE4D-16A7-A26B64FF0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3E40904-FA6C-7E56-212B-9EE70864835E}"/>
              </a:ext>
            </a:extLst>
          </p:cNvPr>
          <p:cNvSpPr txBox="1"/>
          <p:nvPr/>
        </p:nvSpPr>
        <p:spPr>
          <a:xfrm>
            <a:off x="288728" y="134420"/>
            <a:ext cx="37057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Listas e Vetores </a:t>
            </a:r>
          </a:p>
          <a:p>
            <a:pPr algn="just"/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 PYTHON</a:t>
            </a:r>
            <a:endParaRPr lang="pt-BR" sz="1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1C97149-DD3D-7040-270E-69F49FA9D6EC}"/>
              </a:ext>
            </a:extLst>
          </p:cNvPr>
          <p:cNvSpPr txBox="1"/>
          <p:nvPr/>
        </p:nvSpPr>
        <p:spPr>
          <a:xfrm>
            <a:off x="288728" y="2414708"/>
            <a:ext cx="5634552" cy="43088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2000" b="1" dirty="0">
                <a:solidFill>
                  <a:srgbClr val="0070C0"/>
                </a:solidFill>
              </a:rPr>
              <a:t>Vetor (</a:t>
            </a:r>
            <a:r>
              <a:rPr lang="pt-BR" sz="2000" b="1" dirty="0" err="1">
                <a:solidFill>
                  <a:srgbClr val="0070C0"/>
                </a:solidFill>
              </a:rPr>
              <a:t>Array</a:t>
            </a:r>
            <a:r>
              <a:rPr lang="pt-BR" sz="2000" b="1" dirty="0">
                <a:solidFill>
                  <a:srgbClr val="0070C0"/>
                </a:solidFill>
              </a:rPr>
              <a:t>)</a:t>
            </a:r>
          </a:p>
          <a:p>
            <a:pPr algn="just"/>
            <a:endParaRPr lang="pt-BR" sz="2000" b="1" dirty="0">
              <a:solidFill>
                <a:srgbClr val="0070C0"/>
              </a:solidFill>
            </a:endParaRPr>
          </a:p>
          <a:p>
            <a:pPr algn="just"/>
            <a:r>
              <a:rPr lang="pt-BR" b="1" dirty="0"/>
              <a:t>Homogeneidade</a:t>
            </a:r>
            <a:r>
              <a:rPr lang="pt-BR" dirty="0"/>
              <a:t>: Os vetores em Python, geralmente implementados utilizando a biblioteca </a:t>
            </a:r>
            <a:r>
              <a:rPr lang="pt-BR" dirty="0" err="1"/>
              <a:t>array</a:t>
            </a:r>
            <a:r>
              <a:rPr lang="pt-BR" dirty="0"/>
              <a:t> ou </a:t>
            </a:r>
            <a:r>
              <a:rPr lang="pt-BR" dirty="0" err="1"/>
              <a:t>numpy</a:t>
            </a:r>
            <a:r>
              <a:rPr lang="pt-BR" dirty="0"/>
              <a:t>, são homogêneos. Isso significa que todos os elementos no vetor devem ser do mesmo tipo.</a:t>
            </a:r>
          </a:p>
          <a:p>
            <a:pPr algn="just"/>
            <a:endParaRPr lang="pt-BR" dirty="0"/>
          </a:p>
          <a:p>
            <a:pPr algn="just"/>
            <a:r>
              <a:rPr lang="pt-BR" b="1" dirty="0"/>
              <a:t>Eficiência de Memória</a:t>
            </a:r>
            <a:r>
              <a:rPr lang="pt-BR" dirty="0"/>
              <a:t>: Devido à sua natureza homogênea, os vetores têm alocação de memória mais eficiente, pois o espaço é alocado continuamente na memória.</a:t>
            </a:r>
          </a:p>
          <a:p>
            <a:pPr algn="just"/>
            <a:endParaRPr lang="pt-BR" dirty="0"/>
          </a:p>
          <a:p>
            <a:pPr algn="just"/>
            <a:r>
              <a:rPr lang="pt-BR" b="1" dirty="0"/>
              <a:t>Uso Ideal</a:t>
            </a:r>
            <a:r>
              <a:rPr lang="pt-BR" dirty="0"/>
              <a:t>: São mais apropriados quando se precisa realizar operações matemáticas e computacionais em grandes volumes de dados numéricos.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42A1276-DEB2-8EFD-9925-F352A83D2AC1}"/>
              </a:ext>
            </a:extLst>
          </p:cNvPr>
          <p:cNvSpPr txBox="1"/>
          <p:nvPr/>
        </p:nvSpPr>
        <p:spPr>
          <a:xfrm>
            <a:off x="6447351" y="2553207"/>
            <a:ext cx="5537200" cy="4031873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2000" b="1" dirty="0">
                <a:solidFill>
                  <a:schemeClr val="accent6">
                    <a:lumMod val="75000"/>
                  </a:schemeClr>
                </a:solidFill>
              </a:rPr>
              <a:t>Lista</a:t>
            </a:r>
          </a:p>
          <a:p>
            <a:pPr algn="just"/>
            <a:endParaRPr lang="pt-BR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 algn="just"/>
            <a:r>
              <a:rPr lang="pt-BR" b="1" dirty="0"/>
              <a:t>Heterogeneidade</a:t>
            </a:r>
            <a:r>
              <a:rPr lang="pt-BR" dirty="0"/>
              <a:t>: Listas em Python são heterogêneas, o que significa que podem conter elementos de diferentes tipos (inteiros, </a:t>
            </a:r>
            <a:r>
              <a:rPr lang="pt-BR" dirty="0" err="1"/>
              <a:t>strings</a:t>
            </a:r>
            <a:r>
              <a:rPr lang="pt-BR" dirty="0"/>
              <a:t>, objetos, etc.).</a:t>
            </a:r>
          </a:p>
          <a:p>
            <a:pPr algn="just"/>
            <a:endParaRPr lang="pt-BR" dirty="0"/>
          </a:p>
          <a:p>
            <a:pPr algn="just"/>
            <a:r>
              <a:rPr lang="pt-BR" b="1" dirty="0"/>
              <a:t>Flexibilidade e Dinamismo</a:t>
            </a:r>
            <a:r>
              <a:rPr lang="pt-BR" dirty="0"/>
              <a:t>: As listas são dinâmicas, permitindo o redimensionamento fácil e a adição de tipos variados de elementos.</a:t>
            </a:r>
          </a:p>
          <a:p>
            <a:pPr algn="just"/>
            <a:endParaRPr lang="pt-BR" dirty="0"/>
          </a:p>
          <a:p>
            <a:pPr algn="just"/>
            <a:r>
              <a:rPr lang="pt-BR" b="1" dirty="0"/>
              <a:t>Uso Ideal</a:t>
            </a:r>
            <a:r>
              <a:rPr lang="pt-BR" dirty="0"/>
              <a:t>: São ideais para armazenar e manipular coleções de dados onde a flexibilidade é necessária, como misturar tipos de dados ou ajustar dinamicamente o tamanho da coleção.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AD289A5-07BF-18EA-5E8B-7E35ADA22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4800" y="198385"/>
            <a:ext cx="1952727" cy="2700849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6666855-66E2-FD7D-E9A9-2A31F379A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737" y="134420"/>
            <a:ext cx="2138599" cy="2673249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562339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AEDF7E30-2D59-98C8-CE86-A82B3263A9FB}"/>
              </a:ext>
            </a:extLst>
          </p:cNvPr>
          <p:cNvSpPr txBox="1"/>
          <p:nvPr/>
        </p:nvSpPr>
        <p:spPr>
          <a:xfrm>
            <a:off x="899160" y="2029163"/>
            <a:ext cx="3688080" cy="1754326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# Criando uma lista vazia</a:t>
            </a:r>
          </a:p>
          <a:p>
            <a:r>
              <a:rPr lang="pt-BR" dirty="0" err="1"/>
              <a:t>minha_lista</a:t>
            </a:r>
            <a:r>
              <a:rPr lang="pt-BR" dirty="0"/>
              <a:t> = []</a:t>
            </a:r>
          </a:p>
          <a:p>
            <a:endParaRPr lang="pt-BR" dirty="0"/>
          </a:p>
          <a:p>
            <a:r>
              <a:rPr lang="pt-BR" dirty="0"/>
              <a:t># Criando uma lista com elementos</a:t>
            </a:r>
          </a:p>
          <a:p>
            <a:r>
              <a:rPr lang="pt-BR" dirty="0" err="1"/>
              <a:t>numeros</a:t>
            </a:r>
            <a:r>
              <a:rPr lang="pt-BR" dirty="0"/>
              <a:t> = [1, 2, 3, 4, 5]</a:t>
            </a:r>
          </a:p>
          <a:p>
            <a:r>
              <a:rPr lang="pt-BR" dirty="0"/>
              <a:t>pessoas = ['Ana', 'Bruno', 'Carlos']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EB0F251-77B2-3FE2-D600-F9171C1E6BC6}"/>
              </a:ext>
            </a:extLst>
          </p:cNvPr>
          <p:cNvSpPr txBox="1"/>
          <p:nvPr/>
        </p:nvSpPr>
        <p:spPr>
          <a:xfrm>
            <a:off x="5410200" y="2075601"/>
            <a:ext cx="6177280" cy="2031325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Adicionar Elementos  :  </a:t>
            </a:r>
            <a:r>
              <a:rPr lang="pt-BR" b="1" dirty="0" err="1">
                <a:latin typeface="Courier New" panose="02070309020205020404" pitchFamily="49" charset="0"/>
              </a:rPr>
              <a:t>append</a:t>
            </a:r>
            <a:r>
              <a:rPr lang="pt-BR" b="1" dirty="0">
                <a:latin typeface="Courier New" panose="02070309020205020404" pitchFamily="49" charset="0"/>
              </a:rPr>
              <a:t>() e </a:t>
            </a:r>
            <a:r>
              <a:rPr lang="pt-BR" b="1" dirty="0" err="1">
                <a:latin typeface="Courier New" panose="02070309020205020404" pitchFamily="49" charset="0"/>
              </a:rPr>
              <a:t>extend</a:t>
            </a:r>
            <a:r>
              <a:rPr lang="pt-BR" b="1" dirty="0">
                <a:latin typeface="Courier New" panose="02070309020205020404" pitchFamily="49" charset="0"/>
              </a:rPr>
              <a:t>()</a:t>
            </a:r>
            <a:endParaRPr lang="pt-BR" b="1" dirty="0"/>
          </a:p>
          <a:p>
            <a:pPr>
              <a:buNone/>
            </a:pPr>
            <a:endParaRPr lang="pt-BR" dirty="0"/>
          </a:p>
          <a:p>
            <a:r>
              <a:rPr lang="pt-BR" dirty="0"/>
              <a:t>Adiciona um único elemento ao final da lista</a:t>
            </a:r>
          </a:p>
          <a:p>
            <a:r>
              <a:rPr lang="pt-BR" dirty="0"/>
              <a:t>	</a:t>
            </a:r>
            <a:r>
              <a:rPr lang="pt-BR" dirty="0" err="1"/>
              <a:t>minha_lista.append</a:t>
            </a:r>
            <a:r>
              <a:rPr lang="pt-BR" dirty="0"/>
              <a:t>(6)</a:t>
            </a:r>
          </a:p>
          <a:p>
            <a:endParaRPr lang="pt-BR" dirty="0"/>
          </a:p>
          <a:p>
            <a:r>
              <a:rPr lang="pt-BR" dirty="0"/>
              <a:t>Adiciona múltiplos elementos de uma vez.</a:t>
            </a:r>
          </a:p>
          <a:p>
            <a:r>
              <a:rPr lang="pt-BR" dirty="0"/>
              <a:t>	</a:t>
            </a:r>
            <a:r>
              <a:rPr lang="pt-BR" dirty="0" err="1"/>
              <a:t>minha_lista.extend</a:t>
            </a:r>
            <a:r>
              <a:rPr lang="pt-BR" dirty="0"/>
              <a:t>([7, 8, 9])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71E96F3-7575-E527-4DC1-A19F8B14EE40}"/>
              </a:ext>
            </a:extLst>
          </p:cNvPr>
          <p:cNvSpPr txBox="1"/>
          <p:nvPr/>
        </p:nvSpPr>
        <p:spPr>
          <a:xfrm>
            <a:off x="5410200" y="4782399"/>
            <a:ext cx="5740400" cy="1200329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Inserir um elemento na posição especificada.</a:t>
            </a:r>
          </a:p>
          <a:p>
            <a:r>
              <a:rPr lang="pt-BR" b="1" dirty="0" err="1"/>
              <a:t>Insert</a:t>
            </a:r>
            <a:r>
              <a:rPr lang="pt-BR" b="1" dirty="0"/>
              <a:t>()</a:t>
            </a:r>
          </a:p>
          <a:p>
            <a:endParaRPr lang="pt-BR" b="1" dirty="0"/>
          </a:p>
          <a:p>
            <a:r>
              <a:rPr lang="pt-BR" dirty="0"/>
              <a:t>	</a:t>
            </a:r>
            <a:r>
              <a:rPr lang="pt-BR" dirty="0" err="1"/>
              <a:t>minha_lista.insert</a:t>
            </a:r>
            <a:r>
              <a:rPr lang="pt-BR" dirty="0"/>
              <a:t>(0, 10)  # Insere 10 na posição 0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80D79C6-C13A-7DDF-0CDC-59B4B2B7A770}"/>
              </a:ext>
            </a:extLst>
          </p:cNvPr>
          <p:cNvSpPr txBox="1"/>
          <p:nvPr/>
        </p:nvSpPr>
        <p:spPr>
          <a:xfrm>
            <a:off x="436880" y="5056144"/>
            <a:ext cx="4754880" cy="1477328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pt-BR" b="1" dirty="0">
                <a:latin typeface="Courier New" panose="02070309020205020404" pitchFamily="49" charset="0"/>
              </a:rPr>
              <a:t>Remover elementos de uma lista</a:t>
            </a:r>
          </a:p>
          <a:p>
            <a:endParaRPr lang="pt-BR" b="1" dirty="0">
              <a:latin typeface="Courier New" panose="02070309020205020404" pitchFamily="49" charset="0"/>
            </a:endParaRPr>
          </a:p>
          <a:p>
            <a:r>
              <a:rPr lang="pt-BR" b="1" dirty="0">
                <a:latin typeface="Courier New" panose="02070309020205020404" pitchFamily="49" charset="0"/>
              </a:rPr>
              <a:t>remove()</a:t>
            </a:r>
            <a:r>
              <a:rPr lang="pt-BR" dirty="0"/>
              <a:t>: </a:t>
            </a:r>
          </a:p>
          <a:p>
            <a:r>
              <a:rPr lang="pt-BR" dirty="0"/>
              <a:t>Remove a primeira ocorrência de um elemento.</a:t>
            </a:r>
          </a:p>
          <a:p>
            <a:r>
              <a:rPr lang="pt-BR" dirty="0"/>
              <a:t>	</a:t>
            </a:r>
            <a:r>
              <a:rPr lang="pt-BR" dirty="0" err="1"/>
              <a:t>minha_lista.remove</a:t>
            </a:r>
            <a:r>
              <a:rPr lang="pt-BR" dirty="0"/>
              <a:t>(10)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0C6C38E-B05F-2C14-C087-B3B685A1DA20}"/>
              </a:ext>
            </a:extLst>
          </p:cNvPr>
          <p:cNvSpPr txBox="1"/>
          <p:nvPr/>
        </p:nvSpPr>
        <p:spPr>
          <a:xfrm>
            <a:off x="2306320" y="142240"/>
            <a:ext cx="751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accent6">
                    <a:lumMod val="75000"/>
                  </a:schemeClr>
                </a:solidFill>
              </a:rPr>
              <a:t>MANIPULANDO LISTAS</a:t>
            </a:r>
          </a:p>
        </p:txBody>
      </p:sp>
    </p:spTree>
    <p:extLst>
      <p:ext uri="{BB962C8B-B14F-4D97-AF65-F5344CB8AC3E}">
        <p14:creationId xmlns:p14="http://schemas.microsoft.com/office/powerpoint/2010/main" val="14022351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B38D6A38-9DBE-E16E-C884-EE2C77650C56}"/>
              </a:ext>
            </a:extLst>
          </p:cNvPr>
          <p:cNvSpPr txBox="1"/>
          <p:nvPr/>
        </p:nvSpPr>
        <p:spPr>
          <a:xfrm>
            <a:off x="518160" y="781460"/>
            <a:ext cx="10698480" cy="5870005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pop()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Remove e retorna o elemento na posição especificada; se não for especificada, remove o último.</a:t>
            </a:r>
          </a:p>
          <a:p>
            <a:pPr indent="449580"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elemento = 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minha_lista.pop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 # Remove o último elemento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clear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Remove todos os elementos da lista.</a:t>
            </a:r>
          </a:p>
          <a:p>
            <a:pPr indent="449580"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minha_lista.clear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len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Retorna o número de elementos na lista.</a:t>
            </a:r>
          </a:p>
          <a:p>
            <a:pPr indent="449580"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tamanho = 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len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minha_lista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count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Conta quantas vezes um elemento aparece na lista.</a:t>
            </a:r>
          </a:p>
          <a:p>
            <a:pPr indent="449580"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ocorrencias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minha_lista.count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(2)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index()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Retorna o índice da primeira ocorrência de um elemento.</a:t>
            </a:r>
          </a:p>
          <a:p>
            <a:pPr indent="449580"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indice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minha_lista.index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(3)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sort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Ordena a lista em ordem crescente.</a:t>
            </a:r>
          </a:p>
          <a:p>
            <a:pPr indent="449580"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minha_lista.sort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reverse()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Inverte a ordem dos elementos na lista.</a:t>
            </a:r>
          </a:p>
          <a:p>
            <a:pPr indent="449580"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minha_lista.reverse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0467FD1-16A3-60D5-C0DB-98F89D6D9A5C}"/>
              </a:ext>
            </a:extLst>
          </p:cNvPr>
          <p:cNvSpPr txBox="1"/>
          <p:nvPr/>
        </p:nvSpPr>
        <p:spPr>
          <a:xfrm>
            <a:off x="1879600" y="27555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accent6">
                    <a:lumMod val="75000"/>
                  </a:schemeClr>
                </a:solidFill>
              </a:rPr>
              <a:t>MANIPULANDO LISTAS</a:t>
            </a:r>
          </a:p>
        </p:txBody>
      </p:sp>
    </p:spTree>
    <p:extLst>
      <p:ext uri="{BB962C8B-B14F-4D97-AF65-F5344CB8AC3E}">
        <p14:creationId xmlns:p14="http://schemas.microsoft.com/office/powerpoint/2010/main" val="544488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23371" y="707128"/>
            <a:ext cx="11945257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  <a:p>
            <a:pPr fontAlgn="base"/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 (): 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retorna o maior elemento dentro de uma lista  (ou vetor). </a:t>
            </a:r>
          </a:p>
          <a:p>
            <a:pPr fontAlgn="base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Exemplo: para uma lista 1,2 e 3, o resultado será 3, pois é o elemento de maior valor</a:t>
            </a:r>
          </a:p>
          <a:p>
            <a:pPr fontAlgn="base"/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min (): 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retorna o menor elemento dentro de uma lista ou vetor. </a:t>
            </a:r>
          </a:p>
          <a:p>
            <a:pPr fontAlgn="base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Exemplo: para uma lista1,2 e 3, o resultado será 1, pois é o elemento de menor valor</a:t>
            </a:r>
          </a:p>
          <a:p>
            <a:pPr fontAlgn="base"/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any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Retorna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se pelo menos um elemento da lista for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fontAlgn="base"/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():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Retorna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se todos os elementos da lista forem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Exemplos: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Codevalores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= [0, 1, 2, 3]</a:t>
            </a:r>
          </a:p>
          <a:p>
            <a:pPr lvl="2" fontAlgn="base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tem_verdadeiro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any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(valores)  # Saída: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fontAlgn="base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todos_verdadeiros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(valores)  # Saída: False</a:t>
            </a:r>
          </a:p>
          <a:p>
            <a:pPr fontAlgn="base"/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FA35504-E269-CE6D-8FC4-9CDE5118DE57}"/>
              </a:ext>
            </a:extLst>
          </p:cNvPr>
          <p:cNvSpPr txBox="1"/>
          <p:nvPr/>
        </p:nvSpPr>
        <p:spPr>
          <a:xfrm>
            <a:off x="1879600" y="27555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6">
                    <a:lumMod val="75000"/>
                  </a:schemeClr>
                </a:solidFill>
              </a:rPr>
              <a:t>MANIPULANDO LISTAS</a:t>
            </a:r>
          </a:p>
        </p:txBody>
      </p:sp>
    </p:spTree>
    <p:extLst>
      <p:ext uri="{BB962C8B-B14F-4D97-AF65-F5344CB8AC3E}">
        <p14:creationId xmlns:p14="http://schemas.microsoft.com/office/powerpoint/2010/main" val="1471925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8C4C0C4-06BA-3F69-FB7C-5383298DBE28}"/>
              </a:ext>
            </a:extLst>
          </p:cNvPr>
          <p:cNvSpPr txBox="1"/>
          <p:nvPr/>
        </p:nvSpPr>
        <p:spPr>
          <a:xfrm>
            <a:off x="467360" y="304761"/>
            <a:ext cx="1023112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solidFill>
                  <a:srgbClr val="FF0000"/>
                </a:solidFill>
              </a:rPr>
              <a:t>Exercícios 18</a:t>
            </a:r>
          </a:p>
          <a:p>
            <a:pPr>
              <a:buNone/>
            </a:pPr>
            <a:endParaRPr lang="pt-BR" b="1" dirty="0"/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Dada uma lista de </a:t>
            </a:r>
            <a:r>
              <a:rPr lang="pt-BR" dirty="0" err="1"/>
              <a:t>strings</a:t>
            </a:r>
            <a:r>
              <a:rPr lang="pt-BR" dirty="0"/>
              <a:t> </a:t>
            </a:r>
            <a:r>
              <a:rPr lang="pt-BR" dirty="0">
                <a:latin typeface="Courier New" panose="02070309020205020404" pitchFamily="49" charset="0"/>
              </a:rPr>
              <a:t>palavras = ['arara', '</a:t>
            </a:r>
            <a:r>
              <a:rPr lang="pt-BR" dirty="0" err="1">
                <a:latin typeface="Courier New" panose="02070309020205020404" pitchFamily="49" charset="0"/>
              </a:rPr>
              <a:t>python</a:t>
            </a:r>
            <a:r>
              <a:rPr lang="pt-BR" dirty="0">
                <a:latin typeface="Courier New" panose="02070309020205020404" pitchFamily="49" charset="0"/>
              </a:rPr>
              <a:t>', 'radar', '</a:t>
            </a:r>
            <a:r>
              <a:rPr lang="pt-BR" dirty="0" err="1">
                <a:latin typeface="Courier New" panose="02070309020205020404" pitchFamily="49" charset="0"/>
              </a:rPr>
              <a:t>level</a:t>
            </a:r>
            <a:r>
              <a:rPr lang="pt-BR" dirty="0">
                <a:latin typeface="Courier New" panose="02070309020205020404" pitchFamily="49" charset="0"/>
              </a:rPr>
              <a:t>', '</a:t>
            </a:r>
            <a:r>
              <a:rPr lang="pt-BR" dirty="0" err="1">
                <a:latin typeface="Courier New" panose="02070309020205020404" pitchFamily="49" charset="0"/>
              </a:rPr>
              <a:t>code</a:t>
            </a:r>
            <a:r>
              <a:rPr lang="pt-BR" dirty="0">
                <a:latin typeface="Courier New" panose="02070309020205020404" pitchFamily="49" charset="0"/>
              </a:rPr>
              <a:t>']</a:t>
            </a:r>
            <a:r>
              <a:rPr lang="pt-BR" dirty="0"/>
              <a:t>, use </a:t>
            </a:r>
            <a:r>
              <a:rPr lang="pt-BR" dirty="0">
                <a:latin typeface="Courier New" panose="02070309020205020404" pitchFamily="49" charset="0"/>
              </a:rPr>
              <a:t>reverse()</a:t>
            </a:r>
            <a:r>
              <a:rPr lang="pt-BR" dirty="0"/>
              <a:t> e </a:t>
            </a:r>
            <a:r>
              <a:rPr lang="pt-BR" dirty="0">
                <a:latin typeface="Courier New" panose="02070309020205020404" pitchFamily="49" charset="0"/>
              </a:rPr>
              <a:t>index()</a:t>
            </a:r>
            <a:r>
              <a:rPr lang="pt-BR" dirty="0"/>
              <a:t> para identificar quais palavras são palíndromos (palavra que é a mesma ao serem lidas de trás para frente) e retorne seus índices.</a:t>
            </a:r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b="1" dirty="0"/>
              <a:t>Cr</a:t>
            </a:r>
            <a:r>
              <a:rPr lang="pt-BR" dirty="0"/>
              <a:t>ie a lista de números </a:t>
            </a:r>
            <a:r>
              <a:rPr lang="pt-BR" dirty="0">
                <a:latin typeface="Courier New" panose="02070309020205020404" pitchFamily="49" charset="0"/>
              </a:rPr>
              <a:t>valores = [23, 1, 34, 78, 5, 9, 12]</a:t>
            </a:r>
            <a:r>
              <a:rPr lang="pt-BR" dirty="0"/>
              <a:t>. Filtre e ordene apenas os números maiores que 10 em ordem decrescente usando </a:t>
            </a:r>
            <a:r>
              <a:rPr lang="pt-BR" dirty="0" err="1">
                <a:latin typeface="Courier New" panose="02070309020205020404" pitchFamily="49" charset="0"/>
              </a:rPr>
              <a:t>sort</a:t>
            </a:r>
            <a:r>
              <a:rPr lang="pt-BR" dirty="0">
                <a:latin typeface="Courier New" panose="02070309020205020404" pitchFamily="49" charset="0"/>
              </a:rPr>
              <a:t>()</a:t>
            </a:r>
            <a:r>
              <a:rPr lang="pt-BR" dirty="0"/>
              <a:t> e </a:t>
            </a:r>
            <a:r>
              <a:rPr lang="pt-BR" dirty="0">
                <a:latin typeface="Courier New" panose="02070309020205020404" pitchFamily="49" charset="0"/>
              </a:rPr>
              <a:t>reverse()</a:t>
            </a:r>
            <a:r>
              <a:rPr lang="pt-BR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Dada a lista de caracteres </a:t>
            </a:r>
            <a:r>
              <a:rPr lang="pt-BR" dirty="0">
                <a:latin typeface="Courier New" panose="02070309020205020404" pitchFamily="49" charset="0"/>
              </a:rPr>
              <a:t>letras = ['a', 'b', 'c', 'a', 'e', 'i', 'o', 'u', 'a', 'i']</a:t>
            </a:r>
            <a:r>
              <a:rPr lang="pt-BR" dirty="0"/>
              <a:t>, identifique quantas vezes cada vogal aparece na lista usando </a:t>
            </a:r>
            <a:r>
              <a:rPr lang="pt-BR" dirty="0" err="1">
                <a:latin typeface="Courier New" panose="02070309020205020404" pitchFamily="49" charset="0"/>
              </a:rPr>
              <a:t>count</a:t>
            </a:r>
            <a:r>
              <a:rPr lang="pt-BR" dirty="0">
                <a:latin typeface="Courier New" panose="02070309020205020404" pitchFamily="49" charset="0"/>
              </a:rPr>
              <a:t>()</a:t>
            </a:r>
            <a:r>
              <a:rPr lang="pt-BR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Dada a lista de números </a:t>
            </a:r>
            <a:r>
              <a:rPr lang="pt-BR" dirty="0" err="1">
                <a:latin typeface="Courier New" panose="02070309020205020404" pitchFamily="49" charset="0"/>
              </a:rPr>
              <a:t>numeros</a:t>
            </a:r>
            <a:r>
              <a:rPr lang="pt-BR" dirty="0">
                <a:latin typeface="Courier New" panose="02070309020205020404" pitchFamily="49" charset="0"/>
              </a:rPr>
              <a:t> = [11, 25, 42, 17, 28, 33, 40]</a:t>
            </a:r>
            <a:r>
              <a:rPr lang="pt-BR" dirty="0"/>
              <a:t>, use uma combinação de </a:t>
            </a:r>
            <a:r>
              <a:rPr lang="pt-BR" dirty="0" err="1">
                <a:latin typeface="Courier New" panose="02070309020205020404" pitchFamily="49" charset="0"/>
              </a:rPr>
              <a:t>any</a:t>
            </a:r>
            <a:r>
              <a:rPr lang="pt-BR" dirty="0">
                <a:latin typeface="Courier New" panose="02070309020205020404" pitchFamily="49" charset="0"/>
              </a:rPr>
              <a:t>()</a:t>
            </a:r>
            <a:r>
              <a:rPr lang="pt-BR" dirty="0"/>
              <a:t> e </a:t>
            </a:r>
            <a:r>
              <a:rPr lang="pt-BR" dirty="0">
                <a:latin typeface="Courier New" panose="02070309020205020404" pitchFamily="49" charset="0"/>
              </a:rPr>
              <a:t>index()</a:t>
            </a:r>
            <a:r>
              <a:rPr lang="pt-BR" dirty="0"/>
              <a:t> para identificar e retornar o primeiro número par e seu índice.</a:t>
            </a:r>
          </a:p>
          <a:p>
            <a:pPr marL="342900" indent="-342900">
              <a:buFont typeface="+mj-lt"/>
              <a:buAutoNum type="arabicPeriod"/>
            </a:pPr>
            <a:endParaRPr lang="pt-BR" b="1" dirty="0"/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Com a lista </a:t>
            </a:r>
            <a:r>
              <a:rPr lang="pt-BR" dirty="0">
                <a:latin typeface="Courier New" panose="02070309020205020404" pitchFamily="49" charset="0"/>
              </a:rPr>
              <a:t>pontos = [5, 3, 8, 10, 6]</a:t>
            </a:r>
            <a:r>
              <a:rPr lang="pt-BR" dirty="0"/>
              <a:t>, encontre o maior intervalo (diferença) entre dois números consecutivos, usando </a:t>
            </a:r>
            <a:r>
              <a:rPr lang="pt-BR" dirty="0" err="1">
                <a:latin typeface="Courier New" panose="02070309020205020404" pitchFamily="49" charset="0"/>
              </a:rPr>
              <a:t>max</a:t>
            </a:r>
            <a:r>
              <a:rPr lang="pt-BR" dirty="0">
                <a:latin typeface="Courier New" panose="02070309020205020404" pitchFamily="49" charset="0"/>
              </a:rPr>
              <a:t>()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82658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D2C32-A8E2-0804-4F9A-FA1E7CB56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4F51EE6-3786-1F9B-7CE5-CD1D0E920E87}"/>
              </a:ext>
            </a:extLst>
          </p:cNvPr>
          <p:cNvSpPr txBox="1"/>
          <p:nvPr/>
        </p:nvSpPr>
        <p:spPr>
          <a:xfrm>
            <a:off x="863600" y="396201"/>
            <a:ext cx="1077976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  <a:p>
            <a:pPr marL="342900" indent="-342900">
              <a:buFont typeface="+mj-lt"/>
              <a:buAutoNum type="arabicPeriod" startAt="6"/>
            </a:pPr>
            <a:r>
              <a:rPr lang="pt-BR" dirty="0"/>
              <a:t>Fornecidas duas listas, </a:t>
            </a:r>
            <a:r>
              <a:rPr lang="pt-BR" dirty="0">
                <a:latin typeface="Courier New" panose="02070309020205020404" pitchFamily="49" charset="0"/>
              </a:rPr>
              <a:t>lista_1 = [3, 5, 7, 9, 10]</a:t>
            </a:r>
            <a:r>
              <a:rPr lang="pt-BR" dirty="0"/>
              <a:t> e </a:t>
            </a:r>
            <a:r>
              <a:rPr lang="pt-BR" dirty="0">
                <a:latin typeface="Courier New" panose="02070309020205020404" pitchFamily="49" charset="0"/>
              </a:rPr>
              <a:t>lista_2 = [10, 5, 3]</a:t>
            </a:r>
            <a:r>
              <a:rPr lang="pt-BR" dirty="0"/>
              <a:t>, utilize </a:t>
            </a:r>
            <a:r>
              <a:rPr lang="pt-BR" dirty="0" err="1">
                <a:latin typeface="Courier New" panose="02070309020205020404" pitchFamily="49" charset="0"/>
              </a:rPr>
              <a:t>all</a:t>
            </a:r>
            <a:r>
              <a:rPr lang="pt-BR" dirty="0">
                <a:latin typeface="Courier New" panose="02070309020205020404" pitchFamily="49" charset="0"/>
              </a:rPr>
              <a:t>()</a:t>
            </a:r>
            <a:r>
              <a:rPr lang="pt-BR" dirty="0"/>
              <a:t> para verificar se todos os elementos de </a:t>
            </a:r>
            <a:r>
              <a:rPr lang="pt-BR" dirty="0">
                <a:latin typeface="Courier New" panose="02070309020205020404" pitchFamily="49" charset="0"/>
              </a:rPr>
              <a:t>lista_2</a:t>
            </a:r>
            <a:r>
              <a:rPr lang="pt-BR" dirty="0"/>
              <a:t> estão presentes em </a:t>
            </a:r>
            <a:r>
              <a:rPr lang="pt-BR" dirty="0">
                <a:latin typeface="Courier New" panose="02070309020205020404" pitchFamily="49" charset="0"/>
              </a:rPr>
              <a:t>lista_1</a:t>
            </a:r>
            <a:r>
              <a:rPr lang="pt-BR" dirty="0"/>
              <a:t>.</a:t>
            </a:r>
          </a:p>
          <a:p>
            <a:pPr marL="342900" indent="-342900">
              <a:buFont typeface="+mj-lt"/>
              <a:buAutoNum type="arabicPeriod" startAt="6"/>
            </a:pPr>
            <a:endParaRPr lang="pt-BR" dirty="0"/>
          </a:p>
          <a:p>
            <a:pPr marL="342900" indent="-342900">
              <a:buFont typeface="+mj-lt"/>
              <a:buAutoNum type="arabicPeriod" startAt="6"/>
            </a:pPr>
            <a:r>
              <a:rPr lang="pt-BR" dirty="0"/>
              <a:t>Dada a lista </a:t>
            </a:r>
            <a:r>
              <a:rPr lang="pt-BR" dirty="0">
                <a:latin typeface="Courier New" panose="02070309020205020404" pitchFamily="49" charset="0"/>
              </a:rPr>
              <a:t>tarefas = ['lavar', 'passar', 'cozinhar', 'limpar']</a:t>
            </a:r>
            <a:r>
              <a:rPr lang="pt-BR" dirty="0"/>
              <a:t>, e usando </a:t>
            </a:r>
            <a:r>
              <a:rPr lang="pt-BR" dirty="0" err="1">
                <a:latin typeface="Courier New" panose="02070309020205020404" pitchFamily="49" charset="0"/>
              </a:rPr>
              <a:t>len</a:t>
            </a:r>
            <a:r>
              <a:rPr lang="pt-BR" dirty="0">
                <a:latin typeface="Courier New" panose="02070309020205020404" pitchFamily="49" charset="0"/>
              </a:rPr>
              <a:t>()</a:t>
            </a:r>
            <a:r>
              <a:rPr lang="pt-BR" dirty="0"/>
              <a:t>, distribua as tarefas igualmente entre 2 pessoas, imprimindo as tarefas de cada uma.</a:t>
            </a:r>
          </a:p>
          <a:p>
            <a:pPr marL="342900" indent="-342900">
              <a:buFont typeface="+mj-lt"/>
              <a:buAutoNum type="arabicPeriod" startAt="6"/>
            </a:pPr>
            <a:endParaRPr lang="pt-BR" dirty="0"/>
          </a:p>
          <a:p>
            <a:pPr marL="342900" indent="-342900">
              <a:buFont typeface="+mj-lt"/>
              <a:buAutoNum type="arabicPeriod" startAt="6"/>
            </a:pPr>
            <a:r>
              <a:rPr lang="pt-BR" dirty="0"/>
              <a:t>Com a lista de temperaturas </a:t>
            </a:r>
            <a:r>
              <a:rPr lang="pt-BR" dirty="0" err="1">
                <a:latin typeface="Courier New" panose="02070309020205020404" pitchFamily="49" charset="0"/>
              </a:rPr>
              <a:t>temperaturas</a:t>
            </a:r>
            <a:r>
              <a:rPr lang="pt-BR" dirty="0">
                <a:latin typeface="Courier New" panose="02070309020205020404" pitchFamily="49" charset="0"/>
              </a:rPr>
              <a:t> = [22, 19, 25, 28, 15, 18, 30]</a:t>
            </a:r>
            <a:r>
              <a:rPr lang="pt-BR" dirty="0"/>
              <a:t>, use </a:t>
            </a:r>
            <a:r>
              <a:rPr lang="pt-BR" dirty="0">
                <a:latin typeface="Courier New" panose="02070309020205020404" pitchFamily="49" charset="0"/>
              </a:rPr>
              <a:t>min()</a:t>
            </a:r>
            <a:r>
              <a:rPr lang="pt-BR" dirty="0"/>
              <a:t>, </a:t>
            </a:r>
            <a:r>
              <a:rPr lang="pt-BR" dirty="0" err="1">
                <a:latin typeface="Courier New" panose="02070309020205020404" pitchFamily="49" charset="0"/>
              </a:rPr>
              <a:t>max</a:t>
            </a:r>
            <a:r>
              <a:rPr lang="pt-BR" dirty="0">
                <a:latin typeface="Courier New" panose="02070309020205020404" pitchFamily="49" charset="0"/>
              </a:rPr>
              <a:t>()</a:t>
            </a:r>
            <a:r>
              <a:rPr lang="pt-BR" dirty="0"/>
              <a:t>, e </a:t>
            </a:r>
            <a:r>
              <a:rPr lang="pt-BR" dirty="0" err="1">
                <a:latin typeface="Courier New" panose="02070309020205020404" pitchFamily="49" charset="0"/>
              </a:rPr>
              <a:t>len</a:t>
            </a:r>
            <a:r>
              <a:rPr lang="pt-BR" dirty="0">
                <a:latin typeface="Courier New" panose="02070309020205020404" pitchFamily="49" charset="0"/>
              </a:rPr>
              <a:t>()</a:t>
            </a:r>
            <a:r>
              <a:rPr lang="pt-BR" dirty="0"/>
              <a:t> para calcular e imprimir a amplitude térmica, ou seja, a diferença entre a temperatura máxima e mínima, e a temperatura média.</a:t>
            </a:r>
          </a:p>
          <a:p>
            <a:pPr marL="342900" indent="-342900">
              <a:buFont typeface="+mj-lt"/>
              <a:buAutoNum type="arabicPeriod" startAt="6"/>
            </a:pPr>
            <a:endParaRPr lang="pt-BR" dirty="0"/>
          </a:p>
          <a:p>
            <a:pPr marL="342900" indent="-342900">
              <a:buFont typeface="+mj-lt"/>
              <a:buAutoNum type="arabicPeriod" startAt="6"/>
            </a:pPr>
            <a:r>
              <a:rPr lang="pt-BR" dirty="0"/>
              <a:t>Usando a lista </a:t>
            </a:r>
            <a:r>
              <a:rPr lang="pt-BR" dirty="0">
                <a:latin typeface="Courier New" panose="02070309020205020404" pitchFamily="49" charset="0"/>
              </a:rPr>
              <a:t>notas = [72, 85, 90, 65, 88, 92]</a:t>
            </a:r>
            <a:r>
              <a:rPr lang="pt-BR" dirty="0"/>
              <a:t>, classifique as notas em ordem crescente e verifique com </a:t>
            </a:r>
            <a:r>
              <a:rPr lang="pt-BR" dirty="0" err="1">
                <a:latin typeface="Courier New" panose="02070309020205020404" pitchFamily="49" charset="0"/>
              </a:rPr>
              <a:t>all</a:t>
            </a:r>
            <a:r>
              <a:rPr lang="pt-BR" dirty="0">
                <a:latin typeface="Courier New" panose="02070309020205020404" pitchFamily="49" charset="0"/>
              </a:rPr>
              <a:t>()</a:t>
            </a:r>
            <a:r>
              <a:rPr lang="pt-BR" dirty="0"/>
              <a:t> se todos os alunos passaram com nota acima de 60.</a:t>
            </a:r>
          </a:p>
          <a:p>
            <a:pPr marL="342900" indent="-342900">
              <a:buFont typeface="+mj-lt"/>
              <a:buAutoNum type="arabicPeriod" startAt="6"/>
            </a:pPr>
            <a:endParaRPr lang="pt-BR" b="1" dirty="0"/>
          </a:p>
          <a:p>
            <a:pPr marL="342900" indent="-342900">
              <a:buFont typeface="+mj-lt"/>
              <a:buAutoNum type="arabicPeriod" startAt="6"/>
            </a:pPr>
            <a:endParaRPr lang="pt-BR" dirty="0"/>
          </a:p>
          <a:p>
            <a:pPr marL="342900" indent="-342900">
              <a:buFont typeface="+mj-lt"/>
              <a:buAutoNum type="arabicPeriod" startAt="6"/>
            </a:pPr>
            <a:r>
              <a:rPr lang="pt-BR" dirty="0"/>
              <a:t>Dada a lista de números mistos </a:t>
            </a:r>
            <a:r>
              <a:rPr lang="pt-BR" dirty="0" err="1">
                <a:latin typeface="Courier New" panose="02070309020205020404" pitchFamily="49" charset="0"/>
              </a:rPr>
              <a:t>numeros</a:t>
            </a:r>
            <a:r>
              <a:rPr lang="pt-BR" dirty="0">
                <a:latin typeface="Courier New" panose="02070309020205020404" pitchFamily="49" charset="0"/>
              </a:rPr>
              <a:t> = [-5, 10, 3, -2, 8, 2, -1]</a:t>
            </a:r>
            <a:r>
              <a:rPr lang="pt-BR" dirty="0"/>
              <a:t>, use </a:t>
            </a:r>
            <a:r>
              <a:rPr lang="pt-BR" dirty="0" err="1">
                <a:latin typeface="Courier New" panose="02070309020205020404" pitchFamily="49" charset="0"/>
              </a:rPr>
              <a:t>any</a:t>
            </a:r>
            <a:r>
              <a:rPr lang="pt-BR" dirty="0">
                <a:latin typeface="Courier New" panose="02070309020205020404" pitchFamily="49" charset="0"/>
              </a:rPr>
              <a:t>()</a:t>
            </a:r>
            <a:r>
              <a:rPr lang="pt-BR" dirty="0"/>
              <a:t>, </a:t>
            </a:r>
            <a:r>
              <a:rPr lang="pt-BR" dirty="0" err="1">
                <a:latin typeface="Courier New" panose="02070309020205020404" pitchFamily="49" charset="0"/>
              </a:rPr>
              <a:t>len</a:t>
            </a:r>
            <a:r>
              <a:rPr lang="pt-BR" dirty="0">
                <a:latin typeface="Courier New" panose="02070309020205020404" pitchFamily="49" charset="0"/>
              </a:rPr>
              <a:t>()</a:t>
            </a:r>
            <a:r>
              <a:rPr lang="pt-BR" dirty="0"/>
              <a:t>, e </a:t>
            </a:r>
            <a:r>
              <a:rPr lang="pt-BR" dirty="0" err="1"/>
              <a:t>list</a:t>
            </a:r>
            <a:r>
              <a:rPr lang="pt-BR" dirty="0"/>
              <a:t> </a:t>
            </a:r>
            <a:r>
              <a:rPr lang="pt-BR" dirty="0" err="1"/>
              <a:t>comprehensions</a:t>
            </a:r>
            <a:r>
              <a:rPr lang="pt-BR" dirty="0"/>
              <a:t> para somar apenas os números positivos e exibir a soma se houver algum número positivo na lista.</a:t>
            </a:r>
          </a:p>
        </p:txBody>
      </p:sp>
    </p:spTree>
    <p:extLst>
      <p:ext uri="{BB962C8B-B14F-4D97-AF65-F5344CB8AC3E}">
        <p14:creationId xmlns:p14="http://schemas.microsoft.com/office/powerpoint/2010/main" val="30048697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83CFDD4-A94D-7C76-B8CD-2CC0CE6B40D2}"/>
              </a:ext>
            </a:extLst>
          </p:cNvPr>
          <p:cNvSpPr txBox="1"/>
          <p:nvPr/>
        </p:nvSpPr>
        <p:spPr>
          <a:xfrm>
            <a:off x="955040" y="1249680"/>
            <a:ext cx="9773920" cy="52629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pt-BR" dirty="0"/>
          </a:p>
          <a:p>
            <a:r>
              <a:rPr lang="pt-BR" sz="2000" dirty="0"/>
              <a:t>Em Python, vetores são geralmente representados como </a:t>
            </a:r>
            <a:r>
              <a:rPr lang="pt-BR" sz="2000" b="1" dirty="0"/>
              <a:t>listas</a:t>
            </a:r>
            <a:r>
              <a:rPr lang="pt-BR" sz="2000" dirty="0"/>
              <a:t> (</a:t>
            </a:r>
            <a:r>
              <a:rPr lang="pt-BR" dirty="0" err="1"/>
              <a:t>list</a:t>
            </a:r>
            <a:r>
              <a:rPr lang="pt-BR" sz="2000" dirty="0"/>
              <a:t>).</a:t>
            </a:r>
          </a:p>
          <a:p>
            <a:br>
              <a:rPr lang="pt-BR" sz="2000" dirty="0"/>
            </a:br>
            <a:r>
              <a:rPr lang="pt-BR" sz="2000" b="1" dirty="0"/>
              <a:t>Operações Comuns:</a:t>
            </a:r>
            <a:endParaRPr lang="pt-BR" sz="2000" dirty="0"/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b="1" dirty="0"/>
              <a:t>Criação:</a:t>
            </a:r>
            <a:r>
              <a:rPr lang="pt-BR" sz="2000" dirty="0"/>
              <a:t> </a:t>
            </a:r>
            <a:r>
              <a:rPr lang="pt-BR" dirty="0"/>
              <a:t>v = [1, 2, 3]</a:t>
            </a:r>
            <a:r>
              <a:rPr lang="pt-BR" sz="2000" dirty="0"/>
              <a:t> </a:t>
            </a:r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b="1" dirty="0"/>
              <a:t>Adicionar elemento:</a:t>
            </a:r>
            <a:r>
              <a:rPr lang="pt-BR" sz="2000" dirty="0"/>
              <a:t> </a:t>
            </a:r>
            <a:r>
              <a:rPr lang="pt-BR" dirty="0" err="1"/>
              <a:t>v.append</a:t>
            </a:r>
            <a:r>
              <a:rPr lang="pt-BR" dirty="0"/>
              <a:t>(4)</a:t>
            </a:r>
            <a:r>
              <a:rPr lang="pt-BR" sz="2000" dirty="0"/>
              <a:t> → </a:t>
            </a:r>
            <a:r>
              <a:rPr lang="pt-BR" dirty="0"/>
              <a:t>[1, 2, 3, 4]</a:t>
            </a:r>
            <a:r>
              <a:rPr lang="pt-BR" sz="2000" dirty="0"/>
              <a:t> </a:t>
            </a:r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b="1" dirty="0"/>
              <a:t>Concatenar vetores:</a:t>
            </a:r>
            <a:r>
              <a:rPr lang="pt-BR" sz="2000" dirty="0"/>
              <a:t> </a:t>
            </a:r>
            <a:r>
              <a:rPr lang="pt-BR" dirty="0"/>
              <a:t>v1 + v2</a:t>
            </a:r>
            <a:r>
              <a:rPr lang="pt-BR" sz="2000" dirty="0"/>
              <a:t> ou </a:t>
            </a:r>
            <a:r>
              <a:rPr lang="pt-BR" dirty="0"/>
              <a:t>v1.extend(v2)</a:t>
            </a:r>
            <a:r>
              <a:rPr lang="pt-BR" sz="2000" dirty="0"/>
              <a:t> </a:t>
            </a:r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b="1" dirty="0"/>
              <a:t>Tamanho:</a:t>
            </a:r>
            <a:r>
              <a:rPr lang="pt-BR" sz="2000" dirty="0"/>
              <a:t> </a:t>
            </a:r>
            <a:r>
              <a:rPr lang="pt-BR" dirty="0" err="1"/>
              <a:t>len</a:t>
            </a:r>
            <a:r>
              <a:rPr lang="pt-BR" dirty="0"/>
              <a:t>(v)</a:t>
            </a:r>
            <a:r>
              <a:rPr lang="pt-BR" sz="2000" dirty="0"/>
              <a:t> </a:t>
            </a:r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b="1" dirty="0"/>
              <a:t>Acesso por índice:</a:t>
            </a:r>
            <a:r>
              <a:rPr lang="pt-BR" sz="2000" dirty="0"/>
              <a:t> </a:t>
            </a:r>
            <a:r>
              <a:rPr lang="pt-BR" dirty="0"/>
              <a:t>v[0]</a:t>
            </a:r>
            <a:r>
              <a:rPr lang="pt-BR" sz="2000" dirty="0"/>
              <a:t> (primeiro elemento), </a:t>
            </a:r>
            <a:r>
              <a:rPr lang="pt-BR" dirty="0"/>
              <a:t>v[-1]</a:t>
            </a:r>
            <a:r>
              <a:rPr lang="pt-BR" sz="2000" dirty="0"/>
              <a:t> (último) </a:t>
            </a:r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b="1" dirty="0"/>
              <a:t>Fatiamento (</a:t>
            </a:r>
            <a:r>
              <a:rPr lang="pt-BR" sz="2000" b="1" dirty="0" err="1"/>
              <a:t>slicing</a:t>
            </a:r>
            <a:r>
              <a:rPr lang="pt-BR" sz="2000" b="1" dirty="0"/>
              <a:t>):</a:t>
            </a:r>
            <a:r>
              <a:rPr lang="pt-BR" sz="2000" dirty="0"/>
              <a:t> </a:t>
            </a:r>
            <a:r>
              <a:rPr lang="pt-BR" dirty="0"/>
              <a:t>v[</a:t>
            </a:r>
            <a:r>
              <a:rPr lang="pt-BR" dirty="0" err="1"/>
              <a:t>início:fim:passo</a:t>
            </a:r>
            <a:r>
              <a:rPr lang="pt-BR" dirty="0"/>
              <a:t>]</a:t>
            </a:r>
            <a:r>
              <a:rPr lang="pt-BR" sz="2000" dirty="0"/>
              <a:t> (</a:t>
            </a:r>
            <a:r>
              <a:rPr lang="pt-BR" sz="2000" dirty="0" err="1"/>
              <a:t>ex</a:t>
            </a:r>
            <a:r>
              <a:rPr lang="pt-BR" sz="2000" dirty="0"/>
              <a:t>: </a:t>
            </a:r>
            <a:r>
              <a:rPr lang="pt-BR" dirty="0"/>
              <a:t>v[1:3]</a:t>
            </a:r>
            <a:r>
              <a:rPr lang="pt-BR" sz="2000" dirty="0"/>
              <a:t> retorna </a:t>
            </a:r>
            <a:r>
              <a:rPr lang="pt-BR" dirty="0"/>
              <a:t>[2, 3]</a:t>
            </a:r>
            <a:r>
              <a:rPr lang="pt-BR" sz="2000" dirty="0"/>
              <a:t>) </a:t>
            </a:r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b="1" dirty="0"/>
              <a:t>Mapear elementos:</a:t>
            </a:r>
            <a:r>
              <a:rPr lang="pt-BR" sz="2000" dirty="0"/>
              <a:t> </a:t>
            </a:r>
            <a:r>
              <a:rPr lang="pt-BR" dirty="0" err="1"/>
              <a:t>list</a:t>
            </a:r>
            <a:r>
              <a:rPr lang="pt-BR" dirty="0"/>
              <a:t>(</a:t>
            </a:r>
            <a:r>
              <a:rPr lang="pt-BR" dirty="0" err="1"/>
              <a:t>map</a:t>
            </a:r>
            <a:r>
              <a:rPr lang="pt-BR" dirty="0"/>
              <a:t>(lambda x: x*2, v))</a:t>
            </a:r>
            <a:r>
              <a:rPr lang="pt-BR" sz="2000" dirty="0"/>
              <a:t> ou </a:t>
            </a:r>
            <a:r>
              <a:rPr lang="pt-BR" dirty="0"/>
              <a:t>[x*2 for x in v]</a:t>
            </a:r>
            <a:r>
              <a:rPr lang="pt-BR" sz="2000" dirty="0"/>
              <a:t> </a:t>
            </a:r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b="1" dirty="0"/>
              <a:t>Filtrar:</a:t>
            </a:r>
            <a:r>
              <a:rPr lang="pt-BR" sz="2000" dirty="0"/>
              <a:t> </a:t>
            </a:r>
            <a:r>
              <a:rPr lang="pt-BR" dirty="0" err="1"/>
              <a:t>list</a:t>
            </a:r>
            <a:r>
              <a:rPr lang="pt-BR" dirty="0"/>
              <a:t>(</a:t>
            </a:r>
            <a:r>
              <a:rPr lang="pt-BR" dirty="0" err="1"/>
              <a:t>filter</a:t>
            </a:r>
            <a:r>
              <a:rPr lang="pt-BR" dirty="0"/>
              <a:t>(lambda x: x&gt;2, v))</a:t>
            </a:r>
            <a:r>
              <a:rPr lang="pt-BR" sz="2000" dirty="0"/>
              <a:t> ou </a:t>
            </a:r>
            <a:r>
              <a:rPr lang="pt-BR" dirty="0"/>
              <a:t>[x for x in v </a:t>
            </a:r>
            <a:r>
              <a:rPr lang="pt-BR" dirty="0" err="1"/>
              <a:t>if</a:t>
            </a:r>
            <a:r>
              <a:rPr lang="pt-BR" dirty="0"/>
              <a:t> x&gt;2]</a:t>
            </a:r>
            <a:endParaRPr lang="pt-BR" sz="2000" dirty="0"/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AFAFE66-77C6-FF71-5602-BC5790A788D3}"/>
              </a:ext>
            </a:extLst>
          </p:cNvPr>
          <p:cNvSpPr txBox="1"/>
          <p:nvPr/>
        </p:nvSpPr>
        <p:spPr>
          <a:xfrm>
            <a:off x="843280" y="34534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>
                <a:solidFill>
                  <a:srgbClr val="0070C0"/>
                </a:solidFill>
              </a:rPr>
              <a:t>VETORES</a:t>
            </a:r>
          </a:p>
        </p:txBody>
      </p:sp>
    </p:spTree>
    <p:extLst>
      <p:ext uri="{BB962C8B-B14F-4D97-AF65-F5344CB8AC3E}">
        <p14:creationId xmlns:p14="http://schemas.microsoft.com/office/powerpoint/2010/main" val="13016552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1F91333-69B6-3213-EF67-43DF800B0E14}"/>
              </a:ext>
            </a:extLst>
          </p:cNvPr>
          <p:cNvSpPr txBox="1"/>
          <p:nvPr/>
        </p:nvSpPr>
        <p:spPr>
          <a:xfrm>
            <a:off x="386080" y="966787"/>
            <a:ext cx="10932160" cy="49244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dirty="0" err="1">
                <a:solidFill>
                  <a:srgbClr val="0070C0"/>
                </a:solidFill>
              </a:rPr>
              <a:t>NumPy</a:t>
            </a:r>
            <a:r>
              <a:rPr lang="pt-BR" sz="2400" dirty="0">
                <a:solidFill>
                  <a:srgbClr val="0070C0"/>
                </a:solidFill>
              </a:rPr>
              <a:t> (</a:t>
            </a:r>
            <a:r>
              <a:rPr lang="pt-BR" dirty="0" err="1"/>
              <a:t>Numerical</a:t>
            </a:r>
            <a:r>
              <a:rPr lang="pt-BR" dirty="0"/>
              <a:t> Python) </a:t>
            </a:r>
          </a:p>
          <a:p>
            <a:endParaRPr lang="pt-BR" dirty="0"/>
          </a:p>
          <a:p>
            <a:r>
              <a:rPr lang="pt-BR" dirty="0"/>
              <a:t>	é uma biblioteca fundamental para computação científica em Python. Ela fornece suporte para </a:t>
            </a:r>
            <a:r>
              <a:rPr lang="pt-BR" dirty="0" err="1"/>
              <a:t>arrays</a:t>
            </a:r>
            <a:r>
              <a:rPr lang="pt-BR" dirty="0"/>
              <a:t> 	multidimensionais (vetores, matrizes, tensores) e uma vasta coleção de funções matemáticas para operar 	eficientemente sobre esses </a:t>
            </a:r>
            <a:r>
              <a:rPr lang="pt-BR" dirty="0" err="1"/>
              <a:t>arrays</a:t>
            </a:r>
            <a:r>
              <a:rPr lang="pt-BR" dirty="0"/>
              <a:t>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sz="2000" b="1" dirty="0">
                <a:solidFill>
                  <a:srgbClr val="0070C0"/>
                </a:solidFill>
              </a:rPr>
              <a:t>Principais Características:</a:t>
            </a:r>
            <a:endParaRPr lang="pt-BR" sz="2000" dirty="0">
              <a:solidFill>
                <a:srgbClr val="0070C0"/>
              </a:solidFill>
            </a:endParaRPr>
          </a:p>
          <a:p>
            <a:pPr lvl="2"/>
            <a:r>
              <a:rPr lang="pt-BR" b="1" dirty="0" err="1"/>
              <a:t>ndarray</a:t>
            </a:r>
            <a:r>
              <a:rPr lang="pt-BR" dirty="0"/>
              <a:t>: Estrutura de dados central do </a:t>
            </a:r>
            <a:r>
              <a:rPr lang="pt-BR" dirty="0" err="1"/>
              <a:t>NumPy</a:t>
            </a:r>
            <a:r>
              <a:rPr lang="pt-BR" dirty="0"/>
              <a:t>. </a:t>
            </a:r>
          </a:p>
          <a:p>
            <a:pPr lvl="2"/>
            <a:r>
              <a:rPr lang="pt-BR" dirty="0" err="1"/>
              <a:t>Arrays</a:t>
            </a:r>
            <a:r>
              <a:rPr lang="pt-BR" dirty="0"/>
              <a:t> homogêneos (todos os elementos do mesmo tipo). </a:t>
            </a:r>
          </a:p>
          <a:p>
            <a:pPr lvl="1"/>
            <a:endParaRPr lang="pt-BR" dirty="0"/>
          </a:p>
          <a:p>
            <a:pPr lvl="0"/>
            <a:r>
              <a:rPr lang="pt-BR" b="1" dirty="0">
                <a:solidFill>
                  <a:srgbClr val="0070C0"/>
                </a:solidFill>
              </a:rPr>
              <a:t>Operações Matemáticas Eficientes: </a:t>
            </a:r>
          </a:p>
          <a:p>
            <a:pPr lvl="1"/>
            <a:r>
              <a:rPr lang="pt-BR" dirty="0"/>
              <a:t>	Suporte a operações elementares (soma, multiplicação, exponenciação, etc.). </a:t>
            </a:r>
          </a:p>
          <a:p>
            <a:pPr lvl="1"/>
            <a:r>
              <a:rPr lang="pt-BR" dirty="0"/>
              <a:t>	Funções estatísticas (média, desvio padrão, etc.). </a:t>
            </a:r>
          </a:p>
          <a:p>
            <a:pPr lvl="1"/>
            <a:r>
              <a:rPr lang="pt-BR" dirty="0"/>
              <a:t>	Álgebra linear (produto escalar, inversão de matrizes, autovalores).</a:t>
            </a:r>
          </a:p>
          <a:p>
            <a:pPr lvl="1"/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83162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EB04107-7D32-A4DA-A87F-0176586A0C49}"/>
              </a:ext>
            </a:extLst>
          </p:cNvPr>
          <p:cNvSpPr txBox="1"/>
          <p:nvPr/>
        </p:nvSpPr>
        <p:spPr>
          <a:xfrm>
            <a:off x="1473200" y="1581279"/>
            <a:ext cx="8686800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pt-BR" sz="2800" b="1" dirty="0" err="1"/>
              <a:t>import</a:t>
            </a:r>
            <a:r>
              <a:rPr lang="pt-BR" sz="2800" b="1" dirty="0"/>
              <a:t> </a:t>
            </a:r>
            <a:r>
              <a:rPr lang="pt-BR" sz="2800" b="1" dirty="0" err="1"/>
              <a:t>numpy</a:t>
            </a:r>
            <a:r>
              <a:rPr lang="pt-BR" sz="2800" b="1" dirty="0"/>
              <a:t> as </a:t>
            </a:r>
            <a:r>
              <a:rPr lang="pt-BR" sz="2800" b="1" dirty="0" err="1"/>
              <a:t>np</a:t>
            </a:r>
            <a:endParaRPr lang="pt-BR" sz="2800" b="1" dirty="0"/>
          </a:p>
          <a:p>
            <a:endParaRPr lang="pt-BR" sz="2800" b="1" dirty="0"/>
          </a:p>
          <a:p>
            <a:r>
              <a:rPr lang="pt-BR" sz="2800" b="1" dirty="0"/>
              <a:t># Criando um </a:t>
            </a:r>
            <a:r>
              <a:rPr lang="pt-BR" sz="2800" b="1" dirty="0" err="1"/>
              <a:t>array</a:t>
            </a:r>
            <a:endParaRPr lang="pt-BR" sz="2800" b="1" dirty="0"/>
          </a:p>
          <a:p>
            <a:r>
              <a:rPr lang="pt-BR" sz="2800" b="1" dirty="0" err="1"/>
              <a:t>arr</a:t>
            </a:r>
            <a:r>
              <a:rPr lang="pt-BR" sz="2800" b="1" dirty="0"/>
              <a:t> = </a:t>
            </a:r>
            <a:r>
              <a:rPr lang="pt-BR" sz="2800" b="1" dirty="0" err="1"/>
              <a:t>np.array</a:t>
            </a:r>
            <a:r>
              <a:rPr lang="pt-BR" sz="2800" b="1" dirty="0"/>
              <a:t>([1, 2, 3, 4])</a:t>
            </a:r>
          </a:p>
          <a:p>
            <a:endParaRPr lang="pt-BR" sz="2800" b="1" dirty="0"/>
          </a:p>
          <a:p>
            <a:r>
              <a:rPr lang="pt-BR" sz="2800" b="1" dirty="0"/>
              <a:t># Operação vetorizada</a:t>
            </a:r>
          </a:p>
          <a:p>
            <a:r>
              <a:rPr lang="pt-BR" sz="2800" b="1" dirty="0" err="1"/>
              <a:t>arr_squared</a:t>
            </a:r>
            <a:r>
              <a:rPr lang="pt-BR" sz="2800" b="1" dirty="0"/>
              <a:t> = </a:t>
            </a:r>
            <a:r>
              <a:rPr lang="pt-BR" sz="2800" b="1" dirty="0" err="1"/>
              <a:t>arr</a:t>
            </a:r>
            <a:r>
              <a:rPr lang="pt-BR" sz="2800" b="1" dirty="0"/>
              <a:t> ** 2  # Resultado: [1, 4, 9, 16]</a:t>
            </a:r>
          </a:p>
          <a:p>
            <a:endParaRPr lang="pt-BR" sz="2800" b="1" dirty="0"/>
          </a:p>
          <a:p>
            <a:r>
              <a:rPr lang="pt-BR" sz="2800" b="1" dirty="0"/>
              <a:t># Broadcasting</a:t>
            </a:r>
          </a:p>
          <a:p>
            <a:r>
              <a:rPr lang="pt-BR" sz="2800" b="1" dirty="0" err="1"/>
              <a:t>arr</a:t>
            </a:r>
            <a:r>
              <a:rPr lang="pt-BR" sz="2800" b="1" dirty="0"/>
              <a:t> + 10  # Resultado: [11, 12, 13, 14]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442F24A-CE42-22E7-497A-47147E6A8187}"/>
              </a:ext>
            </a:extLst>
          </p:cNvPr>
          <p:cNvSpPr txBox="1"/>
          <p:nvPr/>
        </p:nvSpPr>
        <p:spPr>
          <a:xfrm>
            <a:off x="1209040" y="467360"/>
            <a:ext cx="7945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70C0"/>
                </a:solidFill>
              </a:rPr>
              <a:t>EXEMPLO BÁSICO</a:t>
            </a:r>
          </a:p>
        </p:txBody>
      </p:sp>
    </p:spTree>
    <p:extLst>
      <p:ext uri="{BB962C8B-B14F-4D97-AF65-F5344CB8AC3E}">
        <p14:creationId xmlns:p14="http://schemas.microsoft.com/office/powerpoint/2010/main" val="6144164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3F12BA4-B922-DDBF-F5AF-AA6A5F5C64B9}"/>
              </a:ext>
            </a:extLst>
          </p:cNvPr>
          <p:cNvSpPr txBox="1"/>
          <p:nvPr/>
        </p:nvSpPr>
        <p:spPr>
          <a:xfrm>
            <a:off x="1029257" y="731966"/>
            <a:ext cx="9476183" cy="5601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pt-BR" sz="2000" b="1" dirty="0"/>
              <a:t>Importação da </a:t>
            </a:r>
            <a:r>
              <a:rPr lang="pt-BR" sz="2000" b="1" dirty="0" err="1"/>
              <a:t>Numpy</a:t>
            </a:r>
            <a:endParaRPr lang="pt-BR" sz="2000" b="1" dirty="0"/>
          </a:p>
          <a:p>
            <a:r>
              <a:rPr lang="pt-BR" dirty="0"/>
              <a:t>	 </a:t>
            </a:r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numpy</a:t>
            </a:r>
            <a:r>
              <a:rPr lang="pt-BR" dirty="0"/>
              <a:t> as </a:t>
            </a:r>
            <a:r>
              <a:rPr lang="pt-BR" dirty="0" err="1"/>
              <a:t>np</a:t>
            </a:r>
            <a:r>
              <a:rPr lang="pt-BR" dirty="0"/>
              <a:t> </a:t>
            </a:r>
          </a:p>
          <a:p>
            <a:endParaRPr lang="pt-BR" dirty="0"/>
          </a:p>
          <a:p>
            <a:r>
              <a:rPr lang="pt-BR" sz="2000" b="1" dirty="0"/>
              <a:t>Criação do Vetor</a:t>
            </a:r>
            <a:endParaRPr lang="pt-BR" b="1" dirty="0"/>
          </a:p>
          <a:p>
            <a:r>
              <a:rPr lang="pt-BR" dirty="0"/>
              <a:t>	vetor1 = </a:t>
            </a:r>
            <a:r>
              <a:rPr lang="pt-BR" dirty="0" err="1"/>
              <a:t>np.array</a:t>
            </a:r>
            <a:r>
              <a:rPr lang="pt-BR" dirty="0"/>
              <a:t>([1, 2, 3])</a:t>
            </a:r>
          </a:p>
          <a:p>
            <a:r>
              <a:rPr lang="pt-BR" dirty="0"/>
              <a:t>	vetor2 = </a:t>
            </a:r>
            <a:r>
              <a:rPr lang="pt-BR" dirty="0" err="1"/>
              <a:t>np.array</a:t>
            </a:r>
            <a:r>
              <a:rPr lang="pt-BR" dirty="0"/>
              <a:t>([4, 5, 6])</a:t>
            </a:r>
          </a:p>
          <a:p>
            <a:endParaRPr lang="pt-BR" dirty="0"/>
          </a:p>
          <a:p>
            <a:r>
              <a:rPr lang="pt-BR" dirty="0"/>
              <a:t>	</a:t>
            </a:r>
            <a:r>
              <a:rPr lang="pt-BR" dirty="0" err="1"/>
              <a:t>vet</a:t>
            </a:r>
            <a:r>
              <a:rPr lang="pt-BR" dirty="0"/>
              <a:t>=</a:t>
            </a:r>
            <a:r>
              <a:rPr lang="pt-BR" dirty="0" err="1"/>
              <a:t>np.zeros</a:t>
            </a:r>
            <a:r>
              <a:rPr lang="pt-BR" dirty="0"/>
              <a:t>(3) # criação de vetor com 3 elementos e com zeros</a:t>
            </a:r>
          </a:p>
          <a:p>
            <a:r>
              <a:rPr lang="pt-BR" dirty="0"/>
              <a:t>	</a:t>
            </a:r>
            <a:r>
              <a:rPr lang="pt-BR" dirty="0" err="1"/>
              <a:t>vet</a:t>
            </a:r>
            <a:r>
              <a:rPr lang="pt-BR" dirty="0"/>
              <a:t>=</a:t>
            </a:r>
            <a:r>
              <a:rPr lang="pt-BR" dirty="0" err="1"/>
              <a:t>np.ones</a:t>
            </a:r>
            <a:r>
              <a:rPr lang="pt-BR" dirty="0"/>
              <a:t>(3) # criação de vetor com 3 elementos e com números 1 na diagonal</a:t>
            </a:r>
          </a:p>
          <a:p>
            <a:r>
              <a:rPr lang="pt-BR" dirty="0"/>
              <a:t>	</a:t>
            </a:r>
            <a:r>
              <a:rPr lang="pt-BR" dirty="0" err="1"/>
              <a:t>vet</a:t>
            </a:r>
            <a:r>
              <a:rPr lang="pt-BR" dirty="0"/>
              <a:t>=</a:t>
            </a:r>
            <a:r>
              <a:rPr lang="pt-BR" dirty="0" err="1"/>
              <a:t>np.empty</a:t>
            </a:r>
            <a:r>
              <a:rPr lang="pt-BR" dirty="0"/>
              <a:t>(3) # criação de vetor com 3 elementos vazio</a:t>
            </a:r>
          </a:p>
          <a:p>
            <a:endParaRPr lang="pt-BR" dirty="0"/>
          </a:p>
          <a:p>
            <a:endParaRPr lang="pt-BR" dirty="0"/>
          </a:p>
          <a:p>
            <a:r>
              <a:rPr lang="pt-BR" sz="1800" b="1" dirty="0"/>
              <a:t> Soma de  Vetores</a:t>
            </a:r>
            <a:endParaRPr lang="pt-BR" dirty="0"/>
          </a:p>
          <a:p>
            <a:r>
              <a:rPr lang="pt-BR" dirty="0"/>
              <a:t>	</a:t>
            </a:r>
            <a:r>
              <a:rPr lang="pt-BR" dirty="0" err="1"/>
              <a:t>soma_vetores</a:t>
            </a:r>
            <a:r>
              <a:rPr lang="pt-BR" dirty="0"/>
              <a:t> = array1 </a:t>
            </a:r>
            <a:r>
              <a:rPr lang="pt-BR" sz="2400" b="1" dirty="0"/>
              <a:t>+ </a:t>
            </a:r>
            <a:r>
              <a:rPr lang="pt-BR" dirty="0"/>
              <a:t>array2  # Soma elemento a elemento (vetorização)</a:t>
            </a:r>
          </a:p>
          <a:p>
            <a:r>
              <a:rPr lang="pt-BR" dirty="0"/>
              <a:t>	print(</a:t>
            </a:r>
            <a:r>
              <a:rPr lang="pt-BR" dirty="0" err="1"/>
              <a:t>soma_vetores</a:t>
            </a:r>
            <a:r>
              <a:rPr lang="pt-BR" dirty="0"/>
              <a:t>)  # Saída: [5 7 9]</a:t>
            </a:r>
          </a:p>
          <a:p>
            <a:endParaRPr lang="pt-BR" dirty="0"/>
          </a:p>
          <a:p>
            <a:r>
              <a:rPr lang="pt-BR" sz="1800" b="1" dirty="0"/>
              <a:t>Produto de Vetores</a:t>
            </a:r>
            <a:endParaRPr lang="pt-BR" dirty="0"/>
          </a:p>
          <a:p>
            <a:r>
              <a:rPr lang="pt-BR" dirty="0"/>
              <a:t>	</a:t>
            </a:r>
            <a:r>
              <a:rPr lang="pt-BR" dirty="0" err="1"/>
              <a:t>produto_escalar</a:t>
            </a:r>
            <a:r>
              <a:rPr lang="pt-BR" dirty="0"/>
              <a:t> = np.</a:t>
            </a:r>
            <a:r>
              <a:rPr lang="pt-BR" sz="2400" b="1" dirty="0"/>
              <a:t>dot</a:t>
            </a:r>
            <a:r>
              <a:rPr lang="pt-BR" dirty="0"/>
              <a:t>(vetor1, vetor2)  # Produto escalar</a:t>
            </a:r>
          </a:p>
          <a:p>
            <a:r>
              <a:rPr lang="pt-BR" dirty="0"/>
              <a:t>	print(</a:t>
            </a:r>
            <a:r>
              <a:rPr lang="pt-BR" dirty="0" err="1"/>
              <a:t>produto_escalar</a:t>
            </a:r>
            <a:r>
              <a:rPr lang="pt-BR" dirty="0"/>
              <a:t>)  # Saída: 32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56F5931-04F9-612B-A7CD-A4A87054B46E}"/>
              </a:ext>
            </a:extLst>
          </p:cNvPr>
          <p:cNvSpPr txBox="1"/>
          <p:nvPr/>
        </p:nvSpPr>
        <p:spPr>
          <a:xfrm>
            <a:off x="155498" y="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OPERAÇÕES COM A NUMPY</a:t>
            </a:r>
            <a:endParaRPr lang="pt-BR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1078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CC57A-474F-0C54-6AE4-6ABB78F9D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9BEBA81-D82D-F152-01EF-E6A6FA64B6D2}"/>
              </a:ext>
            </a:extLst>
          </p:cNvPr>
          <p:cNvSpPr txBox="1"/>
          <p:nvPr/>
        </p:nvSpPr>
        <p:spPr>
          <a:xfrm>
            <a:off x="0" y="1225689"/>
            <a:ext cx="11172903" cy="56323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Soma dos elementos</a:t>
            </a:r>
          </a:p>
          <a:p>
            <a:r>
              <a:rPr lang="pt-BR" dirty="0"/>
              <a:t>soma = </a:t>
            </a:r>
            <a:r>
              <a:rPr lang="pt-BR" dirty="0" err="1"/>
              <a:t>np.sum</a:t>
            </a:r>
            <a:r>
              <a:rPr lang="pt-BR" dirty="0"/>
              <a:t>(v) print("Soma:", soma) # Saída: Soma: 24</a:t>
            </a:r>
          </a:p>
          <a:p>
            <a:endParaRPr lang="pt-BR" dirty="0"/>
          </a:p>
          <a:p>
            <a:r>
              <a:rPr lang="pt-BR" b="1" dirty="0"/>
              <a:t>Média dos elementos</a:t>
            </a:r>
          </a:p>
          <a:p>
            <a:r>
              <a:rPr lang="pt-BR" dirty="0"/>
              <a:t>media = </a:t>
            </a:r>
            <a:r>
              <a:rPr lang="pt-BR" dirty="0" err="1"/>
              <a:t>np.mean</a:t>
            </a:r>
            <a:r>
              <a:rPr lang="pt-BR" dirty="0"/>
              <a:t>(v) print("Média:", media) # Saída: Média: 4.8</a:t>
            </a:r>
          </a:p>
          <a:p>
            <a:endParaRPr lang="pt-BR" dirty="0"/>
          </a:p>
          <a:p>
            <a:r>
              <a:rPr lang="pt-BR" b="1" dirty="0"/>
              <a:t>Desvio padrão dos elementos</a:t>
            </a:r>
          </a:p>
          <a:p>
            <a:r>
              <a:rPr lang="pt-BR" dirty="0"/>
              <a:t>desvio = </a:t>
            </a:r>
            <a:r>
              <a:rPr lang="pt-BR" dirty="0" err="1"/>
              <a:t>np.std</a:t>
            </a:r>
            <a:r>
              <a:rPr lang="pt-BR" dirty="0"/>
              <a:t>(v) print("Desvio padrão:", desvio) # Saída: Desvio padrão: 2.581988897471611</a:t>
            </a:r>
          </a:p>
          <a:p>
            <a:endParaRPr lang="pt-BR" dirty="0"/>
          </a:p>
          <a:p>
            <a:r>
              <a:rPr lang="pt-BR" b="1" dirty="0"/>
              <a:t>Menor elemento</a:t>
            </a:r>
          </a:p>
          <a:p>
            <a:r>
              <a:rPr lang="pt-BR" dirty="0"/>
              <a:t>menor = </a:t>
            </a:r>
            <a:r>
              <a:rPr lang="pt-BR" dirty="0" err="1"/>
              <a:t>np.min</a:t>
            </a:r>
            <a:r>
              <a:rPr lang="pt-BR" dirty="0"/>
              <a:t>(v) print("Menor elemento:", menor) # Saída: Menor elemento: 1</a:t>
            </a:r>
          </a:p>
          <a:p>
            <a:endParaRPr lang="pt-BR" dirty="0"/>
          </a:p>
          <a:p>
            <a:r>
              <a:rPr lang="pt-BR" b="1" dirty="0"/>
              <a:t>Maior elemento</a:t>
            </a:r>
          </a:p>
          <a:p>
            <a:r>
              <a:rPr lang="pt-BR" dirty="0"/>
              <a:t>maior = </a:t>
            </a:r>
            <a:r>
              <a:rPr lang="pt-BR" dirty="0" err="1"/>
              <a:t>np.max</a:t>
            </a:r>
            <a:r>
              <a:rPr lang="pt-BR" dirty="0"/>
              <a:t>(v) print("Maior elemento:", maior) # Saída: Maior elemento: 9</a:t>
            </a:r>
          </a:p>
          <a:p>
            <a:endParaRPr lang="pt-BR" dirty="0"/>
          </a:p>
          <a:p>
            <a:r>
              <a:rPr lang="pt-BR" b="1" dirty="0"/>
              <a:t>Índice do menor elemento</a:t>
            </a:r>
          </a:p>
          <a:p>
            <a:r>
              <a:rPr lang="pt-BR" dirty="0" err="1"/>
              <a:t>idx_menor</a:t>
            </a:r>
            <a:r>
              <a:rPr lang="pt-BR" dirty="0"/>
              <a:t> = </a:t>
            </a:r>
            <a:r>
              <a:rPr lang="pt-BR" dirty="0" err="1"/>
              <a:t>np.argmin</a:t>
            </a:r>
            <a:r>
              <a:rPr lang="pt-BR" dirty="0"/>
              <a:t>(v) print("Índice do menor elemento:", </a:t>
            </a:r>
            <a:r>
              <a:rPr lang="pt-BR" dirty="0" err="1"/>
              <a:t>idx_menor</a:t>
            </a:r>
            <a:r>
              <a:rPr lang="pt-BR" dirty="0"/>
              <a:t>) # Saída: Índice do menor elemento: 2</a:t>
            </a:r>
          </a:p>
          <a:p>
            <a:endParaRPr lang="pt-BR" dirty="0"/>
          </a:p>
          <a:p>
            <a:r>
              <a:rPr lang="pt-BR" b="1" dirty="0"/>
              <a:t>Índice do maior elemento</a:t>
            </a:r>
          </a:p>
          <a:p>
            <a:r>
              <a:rPr lang="pt-BR" dirty="0" err="1"/>
              <a:t>idx_maior</a:t>
            </a:r>
            <a:r>
              <a:rPr lang="pt-BR" dirty="0"/>
              <a:t> = </a:t>
            </a:r>
            <a:r>
              <a:rPr lang="pt-BR" dirty="0" err="1"/>
              <a:t>np.argmax</a:t>
            </a:r>
            <a:r>
              <a:rPr lang="pt-BR" dirty="0"/>
              <a:t>(v) print("Índice do maior elemento:", </a:t>
            </a:r>
            <a:r>
              <a:rPr lang="pt-BR" dirty="0" err="1"/>
              <a:t>idx_maior</a:t>
            </a:r>
            <a:r>
              <a:rPr lang="pt-BR" dirty="0"/>
              <a:t>) # Saída: Índice do maior elemento: 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3E8E11A-E48C-7BA2-7E91-9F07D616607D}"/>
              </a:ext>
            </a:extLst>
          </p:cNvPr>
          <p:cNvSpPr txBox="1"/>
          <p:nvPr/>
        </p:nvSpPr>
        <p:spPr>
          <a:xfrm>
            <a:off x="155498" y="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OPERAÇÕES COM A NUMPY</a:t>
            </a:r>
            <a:endParaRPr lang="pt-BR" sz="2400" dirty="0">
              <a:solidFill>
                <a:srgbClr val="0070C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89F0F8E-175B-E11A-D535-34238DDB3CC2}"/>
              </a:ext>
            </a:extLst>
          </p:cNvPr>
          <p:cNvSpPr txBox="1"/>
          <p:nvPr/>
        </p:nvSpPr>
        <p:spPr>
          <a:xfrm>
            <a:off x="5344160" y="0"/>
            <a:ext cx="4612639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CONSIDERE :</a:t>
            </a:r>
          </a:p>
          <a:p>
            <a:r>
              <a:rPr lang="en-US" dirty="0"/>
              <a:t>	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	v = </a:t>
            </a:r>
            <a:r>
              <a:rPr lang="en-US" dirty="0" err="1"/>
              <a:t>np.array</a:t>
            </a:r>
            <a:r>
              <a:rPr lang="en-US" dirty="0"/>
              <a:t>([3, 7, 1, 9, 4])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42243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1152060-FA3E-E48E-3EE0-D20FAB98389D}"/>
              </a:ext>
            </a:extLst>
          </p:cNvPr>
          <p:cNvSpPr txBox="1"/>
          <p:nvPr/>
        </p:nvSpPr>
        <p:spPr>
          <a:xfrm>
            <a:off x="833120" y="5824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/>
              <a:t>Criando um Vetor de valores aleatórios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DC64AED-BD82-413C-A038-04C96C91E0E5}"/>
              </a:ext>
            </a:extLst>
          </p:cNvPr>
          <p:cNvSpPr txBox="1"/>
          <p:nvPr/>
        </p:nvSpPr>
        <p:spPr>
          <a:xfrm>
            <a:off x="1842589" y="1130920"/>
            <a:ext cx="5889172" cy="135421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600" dirty="0" err="1"/>
              <a:t>my_random_array</a:t>
            </a:r>
            <a:r>
              <a:rPr lang="pt-BR" sz="1600" dirty="0"/>
              <a:t> = </a:t>
            </a:r>
            <a:r>
              <a:rPr lang="pt-BR" sz="1600" dirty="0" err="1"/>
              <a:t>np.random.random</a:t>
            </a:r>
            <a:r>
              <a:rPr lang="pt-BR" sz="1600" dirty="0"/>
              <a:t>((5)) </a:t>
            </a:r>
          </a:p>
          <a:p>
            <a:r>
              <a:rPr lang="pt-BR" sz="1600" dirty="0" err="1"/>
              <a:t>print</a:t>
            </a:r>
            <a:r>
              <a:rPr lang="pt-BR" sz="1600" dirty="0"/>
              <a:t>(</a:t>
            </a:r>
            <a:r>
              <a:rPr lang="pt-BR" sz="1600" dirty="0" err="1"/>
              <a:t>my_random_array</a:t>
            </a:r>
            <a:r>
              <a:rPr lang="pt-BR" sz="1600" dirty="0"/>
              <a:t>)</a:t>
            </a:r>
          </a:p>
          <a:p>
            <a:endParaRPr lang="pt-BR" sz="1600" dirty="0"/>
          </a:p>
          <a:p>
            <a:endParaRPr lang="pt-BR" sz="1600" dirty="0"/>
          </a:p>
          <a:p>
            <a:r>
              <a:rPr lang="pt-BR" sz="1600" dirty="0"/>
              <a:t>[0.56023798 0.42068144 0.37365169 0.33484645 0.20465258]</a:t>
            </a:r>
          </a:p>
        </p:txBody>
      </p:sp>
    </p:spTree>
    <p:extLst>
      <p:ext uri="{BB962C8B-B14F-4D97-AF65-F5344CB8AC3E}">
        <p14:creationId xmlns:p14="http://schemas.microsoft.com/office/powerpoint/2010/main" val="37174935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1C473010-AD88-C3C2-4E11-D3BA09DBDF04}"/>
              </a:ext>
            </a:extLst>
          </p:cNvPr>
          <p:cNvSpPr txBox="1"/>
          <p:nvPr/>
        </p:nvSpPr>
        <p:spPr>
          <a:xfrm>
            <a:off x="228600" y="365760"/>
            <a:ext cx="11734800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000" b="1" dirty="0" err="1">
                <a:solidFill>
                  <a:srgbClr val="FF0000"/>
                </a:solidFill>
              </a:rPr>
              <a:t>Exercicicos</a:t>
            </a:r>
            <a:r>
              <a:rPr lang="pt-BR" sz="2000" b="1" dirty="0">
                <a:solidFill>
                  <a:srgbClr val="FF0000"/>
                </a:solidFill>
              </a:rPr>
              <a:t> 19</a:t>
            </a:r>
          </a:p>
          <a:p>
            <a:pPr lvl="0"/>
            <a:endParaRPr lang="pt-BR" dirty="0"/>
          </a:p>
          <a:p>
            <a:pPr marL="342900" lvl="0" indent="-342900">
              <a:buFont typeface="+mj-lt"/>
              <a:buAutoNum type="arabicPeriod"/>
            </a:pPr>
            <a:r>
              <a:rPr lang="pt-BR" sz="1600" dirty="0">
                <a:latin typeface="Abadi" panose="020B0604020104020204" pitchFamily="34" charset="0"/>
              </a:rPr>
              <a:t>Escreva um programa que gere um vetor aleatório de 15 inteiros entre 0 e 100 e imprima: vetor, soma dos elementos, média e desvio padrão (use </a:t>
            </a:r>
            <a:r>
              <a:rPr lang="pt-BR" sz="1600" dirty="0" err="1">
                <a:latin typeface="Abadi" panose="020B0604020104020204" pitchFamily="34" charset="0"/>
              </a:rPr>
              <a:t>np.sum</a:t>
            </a:r>
            <a:r>
              <a:rPr lang="pt-BR" sz="1600" dirty="0">
                <a:latin typeface="Abadi" panose="020B0604020104020204" pitchFamily="34" charset="0"/>
              </a:rPr>
              <a:t>, </a:t>
            </a:r>
            <a:r>
              <a:rPr lang="pt-BR" sz="1600" dirty="0" err="1">
                <a:latin typeface="Abadi" panose="020B0604020104020204" pitchFamily="34" charset="0"/>
              </a:rPr>
              <a:t>np.mean</a:t>
            </a:r>
            <a:r>
              <a:rPr lang="pt-BR" sz="1600" dirty="0">
                <a:latin typeface="Abadi" panose="020B0604020104020204" pitchFamily="34" charset="0"/>
              </a:rPr>
              <a:t>, </a:t>
            </a:r>
            <a:r>
              <a:rPr lang="pt-BR" sz="1600" dirty="0" err="1">
                <a:latin typeface="Abadi" panose="020B0604020104020204" pitchFamily="34" charset="0"/>
              </a:rPr>
              <a:t>np.std</a:t>
            </a:r>
            <a:r>
              <a:rPr lang="pt-BR" sz="1600" dirty="0">
                <a:latin typeface="Abadi" panose="020B0604020104020204" pitchFamily="34" charset="0"/>
              </a:rPr>
              <a:t>).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BR" sz="1600" dirty="0">
                <a:latin typeface="Abadi" panose="020B0604020104020204" pitchFamily="34" charset="0"/>
              </a:rPr>
              <a:t>Dado um vetor v = </a:t>
            </a:r>
            <a:r>
              <a:rPr lang="pt-BR" sz="1600" dirty="0" err="1">
                <a:latin typeface="Abadi" panose="020B0604020104020204" pitchFamily="34" charset="0"/>
              </a:rPr>
              <a:t>np.array</a:t>
            </a:r>
            <a:r>
              <a:rPr lang="pt-BR" sz="1600" dirty="0">
                <a:latin typeface="Abadi" panose="020B0604020104020204" pitchFamily="34" charset="0"/>
              </a:rPr>
              <a:t>([12, 5, 18, 5, 27, 12, 3]), escreva um programa que exiba o menor e o maior elemento e seus respectivos índices (</a:t>
            </a:r>
            <a:r>
              <a:rPr lang="pt-BR" sz="1600" dirty="0" err="1">
                <a:latin typeface="Abadi" panose="020B0604020104020204" pitchFamily="34" charset="0"/>
              </a:rPr>
              <a:t>np.min</a:t>
            </a:r>
            <a:r>
              <a:rPr lang="pt-BR" sz="1600" dirty="0">
                <a:latin typeface="Abadi" panose="020B0604020104020204" pitchFamily="34" charset="0"/>
              </a:rPr>
              <a:t>, </a:t>
            </a:r>
            <a:r>
              <a:rPr lang="pt-BR" sz="1600" dirty="0" err="1">
                <a:latin typeface="Abadi" panose="020B0604020104020204" pitchFamily="34" charset="0"/>
              </a:rPr>
              <a:t>np.max</a:t>
            </a:r>
            <a:r>
              <a:rPr lang="pt-BR" sz="1600" dirty="0">
                <a:latin typeface="Abadi" panose="020B0604020104020204" pitchFamily="34" charset="0"/>
              </a:rPr>
              <a:t>, </a:t>
            </a:r>
            <a:r>
              <a:rPr lang="pt-BR" sz="1600" dirty="0" err="1">
                <a:latin typeface="Abadi" panose="020B0604020104020204" pitchFamily="34" charset="0"/>
              </a:rPr>
              <a:t>np.argmin</a:t>
            </a:r>
            <a:r>
              <a:rPr lang="pt-BR" sz="1600" dirty="0">
                <a:latin typeface="Abadi" panose="020B0604020104020204" pitchFamily="34" charset="0"/>
              </a:rPr>
              <a:t>, </a:t>
            </a:r>
            <a:r>
              <a:rPr lang="pt-BR" sz="1600" dirty="0" err="1">
                <a:latin typeface="Abadi" panose="020B0604020104020204" pitchFamily="34" charset="0"/>
              </a:rPr>
              <a:t>np.argmax</a:t>
            </a:r>
            <a:r>
              <a:rPr lang="pt-BR" sz="1600" dirty="0">
                <a:latin typeface="Abadi" panose="020B0604020104020204" pitchFamily="34" charset="0"/>
              </a:rPr>
              <a:t>). Trate empates mostrando todos os índices quando houver valores repetidos.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BR" sz="1600" dirty="0">
                <a:latin typeface="Abadi" panose="020B0604020104020204" pitchFamily="34" charset="0"/>
              </a:rPr>
              <a:t>Crie um programa que leia 10 valores do usuário para formar um vetor </a:t>
            </a:r>
            <a:r>
              <a:rPr lang="pt-BR" sz="1600" dirty="0" err="1">
                <a:latin typeface="Abadi" panose="020B0604020104020204" pitchFamily="34" charset="0"/>
              </a:rPr>
              <a:t>numpy</a:t>
            </a:r>
            <a:r>
              <a:rPr lang="pt-BR" sz="1600" dirty="0">
                <a:latin typeface="Abadi" panose="020B0604020104020204" pitchFamily="34" charset="0"/>
              </a:rPr>
              <a:t>; em seguida imprima: soma cumulativa (</a:t>
            </a:r>
            <a:r>
              <a:rPr lang="pt-BR" sz="1600" dirty="0" err="1">
                <a:latin typeface="Abadi" panose="020B0604020104020204" pitchFamily="34" charset="0"/>
              </a:rPr>
              <a:t>np.cumsum</a:t>
            </a:r>
            <a:r>
              <a:rPr lang="pt-BR" sz="1600" dirty="0">
                <a:latin typeface="Abadi" panose="020B0604020104020204" pitchFamily="34" charset="0"/>
              </a:rPr>
              <a:t>), média móvel de janela 3 (use </a:t>
            </a:r>
            <a:r>
              <a:rPr lang="pt-BR" sz="1600" dirty="0" err="1">
                <a:latin typeface="Abadi" panose="020B0604020104020204" pitchFamily="34" charset="0"/>
              </a:rPr>
              <a:t>slicing</a:t>
            </a:r>
            <a:r>
              <a:rPr lang="pt-BR" sz="1600" dirty="0">
                <a:latin typeface="Abadi" panose="020B0604020104020204" pitchFamily="34" charset="0"/>
              </a:rPr>
              <a:t>/</a:t>
            </a:r>
            <a:r>
              <a:rPr lang="pt-BR" sz="1600" dirty="0" err="1">
                <a:latin typeface="Abadi" panose="020B0604020104020204" pitchFamily="34" charset="0"/>
              </a:rPr>
              <a:t>np.convolve</a:t>
            </a:r>
            <a:r>
              <a:rPr lang="pt-BR" sz="1600" dirty="0">
                <a:latin typeface="Abadi" panose="020B0604020104020204" pitchFamily="34" charset="0"/>
              </a:rPr>
              <a:t> ou técnicas </a:t>
            </a:r>
            <a:r>
              <a:rPr lang="pt-BR" sz="1600" dirty="0" err="1">
                <a:latin typeface="Abadi" panose="020B0604020104020204" pitchFamily="34" charset="0"/>
              </a:rPr>
              <a:t>numpy</a:t>
            </a:r>
            <a:r>
              <a:rPr lang="pt-BR" sz="1600" dirty="0">
                <a:latin typeface="Abadi" panose="020B0604020104020204" pitchFamily="34" charset="0"/>
              </a:rPr>
              <a:t>), e os índices dos elementos abaixo da média do vetor.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BR" sz="1600" dirty="0">
                <a:latin typeface="Abadi" panose="020B0604020104020204" pitchFamily="34" charset="0"/>
              </a:rPr>
              <a:t>Gere um vetor com 20 valores uniformemente distribuídos entre -5 e 5 (</a:t>
            </a:r>
            <a:r>
              <a:rPr lang="pt-BR" sz="1600" dirty="0" err="1">
                <a:latin typeface="Abadi" panose="020B0604020104020204" pitchFamily="34" charset="0"/>
              </a:rPr>
              <a:t>np.linspace</a:t>
            </a:r>
            <a:r>
              <a:rPr lang="pt-BR" sz="1600" dirty="0">
                <a:latin typeface="Abadi" panose="020B0604020104020204" pitchFamily="34" charset="0"/>
              </a:rPr>
              <a:t> ou </a:t>
            </a:r>
            <a:r>
              <a:rPr lang="pt-BR" sz="1600" dirty="0" err="1">
                <a:latin typeface="Abadi" panose="020B0604020104020204" pitchFamily="34" charset="0"/>
              </a:rPr>
              <a:t>np.random.uniform</a:t>
            </a:r>
            <a:r>
              <a:rPr lang="pt-BR" sz="1600" dirty="0">
                <a:latin typeface="Abadi" panose="020B0604020104020204" pitchFamily="34" charset="0"/>
              </a:rPr>
              <a:t>). Calcule quantos valores são negativos, zero e positivos (use </a:t>
            </a:r>
            <a:r>
              <a:rPr lang="pt-BR" sz="1600" dirty="0" err="1">
                <a:latin typeface="Abadi" panose="020B0604020104020204" pitchFamily="34" charset="0"/>
              </a:rPr>
              <a:t>boolean</a:t>
            </a:r>
            <a:r>
              <a:rPr lang="pt-BR" sz="1600" dirty="0">
                <a:latin typeface="Abadi" panose="020B0604020104020204" pitchFamily="34" charset="0"/>
              </a:rPr>
              <a:t> </a:t>
            </a:r>
            <a:r>
              <a:rPr lang="pt-BR" sz="1600" dirty="0" err="1">
                <a:latin typeface="Abadi" panose="020B0604020104020204" pitchFamily="34" charset="0"/>
              </a:rPr>
              <a:t>indexing</a:t>
            </a:r>
            <a:r>
              <a:rPr lang="pt-BR" sz="1600" dirty="0">
                <a:latin typeface="Abadi" panose="020B0604020104020204" pitchFamily="34" charset="0"/>
              </a:rPr>
              <a:t> e </a:t>
            </a:r>
            <a:r>
              <a:rPr lang="pt-BR" sz="1600" dirty="0" err="1">
                <a:latin typeface="Abadi" panose="020B0604020104020204" pitchFamily="34" charset="0"/>
              </a:rPr>
              <a:t>np.sum</a:t>
            </a:r>
            <a:r>
              <a:rPr lang="pt-BR" sz="1600" dirty="0">
                <a:latin typeface="Abadi" panose="020B0604020104020204" pitchFamily="34" charset="0"/>
              </a:rPr>
              <a:t>).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BR" sz="1600" dirty="0">
                <a:latin typeface="Abadi" panose="020B0604020104020204" pitchFamily="34" charset="0"/>
              </a:rPr>
              <a:t>Escreva um programa que receba um vetor de </a:t>
            </a:r>
            <a:r>
              <a:rPr lang="pt-BR" sz="1600" dirty="0" err="1">
                <a:latin typeface="Abadi" panose="020B0604020104020204" pitchFamily="34" charset="0"/>
              </a:rPr>
              <a:t>floats</a:t>
            </a:r>
            <a:r>
              <a:rPr lang="pt-BR" sz="1600" dirty="0">
                <a:latin typeface="Abadi" panose="020B0604020104020204" pitchFamily="34" charset="0"/>
              </a:rPr>
              <a:t> e normalize seus valores para o intervalo [0,1] usando min-</a:t>
            </a:r>
            <a:r>
              <a:rPr lang="pt-BR" sz="1600" dirty="0" err="1">
                <a:latin typeface="Abadi" panose="020B0604020104020204" pitchFamily="34" charset="0"/>
              </a:rPr>
              <a:t>max</a:t>
            </a:r>
            <a:r>
              <a:rPr lang="pt-BR" sz="1600" dirty="0">
                <a:latin typeface="Abadi" panose="020B0604020104020204" pitchFamily="34" charset="0"/>
              </a:rPr>
              <a:t> </a:t>
            </a:r>
            <a:r>
              <a:rPr lang="pt-BR" sz="1600" dirty="0" err="1">
                <a:latin typeface="Abadi" panose="020B0604020104020204" pitchFamily="34" charset="0"/>
              </a:rPr>
              <a:t>scaling</a:t>
            </a:r>
            <a:r>
              <a:rPr lang="pt-BR" sz="1600" dirty="0">
                <a:latin typeface="Abadi" panose="020B0604020104020204" pitchFamily="34" charset="0"/>
              </a:rPr>
              <a:t>: (v - </a:t>
            </a:r>
            <a:r>
              <a:rPr lang="pt-BR" sz="1600" dirty="0" err="1">
                <a:latin typeface="Abadi" panose="020B0604020104020204" pitchFamily="34" charset="0"/>
              </a:rPr>
              <a:t>v.min</a:t>
            </a:r>
            <a:r>
              <a:rPr lang="pt-BR" sz="1600" dirty="0">
                <a:latin typeface="Abadi" panose="020B0604020104020204" pitchFamily="34" charset="0"/>
              </a:rPr>
              <a:t>())/(</a:t>
            </a:r>
            <a:r>
              <a:rPr lang="pt-BR" sz="1600" dirty="0" err="1">
                <a:latin typeface="Abadi" panose="020B0604020104020204" pitchFamily="34" charset="0"/>
              </a:rPr>
              <a:t>v.max</a:t>
            </a:r>
            <a:r>
              <a:rPr lang="pt-BR" sz="1600" dirty="0">
                <a:latin typeface="Abadi" panose="020B0604020104020204" pitchFamily="34" charset="0"/>
              </a:rPr>
              <a:t>() - </a:t>
            </a:r>
            <a:r>
              <a:rPr lang="pt-BR" sz="1600" dirty="0" err="1">
                <a:latin typeface="Abadi" panose="020B0604020104020204" pitchFamily="34" charset="0"/>
              </a:rPr>
              <a:t>v.min</a:t>
            </a:r>
            <a:r>
              <a:rPr lang="pt-BR" sz="1600" dirty="0">
                <a:latin typeface="Abadi" panose="020B0604020104020204" pitchFamily="34" charset="0"/>
              </a:rPr>
              <a:t>()). Mostre o vetor original, min, </a:t>
            </a:r>
            <a:r>
              <a:rPr lang="pt-BR" sz="1600" dirty="0" err="1">
                <a:latin typeface="Abadi" panose="020B0604020104020204" pitchFamily="34" charset="0"/>
              </a:rPr>
              <a:t>max</a:t>
            </a:r>
            <a:r>
              <a:rPr lang="pt-BR" sz="1600" dirty="0">
                <a:latin typeface="Abadi" panose="020B0604020104020204" pitchFamily="34" charset="0"/>
              </a:rPr>
              <a:t> e o vetor normalizado.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BR" sz="1600" dirty="0">
                <a:latin typeface="Abadi" panose="020B0604020104020204" pitchFamily="34" charset="0"/>
              </a:rPr>
              <a:t>Crie um vetor com valores inteiros e implemente uma função que substitua os k maiores valores por sua média (k recebido do usuário). Mostre o vetor antes e depois; use </a:t>
            </a:r>
            <a:r>
              <a:rPr lang="pt-BR" sz="1600" dirty="0" err="1">
                <a:latin typeface="Abadi" panose="020B0604020104020204" pitchFamily="34" charset="0"/>
              </a:rPr>
              <a:t>np.argpartition</a:t>
            </a:r>
            <a:r>
              <a:rPr lang="pt-BR" sz="1600" dirty="0">
                <a:latin typeface="Abadi" panose="020B0604020104020204" pitchFamily="34" charset="0"/>
              </a:rPr>
              <a:t> ou </a:t>
            </a:r>
            <a:r>
              <a:rPr lang="pt-BR" sz="1600" dirty="0" err="1">
                <a:latin typeface="Abadi" panose="020B0604020104020204" pitchFamily="34" charset="0"/>
              </a:rPr>
              <a:t>np.argsort</a:t>
            </a:r>
            <a:r>
              <a:rPr lang="pt-BR" sz="1600" dirty="0">
                <a:latin typeface="Abadi" panose="020B0604020104020204" pitchFamily="34" charset="0"/>
              </a:rPr>
              <a:t> para encontrar índices.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BR" sz="1600" dirty="0">
                <a:latin typeface="Abadi" panose="020B0604020104020204" pitchFamily="34" charset="0"/>
              </a:rPr>
              <a:t>Dado um vetor de temperaturas diárias (</a:t>
            </a:r>
            <a:r>
              <a:rPr lang="pt-BR" sz="1600" dirty="0" err="1">
                <a:latin typeface="Abadi" panose="020B0604020104020204" pitchFamily="34" charset="0"/>
              </a:rPr>
              <a:t>array</a:t>
            </a:r>
            <a:r>
              <a:rPr lang="pt-BR" sz="1600" dirty="0">
                <a:latin typeface="Abadi" panose="020B0604020104020204" pitchFamily="34" charset="0"/>
              </a:rPr>
              <a:t> de 365 elementos), escreva um programa que calcule: temperatura média anual, dia da maior temperatura, número de dias acima da média e desvio padrão mensal (considere meses de 30 dias ou adapte com </a:t>
            </a:r>
            <a:r>
              <a:rPr lang="pt-BR" sz="1600" dirty="0" err="1">
                <a:latin typeface="Abadi" panose="020B0604020104020204" pitchFamily="34" charset="0"/>
              </a:rPr>
              <a:t>reshape</a:t>
            </a:r>
            <a:r>
              <a:rPr lang="pt-BR" sz="1600" dirty="0">
                <a:latin typeface="Abadi" panose="020B0604020104020204" pitchFamily="34" charset="0"/>
              </a:rPr>
              <a:t>).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BR" sz="1600" dirty="0">
                <a:latin typeface="Abadi" panose="020B0604020104020204" pitchFamily="34" charset="0"/>
              </a:rPr>
              <a:t>Escreva um programa que combine dois vetores de mesmo tamanho em um só vetor intercalando elementos (ex.: a=[a1,a2,...], b=[b1,b2,...] → [a1,b1,a2,b2,...]). Em seguida, calcule soma e média do vetor resultante.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BR" sz="1600" dirty="0">
                <a:latin typeface="Abadi" panose="020B0604020104020204" pitchFamily="34" charset="0"/>
              </a:rPr>
              <a:t>Crie um vetor com valores repetidos. Escreva um programa que gere um vetor de contagens de ocorrência de cada elemento único (use </a:t>
            </a:r>
            <a:r>
              <a:rPr lang="pt-BR" sz="1600" dirty="0" err="1">
                <a:latin typeface="Abadi" panose="020B0604020104020204" pitchFamily="34" charset="0"/>
              </a:rPr>
              <a:t>np.unique</a:t>
            </a:r>
            <a:r>
              <a:rPr lang="pt-BR" sz="1600" dirty="0">
                <a:latin typeface="Abadi" panose="020B0604020104020204" pitchFamily="34" charset="0"/>
              </a:rPr>
              <a:t>(</a:t>
            </a:r>
            <a:r>
              <a:rPr lang="pt-BR" sz="1600" dirty="0" err="1">
                <a:latin typeface="Abadi" panose="020B0604020104020204" pitchFamily="34" charset="0"/>
              </a:rPr>
              <a:t>return_counts</a:t>
            </a:r>
            <a:r>
              <a:rPr lang="pt-BR" sz="1600" dirty="0">
                <a:latin typeface="Abadi" panose="020B0604020104020204" pitchFamily="34" charset="0"/>
              </a:rPr>
              <a:t>=</a:t>
            </a:r>
            <a:r>
              <a:rPr lang="pt-BR" sz="1600" dirty="0" err="1">
                <a:latin typeface="Abadi" panose="020B0604020104020204" pitchFamily="34" charset="0"/>
              </a:rPr>
              <a:t>True</a:t>
            </a:r>
            <a:r>
              <a:rPr lang="pt-BR" sz="1600" dirty="0">
                <a:latin typeface="Abadi" panose="020B0604020104020204" pitchFamily="34" charset="0"/>
              </a:rPr>
              <a:t>)) e imprime o elemento mais frequente e sua frequência.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BR" sz="1600" dirty="0">
                <a:latin typeface="Abadi" panose="020B0604020104020204" pitchFamily="34" charset="0"/>
              </a:rPr>
              <a:t>Dado um vetor de pontos de dados (</a:t>
            </a:r>
            <a:r>
              <a:rPr lang="pt-BR" sz="1600" dirty="0" err="1">
                <a:latin typeface="Abadi" panose="020B0604020104020204" pitchFamily="34" charset="0"/>
              </a:rPr>
              <a:t>float</a:t>
            </a:r>
            <a:r>
              <a:rPr lang="pt-BR" sz="1600" dirty="0">
                <a:latin typeface="Abadi" panose="020B0604020104020204" pitchFamily="34" charset="0"/>
              </a:rPr>
              <a:t>), escreva um programa que detecte e remova outliers definidos como valores que estão a mais de 2 desvios-padrão da média. Imprima número de outliers removidos, vetor limpo e nova média e desvio padrão.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3458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774081" y="887779"/>
            <a:ext cx="10530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accent1">
                    <a:lumMod val="50000"/>
                  </a:schemeClr>
                </a:solidFill>
              </a:rPr>
              <a:t>Matriz (vetor bidimensional)</a:t>
            </a:r>
            <a:endParaRPr lang="pt-BR" sz="3200" b="1" dirty="0">
              <a:solidFill>
                <a:srgbClr val="FF0000"/>
              </a:solidFill>
            </a:endParaRPr>
          </a:p>
        </p:txBody>
      </p:sp>
      <p:graphicFrame>
        <p:nvGraphicFramePr>
          <p:cNvPr id="7" name="Objeto 6"/>
          <p:cNvGraphicFramePr>
            <a:graphicFrameLocks noChangeAspect="1"/>
          </p:cNvGraphicFramePr>
          <p:nvPr/>
        </p:nvGraphicFramePr>
        <p:xfrm>
          <a:off x="415615" y="2320120"/>
          <a:ext cx="11001375" cy="4075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lanilha" r:id="rId2" imgW="11001230" imgH="2524121" progId="Excel.Sheet.12">
                  <p:embed/>
                </p:oleObj>
              </mc:Choice>
              <mc:Fallback>
                <p:oleObj name="Planilha" r:id="rId2" imgW="11001230" imgH="2524121" progId="Excel.Sheet.12">
                  <p:embed/>
                  <p:pic>
                    <p:nvPicPr>
                      <p:cNvPr id="7" name="Objeto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5615" y="2320120"/>
                        <a:ext cx="11001375" cy="40753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47978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3CA32-CF01-CA6F-E860-DC3686C13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14E0086-3B91-B750-61F3-EB55509A0FA9}"/>
              </a:ext>
            </a:extLst>
          </p:cNvPr>
          <p:cNvSpPr txBox="1"/>
          <p:nvPr/>
        </p:nvSpPr>
        <p:spPr>
          <a:xfrm>
            <a:off x="108626" y="194553"/>
            <a:ext cx="11780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Criando Matrizes </a:t>
            </a:r>
            <a:r>
              <a:rPr lang="pt-BR" sz="2400" b="1" dirty="0">
                <a:solidFill>
                  <a:srgbClr val="FF0000"/>
                </a:solidFill>
              </a:rPr>
              <a:t>-</a:t>
            </a:r>
            <a:r>
              <a:rPr lang="pt-BR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pt-BR" sz="2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np.array</a:t>
            </a:r>
            <a:r>
              <a:rPr lang="pt-BR" dirty="0">
                <a:solidFill>
                  <a:srgbClr val="FF0000"/>
                </a:solidFill>
              </a:rPr>
              <a:t>	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27A80A-CCAA-E843-7CCA-D8EDB33A5E5D}"/>
              </a:ext>
            </a:extLst>
          </p:cNvPr>
          <p:cNvSpPr txBox="1"/>
          <p:nvPr/>
        </p:nvSpPr>
        <p:spPr>
          <a:xfrm>
            <a:off x="853999" y="810106"/>
            <a:ext cx="55955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Exemplo: </a:t>
            </a:r>
            <a:r>
              <a:rPr lang="pt-BR" sz="2000" dirty="0"/>
              <a:t>Criar a matriz A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4C4E045-59A7-F8C5-C734-0FE529898CF2}"/>
              </a:ext>
            </a:extLst>
          </p:cNvPr>
          <p:cNvSpPr txBox="1"/>
          <p:nvPr/>
        </p:nvSpPr>
        <p:spPr>
          <a:xfrm>
            <a:off x="6449581" y="4187019"/>
            <a:ext cx="2694896" cy="224676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import </a:t>
            </a:r>
            <a:r>
              <a:rPr lang="en-US" b="1" dirty="0" err="1"/>
              <a:t>numpy</a:t>
            </a:r>
            <a:r>
              <a:rPr lang="en-US" b="1" dirty="0"/>
              <a:t> as np </a:t>
            </a:r>
          </a:p>
          <a:p>
            <a:r>
              <a:rPr lang="pt-BR" b="1" dirty="0"/>
              <a:t>v = </a:t>
            </a:r>
            <a:r>
              <a:rPr lang="pt-BR" sz="2000" b="1" dirty="0" err="1">
                <a:solidFill>
                  <a:srgbClr val="0070C0"/>
                </a:solidFill>
              </a:rPr>
              <a:t>np.array</a:t>
            </a:r>
            <a:r>
              <a:rPr lang="pt-BR" b="1" dirty="0"/>
              <a:t>([1,2,3,4])</a:t>
            </a:r>
          </a:p>
          <a:p>
            <a:r>
              <a:rPr lang="pt-BR" b="1" dirty="0" err="1"/>
              <a:t>v.</a:t>
            </a:r>
            <a:r>
              <a:rPr lang="pt-BR" sz="2400" b="1" dirty="0" err="1">
                <a:solidFill>
                  <a:srgbClr val="0070C0"/>
                </a:solidFill>
              </a:rPr>
              <a:t>s</a:t>
            </a:r>
            <a:r>
              <a:rPr lang="pt-BR" sz="2000" b="1" dirty="0" err="1">
                <a:solidFill>
                  <a:srgbClr val="0070C0"/>
                </a:solidFill>
              </a:rPr>
              <a:t>hape</a:t>
            </a:r>
            <a:r>
              <a:rPr lang="pt-BR" b="1" dirty="0"/>
              <a:t> = (2,2)</a:t>
            </a:r>
          </a:p>
          <a:p>
            <a:r>
              <a:rPr lang="pt-BR" b="1" dirty="0" err="1"/>
              <a:t>print</a:t>
            </a:r>
            <a:r>
              <a:rPr lang="pt-BR" b="1" dirty="0"/>
              <a:t>(v)</a:t>
            </a:r>
          </a:p>
          <a:p>
            <a:br>
              <a:rPr lang="pt-BR" sz="1200" dirty="0"/>
            </a:br>
            <a:r>
              <a:rPr lang="pt" b="1" dirty="0"/>
              <a:t>[[1 2]</a:t>
            </a:r>
          </a:p>
          <a:p>
            <a:r>
              <a:rPr lang="pt" b="1" dirty="0"/>
              <a:t> [3 4]]</a:t>
            </a:r>
          </a:p>
          <a:p>
            <a:endParaRPr lang="pt-BR" sz="1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935FA7A-EADE-7AC0-4140-C0D40097CD5B}"/>
              </a:ext>
            </a:extLst>
          </p:cNvPr>
          <p:cNvSpPr txBox="1"/>
          <p:nvPr/>
        </p:nvSpPr>
        <p:spPr>
          <a:xfrm>
            <a:off x="5549620" y="1858800"/>
            <a:ext cx="4718250" cy="107721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import </a:t>
            </a:r>
            <a:r>
              <a:rPr lang="en-US" sz="2000" b="1" dirty="0" err="1"/>
              <a:t>numpy</a:t>
            </a:r>
            <a:r>
              <a:rPr lang="en-US" sz="2000" b="1" dirty="0"/>
              <a:t> as np  </a:t>
            </a:r>
          </a:p>
          <a:p>
            <a:r>
              <a:rPr lang="en-US" sz="2000" b="1" dirty="0"/>
              <a:t>A = </a:t>
            </a:r>
            <a:r>
              <a:rPr lang="en-US" sz="2400" b="1" dirty="0" err="1">
                <a:solidFill>
                  <a:srgbClr val="0070C0"/>
                </a:solidFill>
              </a:rPr>
              <a:t>np.array</a:t>
            </a:r>
            <a:r>
              <a:rPr lang="en-US" sz="2000" b="1" dirty="0"/>
              <a:t>([[1,2,3],[4,5,6]])  </a:t>
            </a:r>
          </a:p>
          <a:p>
            <a:r>
              <a:rPr lang="en-US" sz="2000" b="1" dirty="0"/>
              <a:t>print(A)  </a:t>
            </a:r>
            <a:endParaRPr lang="pt-BR" sz="2000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B9C1A95-0D8C-5EB5-6FC0-C7C4CE4E1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43" y="1450066"/>
            <a:ext cx="3190401" cy="163410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5F6BE81-E2C7-0D82-6DD1-9C2BA0CEEAE6}"/>
              </a:ext>
            </a:extLst>
          </p:cNvPr>
          <p:cNvSpPr txBox="1"/>
          <p:nvPr/>
        </p:nvSpPr>
        <p:spPr>
          <a:xfrm>
            <a:off x="853998" y="4910293"/>
            <a:ext cx="55955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Outra forma de Criar a matriz A 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3E7A1DBD-F5A9-9272-512A-12389BEACB0A}"/>
              </a:ext>
            </a:extLst>
          </p:cNvPr>
          <p:cNvCxnSpPr/>
          <p:nvPr/>
        </p:nvCxnSpPr>
        <p:spPr>
          <a:xfrm>
            <a:off x="4826000" y="5110348"/>
            <a:ext cx="1270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E0F1A77-9BFE-DBD8-3998-00485A30C310}"/>
              </a:ext>
            </a:extLst>
          </p:cNvPr>
          <p:cNvSpPr txBox="1"/>
          <p:nvPr/>
        </p:nvSpPr>
        <p:spPr>
          <a:xfrm>
            <a:off x="353581" y="557201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reshape</a:t>
            </a:r>
            <a:r>
              <a:rPr lang="pt-B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formatará o vetor com o número de elementos em cada dimensão mantendo inalterado o seu número total de elementos. </a:t>
            </a:r>
          </a:p>
        </p:txBody>
      </p:sp>
    </p:spTree>
    <p:extLst>
      <p:ext uri="{BB962C8B-B14F-4D97-AF65-F5344CB8AC3E}">
        <p14:creationId xmlns:p14="http://schemas.microsoft.com/office/powerpoint/2010/main" val="42937613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30BE7-53B0-9193-4DB5-711C9E5E2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23CA487-BF9B-086E-F32A-7700AFC5206B}"/>
              </a:ext>
            </a:extLst>
          </p:cNvPr>
          <p:cNvSpPr txBox="1"/>
          <p:nvPr/>
        </p:nvSpPr>
        <p:spPr>
          <a:xfrm>
            <a:off x="94842" y="71685"/>
            <a:ext cx="1178019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Criando  Matrizes (</a:t>
            </a:r>
            <a:r>
              <a:rPr lang="pt-BR" sz="2400" b="1" dirty="0" err="1">
                <a:solidFill>
                  <a:schemeClr val="accent1">
                    <a:lumMod val="75000"/>
                  </a:schemeClr>
                </a:solidFill>
              </a:rPr>
              <a:t>cont</a:t>
            </a:r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  <a:p>
            <a:endParaRPr lang="pt-BR" dirty="0"/>
          </a:p>
          <a:p>
            <a:r>
              <a:rPr lang="pt-BR" dirty="0"/>
              <a:t>	</a:t>
            </a: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Criando Matrizes Específicas</a:t>
            </a:r>
          </a:p>
          <a:p>
            <a:r>
              <a:rPr lang="pt-BR" dirty="0"/>
              <a:t>		</a:t>
            </a:r>
          </a:p>
          <a:p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	      Exemplos:</a:t>
            </a:r>
          </a:p>
          <a:p>
            <a:r>
              <a:rPr lang="pt-BR" dirty="0"/>
              <a:t>		# </a:t>
            </a:r>
            <a:r>
              <a:rPr lang="pt-BR" b="1" dirty="0">
                <a:solidFill>
                  <a:srgbClr val="FF0000"/>
                </a:solidFill>
              </a:rPr>
              <a:t>Matriz de zeros 2x3</a:t>
            </a:r>
          </a:p>
          <a:p>
            <a:r>
              <a:rPr lang="pt-BR" dirty="0"/>
              <a:t>		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226C88C-E390-F06A-640A-5EB89233E776}"/>
              </a:ext>
            </a:extLst>
          </p:cNvPr>
          <p:cNvSpPr txBox="1"/>
          <p:nvPr/>
        </p:nvSpPr>
        <p:spPr>
          <a:xfrm>
            <a:off x="1023835" y="4662658"/>
            <a:ext cx="609437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	# </a:t>
            </a:r>
            <a:r>
              <a:rPr lang="pt-BR" b="1" dirty="0">
                <a:solidFill>
                  <a:srgbClr val="FF0000"/>
                </a:solidFill>
              </a:rPr>
              <a:t>Matriz identidade 3x3</a:t>
            </a:r>
          </a:p>
          <a:p>
            <a:r>
              <a:rPr lang="pt-BR" dirty="0"/>
              <a:t>	</a:t>
            </a:r>
          </a:p>
          <a:p>
            <a:r>
              <a:rPr lang="pt-BR" dirty="0"/>
              <a:t>	identidade = </a:t>
            </a:r>
            <a:r>
              <a:rPr lang="pt-BR" sz="2800" b="1" dirty="0" err="1">
                <a:solidFill>
                  <a:schemeClr val="accent1">
                    <a:lumMod val="75000"/>
                  </a:schemeClr>
                </a:solidFill>
              </a:rPr>
              <a:t>np.eye</a:t>
            </a:r>
            <a:r>
              <a:rPr lang="pt-BR" dirty="0"/>
              <a:t>(3)</a:t>
            </a:r>
          </a:p>
          <a:p>
            <a:r>
              <a:rPr lang="pt-BR" dirty="0"/>
              <a:t>	print("Matriz identidade:\n", identidade)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087758E-BF1D-537E-D883-8A6295D24628}"/>
              </a:ext>
            </a:extLst>
          </p:cNvPr>
          <p:cNvSpPr txBox="1"/>
          <p:nvPr/>
        </p:nvSpPr>
        <p:spPr>
          <a:xfrm>
            <a:off x="1969851" y="2195342"/>
            <a:ext cx="2679971" cy="212365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V = </a:t>
            </a:r>
            <a:r>
              <a:rPr lang="pt-BR" sz="2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np.zeros</a:t>
            </a: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((3,3))</a:t>
            </a:r>
          </a:p>
          <a:p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print('V = \n', V)</a:t>
            </a:r>
          </a:p>
          <a:p>
            <a:endParaRPr lang="pt-B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V = </a:t>
            </a:r>
          </a:p>
          <a:p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 [[0. 0. 0.]</a:t>
            </a:r>
          </a:p>
          <a:p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 [0. 0. 0.]</a:t>
            </a:r>
          </a:p>
          <a:p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 [0. 0. 0.]]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AC70595-7780-EF1D-0074-47F633558F02}"/>
              </a:ext>
            </a:extLst>
          </p:cNvPr>
          <p:cNvSpPr txBox="1"/>
          <p:nvPr/>
        </p:nvSpPr>
        <p:spPr>
          <a:xfrm>
            <a:off x="204715" y="6180117"/>
            <a:ext cx="12519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rgbClr val="4D5156"/>
                </a:solidFill>
                <a:latin typeface="arial" panose="020B0604020202020204" pitchFamily="34" charset="0"/>
              </a:rPr>
              <a:t>(*) M</a:t>
            </a:r>
            <a:r>
              <a:rPr lang="pt-BR" sz="1800" b="1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atriz identidade é uma matriz diagonal, cujos elementos da diagonal principal são todos iguais a 1. </a:t>
            </a:r>
            <a:endParaRPr lang="pt-BR" sz="1800" b="1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0070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901331" y="515566"/>
            <a:ext cx="1072322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As funções </a:t>
            </a:r>
            <a:r>
              <a:rPr lang="pt-BR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ones</a:t>
            </a: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</a:t>
            </a: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são muito convenientes para a criação de matrizes especificas:</a:t>
            </a:r>
          </a:p>
          <a:p>
            <a:endParaRPr lang="pt-B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1C52420-C067-8ED7-CA2D-9D18DCD30A21}"/>
              </a:ext>
            </a:extLst>
          </p:cNvPr>
          <p:cNvSpPr txBox="1"/>
          <p:nvPr/>
        </p:nvSpPr>
        <p:spPr>
          <a:xfrm>
            <a:off x="1009243" y="1290990"/>
            <a:ext cx="5726094" cy="267765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endParaRPr lang="pt-B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U = </a:t>
            </a:r>
            <a:r>
              <a:rPr lang="pt-BR" sz="24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np.ones</a:t>
            </a: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((3,3))  </a:t>
            </a:r>
            <a:r>
              <a:rPr lang="pt-BR" sz="1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Matrizes com 1´s</a:t>
            </a:r>
          </a:p>
          <a:p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print('U = \n', U)</a:t>
            </a:r>
          </a:p>
          <a:p>
            <a:endParaRPr lang="pt-B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U = </a:t>
            </a:r>
          </a:p>
          <a:p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 [[1. 1. 1.]</a:t>
            </a:r>
          </a:p>
          <a:p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 [1. 1. 1.]</a:t>
            </a:r>
          </a:p>
          <a:p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 [1. 1. 1.]]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C3F47EC-82E2-B457-DABE-3EC4E49F6FD9}"/>
              </a:ext>
            </a:extLst>
          </p:cNvPr>
          <p:cNvSpPr txBox="1"/>
          <p:nvPr/>
        </p:nvSpPr>
        <p:spPr>
          <a:xfrm>
            <a:off x="1009242" y="4210642"/>
            <a:ext cx="9321531" cy="212365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D = </a:t>
            </a:r>
            <a:r>
              <a:rPr lang="pt-BR" sz="24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np.diag</a:t>
            </a: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([10, 10, 10]) </a:t>
            </a:r>
            <a:r>
              <a:rPr lang="pt-BR" sz="1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Matrizes com determinados números na diagonal </a:t>
            </a:r>
          </a:p>
          <a:p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print('D = \n', D)</a:t>
            </a:r>
          </a:p>
          <a:p>
            <a:endParaRPr lang="pt-B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D = </a:t>
            </a:r>
          </a:p>
          <a:p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 [[10  0  0]</a:t>
            </a:r>
          </a:p>
          <a:p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 [ 0 10  0]</a:t>
            </a:r>
          </a:p>
          <a:p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 [ 0  0 10]]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2A0A5BD-725A-946A-38A4-6FEFD213C412}"/>
              </a:ext>
            </a:extLst>
          </p:cNvPr>
          <p:cNvSpPr txBox="1"/>
          <p:nvPr/>
        </p:nvSpPr>
        <p:spPr>
          <a:xfrm>
            <a:off x="166941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accent1">
                    <a:lumMod val="75000"/>
                  </a:schemeClr>
                </a:solidFill>
              </a:rPr>
              <a:t>Criando  Matrizes (</a:t>
            </a:r>
            <a:r>
              <a:rPr lang="pt-BR" sz="1800" b="1" dirty="0" err="1">
                <a:solidFill>
                  <a:schemeClr val="accent1">
                    <a:lumMod val="75000"/>
                  </a:schemeClr>
                </a:solidFill>
              </a:rPr>
              <a:t>cont</a:t>
            </a:r>
            <a:r>
              <a:rPr lang="pt-BR" sz="1800" b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905307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A23EB-1711-D7F0-5AA2-80D70E175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20124BAA-6E85-510D-C70E-FC0C8CFEE481}"/>
              </a:ext>
            </a:extLst>
          </p:cNvPr>
          <p:cNvSpPr txBox="1"/>
          <p:nvPr/>
        </p:nvSpPr>
        <p:spPr>
          <a:xfrm>
            <a:off x="252565" y="64596"/>
            <a:ext cx="967659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chemeClr val="accent1">
                    <a:lumMod val="75000"/>
                  </a:schemeClr>
                </a:solidFill>
              </a:rPr>
              <a:t>Acessando dados de uma Matriz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3"/>
            <a:r>
              <a:rPr lang="pt-BR" dirty="0"/>
              <a:t>nome da matriz [</a:t>
            </a:r>
            <a:r>
              <a:rPr lang="pt-BR" dirty="0" err="1"/>
              <a:t>ind</a:t>
            </a:r>
            <a:r>
              <a:rPr lang="pt-BR" dirty="0"/>
              <a:t> linha][</a:t>
            </a:r>
            <a:r>
              <a:rPr lang="pt-BR" dirty="0" err="1"/>
              <a:t>ind</a:t>
            </a:r>
            <a:r>
              <a:rPr lang="pt-BR" dirty="0"/>
              <a:t> coluna]   -     Onde:  </a:t>
            </a:r>
            <a:r>
              <a:rPr lang="pt-BR" dirty="0" err="1"/>
              <a:t>ind</a:t>
            </a:r>
            <a:r>
              <a:rPr lang="pt-BR" dirty="0"/>
              <a:t> linha  e </a:t>
            </a:r>
            <a:r>
              <a:rPr lang="pt-BR" dirty="0" err="1"/>
              <a:t>ind</a:t>
            </a:r>
            <a:r>
              <a:rPr lang="pt-BR" dirty="0"/>
              <a:t> coluna são índices inteiros 						especificando a linha e a coluna  a serem acessadas.</a:t>
            </a:r>
          </a:p>
          <a:p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7AE4B06-B3FA-63EE-2393-CF75A7170CFC}"/>
              </a:ext>
            </a:extLst>
          </p:cNvPr>
          <p:cNvSpPr txBox="1"/>
          <p:nvPr/>
        </p:nvSpPr>
        <p:spPr>
          <a:xfrm>
            <a:off x="323685" y="1526534"/>
            <a:ext cx="106453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Exemplo: </a:t>
            </a:r>
            <a:r>
              <a:rPr lang="pt-BR" dirty="0"/>
              <a:t>Criar uma matriz 10 × 20 inicializada com 0s, e depois e </a:t>
            </a:r>
            <a:r>
              <a:rPr lang="pt-BR" dirty="0" err="1"/>
              <a:t>atribuır</a:t>
            </a:r>
            <a:r>
              <a:rPr lang="pt-BR" dirty="0"/>
              <a:t> o valor 67 para a posição (5, 13) dela.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8F4FD5B-148D-AA4F-E28E-60AF1DE00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85" y="2018204"/>
            <a:ext cx="10340502" cy="1681730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sp>
        <p:nvSpPr>
          <p:cNvPr id="6" name="CaixaDeTexto 5"/>
          <p:cNvSpPr txBox="1"/>
          <p:nvPr/>
        </p:nvSpPr>
        <p:spPr>
          <a:xfrm>
            <a:off x="323685" y="3906520"/>
            <a:ext cx="840426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Exemplo: </a:t>
            </a:r>
            <a:endParaRPr lang="pt-BR" b="1" dirty="0">
              <a:solidFill>
                <a:srgbClr val="FF0000"/>
              </a:solidFill>
            </a:endParaRPr>
          </a:p>
          <a:p>
            <a:r>
              <a:rPr lang="pt-BR" dirty="0"/>
              <a:t>		# Imprimir o elemento da posição (0,0) da matriz identidade (*)</a:t>
            </a:r>
          </a:p>
          <a:p>
            <a:r>
              <a:rPr lang="pt-BR" dirty="0"/>
              <a:t>		a=</a:t>
            </a:r>
            <a:r>
              <a:rPr lang="pt-BR" sz="2000" b="1" dirty="0" err="1">
                <a:solidFill>
                  <a:schemeClr val="accent1">
                    <a:lumMod val="75000"/>
                  </a:schemeClr>
                </a:solidFill>
              </a:rPr>
              <a:t>np.eye</a:t>
            </a:r>
            <a:r>
              <a:rPr lang="pt-BR" dirty="0"/>
              <a:t>(3,4)</a:t>
            </a:r>
          </a:p>
          <a:p>
            <a:r>
              <a:rPr lang="pt-BR" dirty="0"/>
              <a:t>		print(a[0,0]) # </a:t>
            </a:r>
            <a:r>
              <a:rPr lang="pt" dirty="0"/>
              <a:t>1.0</a:t>
            </a:r>
            <a:r>
              <a:rPr lang="pt-BR" sz="2800" b="1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endParaRPr lang="pt-BR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EA08414-16AC-27A4-00C7-8D9F867D839D}"/>
              </a:ext>
            </a:extLst>
          </p:cNvPr>
          <p:cNvSpPr txBox="1"/>
          <p:nvPr/>
        </p:nvSpPr>
        <p:spPr>
          <a:xfrm>
            <a:off x="323685" y="59976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 err="1">
                <a:solidFill>
                  <a:srgbClr val="FF0000"/>
                </a:solidFill>
              </a:rPr>
              <a:t>Obs</a:t>
            </a:r>
            <a:r>
              <a:rPr lang="pt-BR" sz="1800" b="1" dirty="0">
                <a:solidFill>
                  <a:srgbClr val="FF0000"/>
                </a:solidFill>
              </a:rPr>
              <a:t>: Acessar posição inválida (3, 3) da matriz a :</a:t>
            </a:r>
            <a:endParaRPr lang="pt-BR" dirty="0">
              <a:solidFill>
                <a:srgbClr val="FF0000"/>
              </a:solidFill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010" y="4627297"/>
            <a:ext cx="5857875" cy="210502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579488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BDF1-AE4C-9A0B-490D-5E9A9F45F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25E4EFE-4E4F-E8D2-2E4D-902F5F221D14}"/>
              </a:ext>
            </a:extLst>
          </p:cNvPr>
          <p:cNvSpPr txBox="1"/>
          <p:nvPr/>
        </p:nvSpPr>
        <p:spPr>
          <a:xfrm>
            <a:off x="205902" y="0"/>
            <a:ext cx="1178019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Operações Matemáticas com Matrizes - </a:t>
            </a:r>
            <a:r>
              <a:rPr lang="pt-BR" dirty="0"/>
              <a:t>A </a:t>
            </a:r>
            <a:r>
              <a:rPr lang="pt-BR" dirty="0" err="1"/>
              <a:t>NumPy</a:t>
            </a:r>
            <a:r>
              <a:rPr lang="pt-BR" dirty="0"/>
              <a:t> permite realizar operações matemáticas entre vetores e matrizes com alta performance.</a:t>
            </a:r>
          </a:p>
          <a:p>
            <a:endParaRPr lang="pt-BR" dirty="0"/>
          </a:p>
          <a:p>
            <a:r>
              <a:rPr lang="pt-BR" dirty="0"/>
              <a:t>	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4663F89-225A-DCA0-7EFD-BFCD1DD4A31C}"/>
              </a:ext>
            </a:extLst>
          </p:cNvPr>
          <p:cNvSpPr txBox="1"/>
          <p:nvPr/>
        </p:nvSpPr>
        <p:spPr>
          <a:xfrm>
            <a:off x="340360" y="987995"/>
            <a:ext cx="4912360" cy="5870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numpy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as 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np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= 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np.array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([[1, 2], [3, 4]])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 = 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np.array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([[5, 6], [7, 8]])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Soma</a:t>
            </a:r>
            <a:endParaRPr lang="pt-BR" sz="1800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C = A + B 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print("A + B =\n", C)      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pt-BR" sz="1800" b="1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Subtração (</a:t>
            </a:r>
            <a:r>
              <a:rPr lang="pt-BR" sz="1800" b="1" kern="100" dirty="0" err="1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element-wise</a:t>
            </a:r>
            <a:r>
              <a:rPr lang="pt-BR" sz="18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pt-BR" sz="1800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D = A - B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print("A - B =\n", D)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pt-BR" sz="1800" b="1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Multiplicação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E = A * B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print("A * B (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element-wise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=\n", E)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85CE943-5E31-61B4-2CA0-DB7E9E577ABF}"/>
              </a:ext>
            </a:extLst>
          </p:cNvPr>
          <p:cNvSpPr txBox="1"/>
          <p:nvPr/>
        </p:nvSpPr>
        <p:spPr>
          <a:xfrm>
            <a:off x="6096000" y="3174095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A + B = [[ 6 8] [10 12]]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endParaRPr lang="pt-BR" dirty="0"/>
          </a:p>
          <a:p>
            <a:pPr>
              <a:buNone/>
            </a:pPr>
            <a:endParaRPr lang="pt-BR" dirty="0"/>
          </a:p>
          <a:p>
            <a:pPr>
              <a:buNone/>
            </a:pPr>
            <a:endParaRPr lang="pt-BR" dirty="0"/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dirty="0"/>
              <a:t>A - B = [[-4 -4] [-4 -4]]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endParaRPr lang="pt-BR" dirty="0"/>
          </a:p>
          <a:p>
            <a:pPr>
              <a:buNone/>
            </a:pPr>
            <a:endParaRPr lang="pt-BR" dirty="0"/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dirty="0"/>
              <a:t>A * B (</a:t>
            </a:r>
            <a:r>
              <a:rPr lang="pt-BR" dirty="0" err="1"/>
              <a:t>element-wise</a:t>
            </a:r>
            <a:r>
              <a:rPr lang="pt-BR" dirty="0"/>
              <a:t>) = [[ 5 12] [21 32]]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4F3D67A6-4BAA-4B15-721F-F9A263B90481}"/>
              </a:ext>
            </a:extLst>
          </p:cNvPr>
          <p:cNvCxnSpPr/>
          <p:nvPr/>
        </p:nvCxnSpPr>
        <p:spPr>
          <a:xfrm>
            <a:off x="3586480" y="3174095"/>
            <a:ext cx="2306320" cy="107585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203B5053-39F2-1360-0A5B-E28DB0C43E2D}"/>
              </a:ext>
            </a:extLst>
          </p:cNvPr>
          <p:cNvCxnSpPr/>
          <p:nvPr/>
        </p:nvCxnSpPr>
        <p:spPr>
          <a:xfrm>
            <a:off x="3515360" y="4908462"/>
            <a:ext cx="2306320" cy="107585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E74B72E0-F235-F7F0-A381-5EA192E1916A}"/>
              </a:ext>
            </a:extLst>
          </p:cNvPr>
          <p:cNvCxnSpPr>
            <a:cxnSpLocks/>
          </p:cNvCxnSpPr>
          <p:nvPr/>
        </p:nvCxnSpPr>
        <p:spPr>
          <a:xfrm flipV="1">
            <a:off x="4736938" y="6553101"/>
            <a:ext cx="1300480" cy="179455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8856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F6883F4-931C-FE15-1E1F-B814D4F77B6B}"/>
              </a:ext>
            </a:extLst>
          </p:cNvPr>
          <p:cNvSpPr txBox="1"/>
          <p:nvPr/>
        </p:nvSpPr>
        <p:spPr>
          <a:xfrm>
            <a:off x="467360" y="1121333"/>
            <a:ext cx="10982960" cy="5027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 numpy as np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= np.array([[1, 2], [3, 4]]) B = np.array([[5, 6], [7, 8]])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pt-BR" sz="1800" b="1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b="1" kern="10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Divisão</a:t>
            </a:r>
            <a:endParaRPr lang="pt-BR" sz="1800" kern="100">
              <a:solidFill>
                <a:srgbClr val="FF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15000"/>
              </a:lnSpc>
              <a:spcAft>
                <a:spcPts val="800"/>
              </a:spcAft>
            </a:pPr>
            <a:r>
              <a:rPr lang="pt-BR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 = A / B </a:t>
            </a:r>
          </a:p>
          <a:p>
            <a:pPr lvl="2">
              <a:lnSpc>
                <a:spcPct val="115000"/>
              </a:lnSpc>
              <a:spcAft>
                <a:spcPts val="800"/>
              </a:spcAft>
            </a:pPr>
            <a:r>
              <a:rPr lang="pt-BR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print("A / B (element-wise) =\n", F)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pt-BR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b="1" kern="10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Potência</a:t>
            </a:r>
            <a:endParaRPr lang="pt-BR" sz="1800" kern="100">
              <a:solidFill>
                <a:srgbClr val="FF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15000"/>
              </a:lnSpc>
              <a:spcAft>
                <a:spcPts val="800"/>
              </a:spcAft>
            </a:pPr>
            <a:r>
              <a:rPr lang="pt-BR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 = A ** 2 </a:t>
            </a:r>
          </a:p>
          <a:p>
            <a:pPr lvl="2">
              <a:lnSpc>
                <a:spcPct val="115000"/>
              </a:lnSpc>
              <a:spcAft>
                <a:spcPts val="800"/>
              </a:spcAft>
            </a:pPr>
            <a:r>
              <a:rPr lang="pt-BR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print("A ** 2 =\n", G)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pt-BR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6D73FD33-3952-5FC4-1B54-E06EA20FFDAA}"/>
              </a:ext>
            </a:extLst>
          </p:cNvPr>
          <p:cNvCxnSpPr/>
          <p:nvPr/>
        </p:nvCxnSpPr>
        <p:spPr>
          <a:xfrm>
            <a:off x="4942840" y="3194415"/>
            <a:ext cx="2306320" cy="107585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47BAA408-0870-C85F-DE1D-1C9DBD8F3BB4}"/>
              </a:ext>
            </a:extLst>
          </p:cNvPr>
          <p:cNvCxnSpPr/>
          <p:nvPr/>
        </p:nvCxnSpPr>
        <p:spPr>
          <a:xfrm>
            <a:off x="3997960" y="5104495"/>
            <a:ext cx="2306320" cy="107585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2DA4A184-5824-DDC6-7A3F-0B44BD9D16E1}"/>
              </a:ext>
            </a:extLst>
          </p:cNvPr>
          <p:cNvSpPr txBox="1"/>
          <p:nvPr/>
        </p:nvSpPr>
        <p:spPr>
          <a:xfrm>
            <a:off x="7396480" y="3302000"/>
            <a:ext cx="41554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[[0.2 0.33333333] [0.42857143 0.5 ]]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endParaRPr lang="pt-BR" dirty="0"/>
          </a:p>
          <a:p>
            <a:pPr>
              <a:buNone/>
            </a:pPr>
            <a:endParaRPr lang="pt-BR" dirty="0"/>
          </a:p>
          <a:p>
            <a:pPr>
              <a:buNone/>
            </a:pPr>
            <a:endParaRPr lang="pt-BR" dirty="0"/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dirty="0"/>
              <a:t>[[ 1 4] [ 9 16]]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45D0143-BD3A-A3AE-7815-AC5578E0C166}"/>
              </a:ext>
            </a:extLst>
          </p:cNvPr>
          <p:cNvSpPr txBox="1"/>
          <p:nvPr/>
        </p:nvSpPr>
        <p:spPr>
          <a:xfrm>
            <a:off x="294640" y="33961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Operações Matemáticas com Matrizes (</a:t>
            </a:r>
            <a:r>
              <a:rPr lang="pt-BR" sz="2400" b="1" dirty="0" err="1">
                <a:solidFill>
                  <a:schemeClr val="accent1">
                    <a:lumMod val="75000"/>
                  </a:schemeClr>
                </a:solidFill>
              </a:rPr>
              <a:t>cont</a:t>
            </a:r>
            <a:r>
              <a:rPr lang="pt-BR" sz="2400" b="1" dirty="0">
                <a:solidFill>
                  <a:schemeClr val="accent1">
                    <a:lumMod val="75000"/>
                  </a:schemeClr>
                </a:solidFill>
              </a:rPr>
              <a:t>) 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7788191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2336CA-3841-ED3C-4D51-8CBF723EA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102" y="218638"/>
            <a:ext cx="1146891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Cálculo de Estatísticas Básicas: Média, Desvio Padrão, Máximo e Mínimo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Para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calcular estatísticas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como média, desvio padrão, valor máximo e valor mínimo dos elementos de uma matriz,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numpy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fornece métodos diretos</a:t>
            </a:r>
            <a:r>
              <a:rPr kumimoji="0" lang="pt-BR" altLang="pt-B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D3795D-9F28-4C10-F92C-AA5AEC155888}"/>
              </a:ext>
            </a:extLst>
          </p:cNvPr>
          <p:cNvSpPr txBox="1"/>
          <p:nvPr/>
        </p:nvSpPr>
        <p:spPr>
          <a:xfrm>
            <a:off x="440987" y="1542077"/>
            <a:ext cx="6447493" cy="5078313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r>
              <a:rPr lang="pt-BR" dirty="0"/>
              <a:t># Criando uma matriz 3x3</a:t>
            </a:r>
          </a:p>
          <a:p>
            <a:r>
              <a:rPr lang="pt-BR" dirty="0"/>
              <a:t>matriz = </a:t>
            </a:r>
            <a:r>
              <a:rPr lang="pt-BR" b="1" dirty="0" err="1">
                <a:solidFill>
                  <a:srgbClr val="FF0000"/>
                </a:solidFill>
              </a:rPr>
              <a:t>np.array</a:t>
            </a:r>
            <a:r>
              <a:rPr lang="pt-BR" b="1" dirty="0">
                <a:solidFill>
                  <a:srgbClr val="FF0000"/>
                </a:solidFill>
              </a:rPr>
              <a:t>([[</a:t>
            </a:r>
            <a:r>
              <a:rPr lang="pt-BR" dirty="0"/>
              <a:t>10, 20, 30], [40, 50, 60], [70, 80, 90]])</a:t>
            </a:r>
          </a:p>
          <a:p>
            <a:endParaRPr lang="pt-BR" dirty="0"/>
          </a:p>
          <a:p>
            <a:r>
              <a:rPr lang="pt-BR" dirty="0"/>
              <a:t># Média dos elementos</a:t>
            </a:r>
          </a:p>
          <a:p>
            <a:r>
              <a:rPr lang="pt-BR" dirty="0"/>
              <a:t>media = </a:t>
            </a:r>
            <a:r>
              <a:rPr lang="pt-BR" dirty="0" err="1">
                <a:solidFill>
                  <a:srgbClr val="FF0000"/>
                </a:solidFill>
              </a:rPr>
              <a:t>np.mean</a:t>
            </a:r>
            <a:r>
              <a:rPr lang="pt-BR" dirty="0">
                <a:solidFill>
                  <a:srgbClr val="FF0000"/>
                </a:solidFill>
              </a:rPr>
              <a:t>(</a:t>
            </a:r>
            <a:r>
              <a:rPr lang="pt-BR" dirty="0"/>
              <a:t>matriz)</a:t>
            </a:r>
          </a:p>
          <a:p>
            <a:r>
              <a:rPr lang="pt-BR" dirty="0"/>
              <a:t>print("Média dos elementos da matriz:", media)</a:t>
            </a:r>
          </a:p>
          <a:p>
            <a:endParaRPr lang="pt-BR" dirty="0"/>
          </a:p>
          <a:p>
            <a:r>
              <a:rPr lang="pt-BR" dirty="0"/>
              <a:t># Desvio padrão dos elementos</a:t>
            </a:r>
          </a:p>
          <a:p>
            <a:r>
              <a:rPr lang="pt-BR" dirty="0" err="1"/>
              <a:t>desvio_padrao</a:t>
            </a:r>
            <a:r>
              <a:rPr lang="pt-BR" dirty="0"/>
              <a:t> = </a:t>
            </a:r>
            <a:r>
              <a:rPr lang="pt-BR" b="1" dirty="0" err="1">
                <a:solidFill>
                  <a:srgbClr val="FF0000"/>
                </a:solidFill>
              </a:rPr>
              <a:t>np.std</a:t>
            </a:r>
            <a:r>
              <a:rPr lang="pt-BR" dirty="0"/>
              <a:t>(matriz)</a:t>
            </a:r>
          </a:p>
          <a:p>
            <a:r>
              <a:rPr lang="pt-BR" dirty="0"/>
              <a:t>print("Desvio padrão dos elementos da matriz:", </a:t>
            </a:r>
            <a:r>
              <a:rPr lang="pt-BR" dirty="0" err="1"/>
              <a:t>desvio_padrao</a:t>
            </a:r>
            <a:r>
              <a:rPr lang="pt-BR" dirty="0"/>
              <a:t>)</a:t>
            </a:r>
          </a:p>
          <a:p>
            <a:endParaRPr lang="pt-BR" dirty="0"/>
          </a:p>
          <a:p>
            <a:r>
              <a:rPr lang="pt-BR" dirty="0"/>
              <a:t># Valor máximo</a:t>
            </a:r>
          </a:p>
          <a:p>
            <a:r>
              <a:rPr lang="pt-BR" dirty="0" err="1"/>
              <a:t>maximo</a:t>
            </a:r>
            <a:r>
              <a:rPr lang="pt-BR" dirty="0"/>
              <a:t> = </a:t>
            </a:r>
            <a:r>
              <a:rPr lang="pt-BR" dirty="0" err="1">
                <a:solidFill>
                  <a:srgbClr val="FF0000"/>
                </a:solidFill>
              </a:rPr>
              <a:t>np.max</a:t>
            </a:r>
            <a:r>
              <a:rPr lang="pt-BR" dirty="0"/>
              <a:t>(matriz)</a:t>
            </a:r>
          </a:p>
          <a:p>
            <a:r>
              <a:rPr lang="pt-BR" dirty="0"/>
              <a:t>print("Valor máximo da matriz:", </a:t>
            </a:r>
            <a:r>
              <a:rPr lang="pt-BR" dirty="0" err="1"/>
              <a:t>maximo</a:t>
            </a:r>
            <a:r>
              <a:rPr lang="pt-BR" dirty="0"/>
              <a:t>)</a:t>
            </a:r>
          </a:p>
          <a:p>
            <a:endParaRPr lang="pt-BR" dirty="0"/>
          </a:p>
          <a:p>
            <a:r>
              <a:rPr lang="pt-BR" dirty="0"/>
              <a:t># Valor mínimo</a:t>
            </a:r>
          </a:p>
          <a:p>
            <a:r>
              <a:rPr lang="pt-BR" dirty="0" err="1"/>
              <a:t>minimo</a:t>
            </a:r>
            <a:r>
              <a:rPr lang="pt-BR" dirty="0"/>
              <a:t> = </a:t>
            </a:r>
            <a:r>
              <a:rPr lang="pt-BR" dirty="0" err="1">
                <a:solidFill>
                  <a:srgbClr val="FF0000"/>
                </a:solidFill>
              </a:rPr>
              <a:t>np.min</a:t>
            </a:r>
            <a:r>
              <a:rPr lang="pt-BR" dirty="0"/>
              <a:t>(matriz)</a:t>
            </a:r>
          </a:p>
          <a:p>
            <a:r>
              <a:rPr lang="pt-BR" dirty="0"/>
              <a:t>print("Valor mínimo da matriz:", </a:t>
            </a:r>
            <a:r>
              <a:rPr lang="pt-BR" dirty="0" err="1"/>
              <a:t>minimo</a:t>
            </a:r>
            <a:r>
              <a:rPr lang="pt-BR" dirty="0"/>
              <a:t>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40C6CBD-DD3A-B368-3568-76FAA988C1A8}"/>
              </a:ext>
            </a:extLst>
          </p:cNvPr>
          <p:cNvSpPr txBox="1"/>
          <p:nvPr/>
        </p:nvSpPr>
        <p:spPr>
          <a:xfrm>
            <a:off x="5909445" y="3164681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Média dos elementos da matriz: 50.0 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Desvio padrão dos elementos da matriz: 23.57022603955158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 Valor máximo da matriz: 90 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Valor mínimo da matriz: 10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DFD86472-E8CA-6C5C-F1E8-69F2468C3171}"/>
              </a:ext>
            </a:extLst>
          </p:cNvPr>
          <p:cNvCxnSpPr>
            <a:cxnSpLocks/>
          </p:cNvCxnSpPr>
          <p:nvPr/>
        </p:nvCxnSpPr>
        <p:spPr>
          <a:xfrm>
            <a:off x="4836160" y="3296840"/>
            <a:ext cx="944880" cy="13216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4B34F3E0-648C-821E-C290-A8E09D5702F1}"/>
              </a:ext>
            </a:extLst>
          </p:cNvPr>
          <p:cNvCxnSpPr>
            <a:cxnSpLocks/>
          </p:cNvCxnSpPr>
          <p:nvPr/>
        </p:nvCxnSpPr>
        <p:spPr>
          <a:xfrm>
            <a:off x="4836160" y="5183763"/>
            <a:ext cx="944880" cy="13216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FACAA120-9134-1931-AE27-CDBC127715D3}"/>
              </a:ext>
            </a:extLst>
          </p:cNvPr>
          <p:cNvCxnSpPr>
            <a:cxnSpLocks/>
          </p:cNvCxnSpPr>
          <p:nvPr/>
        </p:nvCxnSpPr>
        <p:spPr>
          <a:xfrm>
            <a:off x="4964565" y="4394120"/>
            <a:ext cx="944880" cy="13216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0AB7A36C-EEE3-853E-D6AE-A3BBF23EF8F7}"/>
              </a:ext>
            </a:extLst>
          </p:cNvPr>
          <p:cNvCxnSpPr>
            <a:cxnSpLocks/>
          </p:cNvCxnSpPr>
          <p:nvPr/>
        </p:nvCxnSpPr>
        <p:spPr>
          <a:xfrm>
            <a:off x="4766445" y="6415960"/>
            <a:ext cx="944880" cy="13216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8211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5783431" y="0"/>
            <a:ext cx="6342773" cy="69100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b.max</a:t>
            </a:r>
            <a:r>
              <a:rPr lang="pt-BR" sz="1600" i="1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 – retorna o 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maior 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elemento existente em “b”</a:t>
            </a:r>
          </a:p>
          <a:p>
            <a:pPr>
              <a:lnSpc>
                <a:spcPct val="200000"/>
              </a:lnSpc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b.max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()     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6</a:t>
            </a: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pt-BR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b.min</a:t>
            </a:r>
            <a:r>
              <a:rPr lang="pt-BR" sz="1600" i="1" dirty="0">
                <a:latin typeface="Arial" panose="020B0604020202020204" pitchFamily="34" charset="0"/>
                <a:cs typeface="Arial" panose="020B0604020202020204" pitchFamily="34" charset="0"/>
              </a:rPr>
              <a:t>() 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– retorna o 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menor 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elemento existente em “b”</a:t>
            </a:r>
          </a:p>
          <a:p>
            <a:pPr>
              <a:lnSpc>
                <a:spcPct val="200000"/>
              </a:lnSpc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b.min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1</a:t>
            </a: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b.sum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() – retorna a 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soma 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de todos os elementos existentes em “b”</a:t>
            </a:r>
          </a:p>
          <a:p>
            <a:pPr>
              <a:lnSpc>
                <a:spcPct val="200000"/>
              </a:lnSpc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b.sum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21</a:t>
            </a:r>
          </a:p>
          <a:p>
            <a:pPr>
              <a:lnSpc>
                <a:spcPct val="200000"/>
              </a:lnSpc>
            </a:pPr>
            <a:r>
              <a:rPr lang="pt-BR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b.prod</a:t>
            </a:r>
            <a:r>
              <a:rPr lang="pt-BR" sz="1600" i="1" dirty="0">
                <a:latin typeface="Arial" panose="020B0604020202020204" pitchFamily="34" charset="0"/>
                <a:cs typeface="Arial" panose="020B0604020202020204" pitchFamily="34" charset="0"/>
              </a:rPr>
              <a:t>() 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– retorna a 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multiplicação 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de todos os elementos existentes em “b”</a:t>
            </a:r>
          </a:p>
          <a:p>
            <a:pPr>
              <a:lnSpc>
                <a:spcPct val="200000"/>
              </a:lnSpc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b.prod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720</a:t>
            </a:r>
          </a:p>
          <a:p>
            <a:pPr>
              <a:lnSpc>
                <a:spcPct val="200000"/>
              </a:lnSpc>
            </a:pPr>
            <a:r>
              <a:rPr lang="pt-BR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b.mean</a:t>
            </a:r>
            <a:r>
              <a:rPr lang="pt-BR" sz="1600" i="1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 – retorna a 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média 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dos elementos existentes em “b”</a:t>
            </a:r>
          </a:p>
          <a:p>
            <a:pPr>
              <a:lnSpc>
                <a:spcPct val="200000"/>
              </a:lnSpc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b.prod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3.5</a:t>
            </a:r>
          </a:p>
          <a:p>
            <a:pPr>
              <a:lnSpc>
                <a:spcPct val="200000"/>
              </a:lnSpc>
            </a:pPr>
            <a:r>
              <a:rPr lang="pt-BR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b.std</a:t>
            </a:r>
            <a:r>
              <a:rPr lang="pt-BR" sz="1600" i="1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 – retorna o 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desvio padrão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 dos elementos existentes em “b”</a:t>
            </a:r>
          </a:p>
          <a:p>
            <a:endParaRPr lang="pt-BR" sz="1600" dirty="0"/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b.std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1.70785....</a:t>
            </a:r>
          </a:p>
          <a:p>
            <a:pPr>
              <a:lnSpc>
                <a:spcPct val="200000"/>
              </a:lnSpc>
            </a:pP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565559" y="2379008"/>
            <a:ext cx="3850023" cy="112094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Dado que b é a matriz       </a:t>
            </a:r>
            <a:r>
              <a:rPr lang="pt-BR" b="1" dirty="0"/>
              <a:t>[1 2 3]</a:t>
            </a:r>
            <a:br>
              <a:rPr lang="pt-BR" b="1" dirty="0"/>
            </a:br>
            <a:r>
              <a:rPr lang="pt-BR" b="1" dirty="0"/>
              <a:t>			 [4 5 6]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B0A50BB-9FCA-D130-CB87-9882DBE34F4A}"/>
              </a:ext>
            </a:extLst>
          </p:cNvPr>
          <p:cNvSpPr txBox="1"/>
          <p:nvPr/>
        </p:nvSpPr>
        <p:spPr>
          <a:xfrm>
            <a:off x="274805" y="203688"/>
            <a:ext cx="463766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</a:rPr>
              <a:t>Outras Funções da Biblioteca NUMPY(</a:t>
            </a:r>
            <a:r>
              <a:rPr lang="pt-BR" sz="3200" b="1" dirty="0" err="1">
                <a:solidFill>
                  <a:srgbClr val="002060"/>
                </a:solidFill>
              </a:rPr>
              <a:t>cont</a:t>
            </a:r>
            <a:r>
              <a:rPr lang="pt-BR" sz="3200" b="1" dirty="0">
                <a:solidFill>
                  <a:srgbClr val="00206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533104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102468" y="447995"/>
            <a:ext cx="8926749" cy="60631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- Criando uma matriz   com 0s</a:t>
            </a:r>
            <a:endParaRPr lang="pt-BR" sz="2800" dirty="0">
              <a:solidFill>
                <a:srgbClr val="FF0000"/>
              </a:solidFill>
            </a:endParaRPr>
          </a:p>
          <a:p>
            <a:r>
              <a:rPr lang="pt-BR" sz="2000" dirty="0"/>
              <a:t>	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 = [ [ 0 f o r j i n r a n g e ( n ) ] f o r i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n r a n g e ( n ) ]</a:t>
            </a:r>
          </a:p>
          <a:p>
            <a:endParaRPr lang="pt-BR" sz="3600" dirty="0">
              <a:solidFill>
                <a:schemeClr val="accent1"/>
              </a:solidFill>
            </a:endParaRPr>
          </a:p>
          <a:p>
            <a:r>
              <a:rPr lang="pt-BR" sz="2400" b="1" dirty="0">
                <a:solidFill>
                  <a:srgbClr val="FF0000"/>
                </a:solidFill>
              </a:rPr>
              <a:t>- Lendo dados do teclado</a:t>
            </a:r>
          </a:p>
          <a:p>
            <a:endParaRPr lang="pt-BR" sz="2800" b="1" dirty="0"/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lematriz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		for i in range (n) :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for j in range (n) :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m[i][j]=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float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(input(’Dado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(%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d,%d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) : ’%(i, j)))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m</a:t>
            </a:r>
          </a:p>
          <a:p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b="1" dirty="0">
                <a:solidFill>
                  <a:srgbClr val="FF0000"/>
                </a:solidFill>
              </a:rPr>
              <a:t>- Imprimindo dados de uma matriz n × n.</a:t>
            </a:r>
          </a:p>
          <a:p>
            <a:endParaRPr lang="pt-BR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2"/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imprimeMatriz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(m) :</a:t>
            </a:r>
          </a:p>
          <a:p>
            <a:pPr lvl="2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	n=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(m)</a:t>
            </a:r>
          </a:p>
          <a:p>
            <a:pPr lvl="2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	for i in range(n) :</a:t>
            </a:r>
          </a:p>
          <a:p>
            <a:pPr lvl="2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		for j in range( n ) :</a:t>
            </a:r>
          </a:p>
          <a:p>
            <a:pPr lvl="2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(’%.2 f’ %m[i] [j] ,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=’ ’ )</a:t>
            </a:r>
          </a:p>
          <a:p>
            <a:pPr lvl="2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 r i n t ( )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F514FA0-BB06-FD3C-04E8-1EB66BD36C01}"/>
              </a:ext>
            </a:extLst>
          </p:cNvPr>
          <p:cNvSpPr txBox="1"/>
          <p:nvPr/>
        </p:nvSpPr>
        <p:spPr>
          <a:xfrm>
            <a:off x="295701" y="-136780"/>
            <a:ext cx="86800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0070C0"/>
                </a:solidFill>
              </a:rPr>
              <a:t>Uso de Comandos For para Matrizes</a:t>
            </a:r>
          </a:p>
        </p:txBody>
      </p:sp>
    </p:spTree>
    <p:extLst>
      <p:ext uri="{BB962C8B-B14F-4D97-AF65-F5344CB8AC3E}">
        <p14:creationId xmlns:p14="http://schemas.microsoft.com/office/powerpoint/2010/main" val="40931708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50125" y="0"/>
            <a:ext cx="106861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>
                <a:solidFill>
                  <a:srgbClr val="FF0000"/>
                </a:solidFill>
              </a:rPr>
              <a:t>Exercicios</a:t>
            </a:r>
            <a:r>
              <a:rPr lang="pt-BR" sz="3200" b="1" dirty="0">
                <a:solidFill>
                  <a:srgbClr val="FF0000"/>
                </a:solidFill>
              </a:rPr>
              <a:t> 20 </a:t>
            </a:r>
          </a:p>
          <a:p>
            <a:endParaRPr lang="pt-BR" sz="3200" b="1" dirty="0">
              <a:solidFill>
                <a:srgbClr val="FF0000"/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66" y="1135248"/>
            <a:ext cx="7334250" cy="3124200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286602" y="573689"/>
            <a:ext cx="1123483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1- Criar a matriz abaixo </a:t>
            </a:r>
          </a:p>
          <a:p>
            <a:endParaRPr lang="pt-BR" b="1" dirty="0"/>
          </a:p>
          <a:p>
            <a:endParaRPr lang="pt-BR" b="1" dirty="0"/>
          </a:p>
          <a:p>
            <a:endParaRPr lang="pt-BR" b="1" dirty="0"/>
          </a:p>
          <a:p>
            <a:endParaRPr lang="pt-BR" b="1" dirty="0"/>
          </a:p>
          <a:p>
            <a:endParaRPr lang="pt-BR" b="1" dirty="0"/>
          </a:p>
          <a:p>
            <a:endParaRPr lang="pt-BR" b="1" dirty="0"/>
          </a:p>
          <a:p>
            <a:endParaRPr lang="pt-BR" b="1" dirty="0"/>
          </a:p>
          <a:p>
            <a:endParaRPr lang="pt-BR" b="1" dirty="0"/>
          </a:p>
          <a:p>
            <a:endParaRPr lang="pt-BR" b="1" dirty="0"/>
          </a:p>
          <a:p>
            <a:endParaRPr lang="pt-BR" b="1" dirty="0"/>
          </a:p>
          <a:p>
            <a:endParaRPr lang="pt-BR" b="1" dirty="0"/>
          </a:p>
          <a:p>
            <a:endParaRPr lang="pt-BR" b="1" dirty="0"/>
          </a:p>
          <a:p>
            <a:endParaRPr lang="pt-BR" b="1" dirty="0"/>
          </a:p>
          <a:p>
            <a:pPr marL="1257300" lvl="2" indent="-342900">
              <a:buAutoNum type="alphaLcParenR"/>
            </a:pPr>
            <a:r>
              <a:rPr lang="pt-BR" dirty="0"/>
              <a:t>Imprimir a matriz</a:t>
            </a:r>
          </a:p>
          <a:p>
            <a:pPr marL="1257300" lvl="2" indent="-342900">
              <a:buAutoNum type="alphaLcParenR"/>
            </a:pPr>
            <a:r>
              <a:rPr lang="pt-BR" dirty="0"/>
              <a:t>Imprimir a segunda nota do primeiro aluno e a quarta nota do terceiro aluno.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286603" y="5188800"/>
            <a:ext cx="105770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2 - Criar uma matriz 3 x 4 onde cada posição (i , j) contém o valor de i * j.</a:t>
            </a:r>
          </a:p>
          <a:p>
            <a:r>
              <a:rPr lang="pt-BR" dirty="0"/>
              <a:t>3 -  Crie uma matriz 3x3 com valores aleatórios entre 0 e 1. Em seguida, calcule a soma de todos os elementos e a média.</a:t>
            </a:r>
          </a:p>
          <a:p>
            <a:r>
              <a:rPr lang="pt-BR" dirty="0"/>
              <a:t>4 - Crie uma matriz 4x4 com valores inteiros aleatórios entre 1 e 20. Em seguida, selecione a submatriz que contém as linhas 2 e 3 e as colunas 2 e 3.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5562314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97EFB-83C7-A5CF-55CD-4D411FD0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CB49EB5-F801-4E23-524C-6CF66B977772}"/>
              </a:ext>
            </a:extLst>
          </p:cNvPr>
          <p:cNvSpPr txBox="1"/>
          <p:nvPr/>
        </p:nvSpPr>
        <p:spPr>
          <a:xfrm>
            <a:off x="205902" y="0"/>
            <a:ext cx="11780196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Exercícios 20 (</a:t>
            </a:r>
            <a:r>
              <a:rPr lang="pt-BR" sz="2800" b="1" dirty="0" err="1">
                <a:solidFill>
                  <a:srgbClr val="FF0000"/>
                </a:solidFill>
              </a:rPr>
              <a:t>Cont</a:t>
            </a:r>
            <a:r>
              <a:rPr lang="pt-BR" sz="2800" b="1" dirty="0">
                <a:solidFill>
                  <a:srgbClr val="FF0000"/>
                </a:solidFill>
              </a:rPr>
              <a:t>)</a:t>
            </a:r>
          </a:p>
          <a:p>
            <a:r>
              <a:rPr lang="pt-BR" dirty="0"/>
              <a:t>5 - Crie uma função que receba duas matrizes quadradas do mesmo tamanho e retorne o produto matricial entre elas.</a:t>
            </a:r>
          </a:p>
          <a:p>
            <a:endParaRPr lang="pt-BR" dirty="0"/>
          </a:p>
          <a:p>
            <a:pPr marL="342900" lvl="0" indent="-342900">
              <a:buFont typeface="+mj-lt"/>
              <a:buAutoNum type="arabicPeriod" startAt="6"/>
            </a:pPr>
            <a:r>
              <a:rPr lang="pt-BR" i="1" dirty="0"/>
              <a:t>Dada a matriz b = </a:t>
            </a:r>
            <a:r>
              <a:rPr lang="pt-BR" i="1" dirty="0" err="1"/>
              <a:t>np.array</a:t>
            </a:r>
            <a:r>
              <a:rPr lang="pt-BR" i="1" dirty="0"/>
              <a:t>([[4,1,6],[2,8,5],[7,3,9]]), escreva um programa que imprima: </a:t>
            </a:r>
            <a:r>
              <a:rPr lang="pt-BR" i="1" dirty="0" err="1"/>
              <a:t>b.max</a:t>
            </a:r>
            <a:r>
              <a:rPr lang="pt-BR" i="1" dirty="0"/>
              <a:t>(), </a:t>
            </a:r>
            <a:r>
              <a:rPr lang="pt-BR" i="1" dirty="0" err="1"/>
              <a:t>b.min</a:t>
            </a:r>
            <a:r>
              <a:rPr lang="pt-BR" i="1" dirty="0"/>
              <a:t>(), </a:t>
            </a:r>
            <a:r>
              <a:rPr lang="pt-BR" i="1" dirty="0" err="1"/>
              <a:t>b.sum</a:t>
            </a:r>
            <a:r>
              <a:rPr lang="pt-BR" i="1" dirty="0"/>
              <a:t>(), </a:t>
            </a:r>
            <a:r>
              <a:rPr lang="pt-BR" i="1" dirty="0" err="1"/>
              <a:t>b.prod</a:t>
            </a:r>
            <a:r>
              <a:rPr lang="pt-BR" i="1" dirty="0"/>
              <a:t>(), </a:t>
            </a:r>
            <a:r>
              <a:rPr lang="pt-BR" i="1" dirty="0" err="1"/>
              <a:t>b.mean</a:t>
            </a:r>
            <a:r>
              <a:rPr lang="pt-BR" i="1" dirty="0"/>
              <a:t>() e </a:t>
            </a:r>
            <a:r>
              <a:rPr lang="pt-BR" i="1" dirty="0" err="1"/>
              <a:t>b.std</a:t>
            </a:r>
            <a:r>
              <a:rPr lang="pt-BR" i="1" dirty="0"/>
              <a:t>(). Mostre também o índice (</a:t>
            </a:r>
            <a:r>
              <a:rPr lang="pt-BR" i="1" dirty="0" err="1"/>
              <a:t>linha,coluna</a:t>
            </a:r>
            <a:r>
              <a:rPr lang="pt-BR" i="1" dirty="0"/>
              <a:t>) do maior e do menor elemento.</a:t>
            </a:r>
          </a:p>
          <a:p>
            <a:pPr marL="342900" lvl="0" indent="-342900">
              <a:buFont typeface="+mj-lt"/>
              <a:buAutoNum type="arabicPeriod" startAt="6"/>
            </a:pPr>
            <a:endParaRPr lang="pt-BR" dirty="0"/>
          </a:p>
          <a:p>
            <a:pPr marL="342900" lvl="0" indent="-342900">
              <a:buFont typeface="+mj-lt"/>
              <a:buAutoNum type="arabicPeriod" startAt="6"/>
            </a:pPr>
            <a:r>
              <a:rPr lang="pt-BR" i="1" dirty="0"/>
              <a:t>Gere uma matriz 4x5 de inteiros aleatórios entre 1 e 20. Calcule a soma total (</a:t>
            </a:r>
            <a:r>
              <a:rPr lang="pt-BR" i="1" dirty="0" err="1"/>
              <a:t>b.sum</a:t>
            </a:r>
            <a:r>
              <a:rPr lang="pt-BR" i="1" dirty="0"/>
              <a:t>()), a soma por linha e por coluna, a média global (</a:t>
            </a:r>
            <a:r>
              <a:rPr lang="pt-BR" i="1" dirty="0" err="1"/>
              <a:t>b.mean</a:t>
            </a:r>
            <a:r>
              <a:rPr lang="pt-BR" i="1" dirty="0"/>
              <a:t>()) e o desvio padrão global (</a:t>
            </a:r>
            <a:r>
              <a:rPr lang="pt-BR" i="1" dirty="0" err="1"/>
              <a:t>b.std</a:t>
            </a:r>
            <a:r>
              <a:rPr lang="pt-BR" i="1" dirty="0"/>
              <a:t>()). Imprima tudo formatado.</a:t>
            </a:r>
          </a:p>
          <a:p>
            <a:pPr marL="342900" lvl="0" indent="-342900">
              <a:buFont typeface="+mj-lt"/>
              <a:buAutoNum type="arabicPeriod" startAt="6"/>
            </a:pPr>
            <a:endParaRPr lang="pt-BR" dirty="0"/>
          </a:p>
          <a:p>
            <a:pPr marL="342900" lvl="0" indent="-342900">
              <a:buFont typeface="+mj-lt"/>
              <a:buAutoNum type="arabicPeriod" startAt="6"/>
            </a:pPr>
            <a:r>
              <a:rPr lang="pt-BR" i="1" dirty="0"/>
              <a:t>Leia do usuário os elementos para formar uma matriz 3x3. Remova (substitua por zero) todas as ocorrências do valor mínimo da matriz e depois calcule a soma e o produto dos elementos restantes. Mostre a matriz original, o valor mínimo, a matriz modificada, </a:t>
            </a:r>
            <a:r>
              <a:rPr lang="pt-BR" i="1" dirty="0" err="1"/>
              <a:t>b.sum</a:t>
            </a:r>
            <a:r>
              <a:rPr lang="pt-BR" i="1" dirty="0"/>
              <a:t>() e </a:t>
            </a:r>
            <a:r>
              <a:rPr lang="pt-BR" i="1" dirty="0" err="1"/>
              <a:t>b.prod</a:t>
            </a:r>
            <a:r>
              <a:rPr lang="pt-BR" i="1" dirty="0"/>
              <a:t>().</a:t>
            </a:r>
          </a:p>
          <a:p>
            <a:pPr marL="342900" lvl="0" indent="-342900">
              <a:buFont typeface="+mj-lt"/>
              <a:buAutoNum type="arabicPeriod" startAt="6"/>
            </a:pPr>
            <a:endParaRPr lang="pt-BR" dirty="0"/>
          </a:p>
          <a:p>
            <a:pPr marL="342900" lvl="0" indent="-342900">
              <a:buFont typeface="+mj-lt"/>
              <a:buAutoNum type="arabicPeriod" startAt="6"/>
            </a:pPr>
            <a:r>
              <a:rPr lang="pt-BR" i="1" dirty="0"/>
              <a:t>Dada uma matriz de temperaturas diárias em uma grade 6x7 (6 semanas × 7 dias) gerada aleatoriamente como </a:t>
            </a:r>
            <a:r>
              <a:rPr lang="pt-BR" i="1" dirty="0" err="1"/>
              <a:t>floats</a:t>
            </a:r>
            <a:r>
              <a:rPr lang="pt-BR" i="1" dirty="0"/>
              <a:t>, calcule: temperatura média por semana (média por linha), a semana com maior média (use </a:t>
            </a:r>
            <a:r>
              <a:rPr lang="pt-BR" i="1" dirty="0" err="1"/>
              <a:t>b.mean</a:t>
            </a:r>
            <a:r>
              <a:rPr lang="pt-BR" i="1" dirty="0"/>
              <a:t>(</a:t>
            </a:r>
            <a:r>
              <a:rPr lang="pt-BR" i="1" dirty="0" err="1"/>
              <a:t>axis</a:t>
            </a:r>
            <a:r>
              <a:rPr lang="pt-BR" i="1" dirty="0"/>
              <a:t>=1) e </a:t>
            </a:r>
            <a:r>
              <a:rPr lang="pt-BR" i="1" dirty="0" err="1"/>
              <a:t>b.max</a:t>
            </a:r>
            <a:r>
              <a:rPr lang="pt-BR" i="1" dirty="0"/>
              <a:t>()) e o desvio padrão diário global (</a:t>
            </a:r>
            <a:r>
              <a:rPr lang="pt-BR" i="1" dirty="0" err="1"/>
              <a:t>b.std</a:t>
            </a:r>
            <a:r>
              <a:rPr lang="pt-BR" i="1" dirty="0"/>
              <a:t>()).</a:t>
            </a:r>
          </a:p>
          <a:p>
            <a:pPr marL="342900" lvl="0" indent="-342900">
              <a:buFont typeface="+mj-lt"/>
              <a:buAutoNum type="arabicPeriod" startAt="6"/>
            </a:pPr>
            <a:endParaRPr lang="pt-BR" dirty="0"/>
          </a:p>
          <a:p>
            <a:pPr marL="342900" lvl="0" indent="-342900">
              <a:buFont typeface="+mj-lt"/>
              <a:buAutoNum type="arabicPeriod" startAt="6"/>
            </a:pPr>
            <a:r>
              <a:rPr lang="pt-BR" i="1" dirty="0"/>
              <a:t>Crie uma matriz 5x5 com valores inteiros. Encontre o maior e o menor elemento por coluna (use </a:t>
            </a:r>
            <a:r>
              <a:rPr lang="pt-BR" i="1" dirty="0" err="1"/>
              <a:t>axis</a:t>
            </a:r>
            <a:r>
              <a:rPr lang="pt-BR" i="1" dirty="0"/>
              <a:t> apropriado), e em seguida normalize cada coluna pelo seu valor máximo (dividindo a coluna por seu </a:t>
            </a:r>
            <a:r>
              <a:rPr lang="pt-BR" i="1" dirty="0" err="1"/>
              <a:t>max</a:t>
            </a:r>
            <a:r>
              <a:rPr lang="pt-BR" i="1" dirty="0"/>
              <a:t>). Imprima as matrizes antes e depois e mostre </a:t>
            </a:r>
            <a:r>
              <a:rPr lang="pt-BR" i="1" dirty="0" err="1"/>
              <a:t>b.max</a:t>
            </a:r>
            <a:r>
              <a:rPr lang="pt-BR" i="1" dirty="0"/>
              <a:t>(</a:t>
            </a:r>
            <a:r>
              <a:rPr lang="pt-BR" i="1" dirty="0" err="1"/>
              <a:t>axis</a:t>
            </a:r>
            <a:r>
              <a:rPr lang="pt-BR" i="1" dirty="0"/>
              <a:t>=0) e </a:t>
            </a:r>
            <a:r>
              <a:rPr lang="pt-BR" i="1" dirty="0" err="1"/>
              <a:t>b.min</a:t>
            </a:r>
            <a:r>
              <a:rPr lang="pt-BR" i="1" dirty="0"/>
              <a:t>(</a:t>
            </a:r>
            <a:r>
              <a:rPr lang="pt-BR" i="1" dirty="0" err="1"/>
              <a:t>axis</a:t>
            </a:r>
            <a:r>
              <a:rPr lang="pt-BR" i="1" dirty="0"/>
              <a:t>=0).</a:t>
            </a:r>
          </a:p>
          <a:p>
            <a:pPr marL="342900" lvl="0" indent="-342900">
              <a:buFont typeface="+mj-lt"/>
              <a:buAutoNum type="arabicPeriod" startAt="6"/>
            </a:pPr>
            <a:endParaRPr lang="pt-BR" dirty="0"/>
          </a:p>
          <a:p>
            <a:pPr marL="342900" lvl="0" indent="-342900">
              <a:buFont typeface="+mj-lt"/>
              <a:buAutoNum type="arabicPeriod" startAt="6"/>
            </a:pPr>
            <a:r>
              <a:rPr lang="pt-BR" i="1" dirty="0"/>
              <a:t>Dada uma matriz b 3x4 com números positivos, verifique se o produto de todos os elementos </a:t>
            </a:r>
            <a:r>
              <a:rPr lang="pt-BR" i="1" dirty="0" err="1"/>
              <a:t>b.prod</a:t>
            </a:r>
            <a:r>
              <a:rPr lang="pt-BR" i="1" dirty="0"/>
              <a:t>() excede 10^6. Se exceder, substitua a matriz por sua raiz quadrada </a:t>
            </a:r>
            <a:r>
              <a:rPr lang="pt-BR" i="1" dirty="0" err="1"/>
              <a:t>element-wise</a:t>
            </a:r>
            <a:r>
              <a:rPr lang="pt-BR" i="1" dirty="0"/>
              <a:t>; caso contrário, exponencie cada elemento ao quadrado. Mostre o valor de </a:t>
            </a:r>
            <a:r>
              <a:rPr lang="pt-BR" i="1" dirty="0" err="1"/>
              <a:t>b.prod</a:t>
            </a:r>
            <a:r>
              <a:rPr lang="pt-BR" i="1" dirty="0"/>
              <a:t>() original e a matriz resultante.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71904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06DADB4-AE00-AB13-3C98-BF100DDE93F6}"/>
              </a:ext>
            </a:extLst>
          </p:cNvPr>
          <p:cNvSpPr txBox="1"/>
          <p:nvPr/>
        </p:nvSpPr>
        <p:spPr>
          <a:xfrm>
            <a:off x="532211" y="1289953"/>
            <a:ext cx="10489228" cy="53077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sz="1600" b="1" dirty="0">
                <a:latin typeface="Abadi" panose="020B0604020104020204" pitchFamily="34" charset="0"/>
              </a:rPr>
              <a:t>VEJAMOS O COMANDO </a:t>
            </a:r>
            <a:r>
              <a:rPr lang="pt-BR" sz="1600" b="1" dirty="0" err="1">
                <a:solidFill>
                  <a:srgbClr val="FF0000"/>
                </a:solidFill>
                <a:latin typeface="Abadi" panose="020B0604020104020204" pitchFamily="34" charset="0"/>
              </a:rPr>
              <a:t>np.mean</a:t>
            </a:r>
            <a:r>
              <a:rPr lang="pt-BR" sz="1600" b="1" dirty="0">
                <a:solidFill>
                  <a:srgbClr val="FF0000"/>
                </a:solidFill>
                <a:latin typeface="Abadi" panose="020B0604020104020204" pitchFamily="34" charset="0"/>
              </a:rPr>
              <a:t>(matriz, </a:t>
            </a:r>
            <a:r>
              <a:rPr lang="pt-BR" sz="1600" b="1" dirty="0" err="1">
                <a:solidFill>
                  <a:srgbClr val="FF0000"/>
                </a:solidFill>
                <a:latin typeface="Abadi" panose="020B0604020104020204" pitchFamily="34" charset="0"/>
              </a:rPr>
              <a:t>axis</a:t>
            </a:r>
            <a:r>
              <a:rPr lang="pt-BR" sz="1600" b="1" dirty="0">
                <a:solidFill>
                  <a:srgbClr val="FF0000"/>
                </a:solidFill>
                <a:latin typeface="Abadi" panose="020B0604020104020204" pitchFamily="34" charset="0"/>
              </a:rPr>
              <a:t>=0). </a:t>
            </a:r>
            <a:r>
              <a:rPr lang="pt-BR" sz="1600" b="1" dirty="0">
                <a:latin typeface="Abadi" panose="020B0604020104020204" pitchFamily="34" charset="0"/>
              </a:rPr>
              <a:t>Detalhando este comando temos que: </a:t>
            </a:r>
            <a:endParaRPr lang="pt-BR" sz="1600" dirty="0">
              <a:latin typeface="Abadi" panose="020B0604020104020204" pitchFamily="34" charset="0"/>
            </a:endParaRPr>
          </a:p>
          <a:p>
            <a:endParaRPr lang="pt-BR" sz="1600" dirty="0">
              <a:latin typeface="Abadi" panose="020B0604020104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b="1" dirty="0" err="1">
                <a:solidFill>
                  <a:srgbClr val="FF0000"/>
                </a:solidFill>
                <a:latin typeface="Abadi" panose="020B0604020104020204" pitchFamily="34" charset="0"/>
              </a:rPr>
              <a:t>np.mean</a:t>
            </a:r>
            <a:r>
              <a:rPr lang="pt-BR" sz="1600" b="1" dirty="0">
                <a:solidFill>
                  <a:srgbClr val="FF0000"/>
                </a:solidFill>
                <a:latin typeface="Abadi" panose="020B0604020104020204" pitchFamily="34" charset="0"/>
              </a:rPr>
              <a:t>:</a:t>
            </a:r>
            <a:r>
              <a:rPr lang="pt-BR" sz="1600" dirty="0">
                <a:latin typeface="Abadi" panose="020B0604020104020204" pitchFamily="34" charset="0"/>
              </a:rPr>
              <a:t> É uma função do </a:t>
            </a:r>
            <a:r>
              <a:rPr lang="pt-BR" sz="1600" dirty="0" err="1">
                <a:latin typeface="Abadi" panose="020B0604020104020204" pitchFamily="34" charset="0"/>
              </a:rPr>
              <a:t>NumPy</a:t>
            </a:r>
            <a:r>
              <a:rPr lang="pt-BR" sz="1600" dirty="0">
                <a:latin typeface="Abadi" panose="020B0604020104020204" pitchFamily="34" charset="0"/>
              </a:rPr>
              <a:t> que calcula a média dos elementos de um </a:t>
            </a:r>
            <a:r>
              <a:rPr lang="pt-BR" sz="1600" dirty="0" err="1">
                <a:latin typeface="Abadi" panose="020B0604020104020204" pitchFamily="34" charset="0"/>
              </a:rPr>
              <a:t>array</a:t>
            </a:r>
            <a:r>
              <a:rPr lang="pt-BR" sz="1600" dirty="0">
                <a:latin typeface="Abadi" panose="020B0604020104020204" pitchFamily="34" charset="0"/>
              </a:rPr>
              <a:t> (ou matriz).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FF0000"/>
                </a:solidFill>
                <a:latin typeface="Abadi" panose="020B0604020104020204" pitchFamily="34" charset="0"/>
              </a:rPr>
              <a:t>matriz:</a:t>
            </a:r>
            <a:r>
              <a:rPr lang="pt-BR" sz="1600" dirty="0">
                <a:latin typeface="Abadi" panose="020B0604020104020204" pitchFamily="34" charset="0"/>
              </a:rPr>
              <a:t> É o </a:t>
            </a:r>
            <a:r>
              <a:rPr lang="pt-BR" sz="1600" dirty="0" err="1">
                <a:latin typeface="Abadi" panose="020B0604020104020204" pitchFamily="34" charset="0"/>
              </a:rPr>
              <a:t>array</a:t>
            </a:r>
            <a:r>
              <a:rPr lang="pt-BR" sz="1600" dirty="0">
                <a:latin typeface="Abadi" panose="020B0604020104020204" pitchFamily="34" charset="0"/>
              </a:rPr>
              <a:t> ou matriz cujos valores serão utilizados para calcular a média.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b="1" dirty="0" err="1">
                <a:solidFill>
                  <a:srgbClr val="FF0000"/>
                </a:solidFill>
                <a:latin typeface="Abadi" panose="020B0604020104020204" pitchFamily="34" charset="0"/>
              </a:rPr>
              <a:t>axis</a:t>
            </a:r>
            <a:r>
              <a:rPr lang="pt-BR" sz="1600" b="1" dirty="0">
                <a:solidFill>
                  <a:srgbClr val="FF0000"/>
                </a:solidFill>
                <a:latin typeface="Abadi" panose="020B0604020104020204" pitchFamily="34" charset="0"/>
              </a:rPr>
              <a:t>=0,1:</a:t>
            </a:r>
            <a:r>
              <a:rPr lang="pt-BR" sz="1600" dirty="0">
                <a:latin typeface="Abadi" panose="020B0604020104020204" pitchFamily="34" charset="0"/>
              </a:rPr>
              <a:t> Especifica o eixo ao longo do qual a média será calculada.</a:t>
            </a:r>
          </a:p>
          <a:p>
            <a:endParaRPr lang="pt-BR" sz="1600" dirty="0">
              <a:latin typeface="Abadi" panose="020B060402010402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Abadi" panose="020B0604020104020204" pitchFamily="34" charset="0"/>
              </a:rPr>
              <a:t>Quando </a:t>
            </a:r>
            <a:r>
              <a:rPr lang="pt-BR" sz="1600" b="1" dirty="0" err="1">
                <a:solidFill>
                  <a:srgbClr val="FF0000"/>
                </a:solidFill>
                <a:latin typeface="Abadi" panose="020B0604020104020204" pitchFamily="34" charset="0"/>
              </a:rPr>
              <a:t>axis</a:t>
            </a:r>
            <a:r>
              <a:rPr lang="pt-BR" sz="1600" b="1" dirty="0">
                <a:solidFill>
                  <a:srgbClr val="FF0000"/>
                </a:solidFill>
                <a:latin typeface="Abadi" panose="020B0604020104020204" pitchFamily="34" charset="0"/>
              </a:rPr>
              <a:t>=0</a:t>
            </a:r>
            <a:r>
              <a:rPr lang="pt-BR" sz="1600" dirty="0">
                <a:latin typeface="Abadi" panose="020B0604020104020204" pitchFamily="34" charset="0"/>
              </a:rPr>
              <a:t>, a média é calculada para cada coluna da matriz, resultando em um </a:t>
            </a:r>
            <a:r>
              <a:rPr lang="pt-BR" sz="1600" dirty="0" err="1">
                <a:latin typeface="Abadi" panose="020B0604020104020204" pitchFamily="34" charset="0"/>
              </a:rPr>
              <a:t>array</a:t>
            </a:r>
            <a:r>
              <a:rPr lang="pt-BR" sz="1600" dirty="0">
                <a:latin typeface="Abadi" panose="020B0604020104020204" pitchFamily="34" charset="0"/>
              </a:rPr>
              <a:t> com as médias de cada coluna.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Abadi" panose="020B0604020104020204" pitchFamily="34" charset="0"/>
              </a:rPr>
              <a:t>Quando </a:t>
            </a:r>
            <a:r>
              <a:rPr lang="pt-BR" sz="1600" b="1" dirty="0" err="1">
                <a:solidFill>
                  <a:srgbClr val="FF0000"/>
                </a:solidFill>
                <a:latin typeface="Abadi" panose="020B0604020104020204" pitchFamily="34" charset="0"/>
              </a:rPr>
              <a:t>axis</a:t>
            </a:r>
            <a:r>
              <a:rPr lang="pt-BR" sz="1600" b="1" dirty="0">
                <a:solidFill>
                  <a:srgbClr val="FF0000"/>
                </a:solidFill>
                <a:latin typeface="Abadi" panose="020B0604020104020204" pitchFamily="34" charset="0"/>
              </a:rPr>
              <a:t>=1</a:t>
            </a:r>
            <a:r>
              <a:rPr lang="pt-BR" sz="1600" dirty="0">
                <a:latin typeface="Abadi" panose="020B0604020104020204" pitchFamily="34" charset="0"/>
              </a:rPr>
              <a:t>, a média seria calculada para cada linha da matriz resultando em um </a:t>
            </a:r>
            <a:r>
              <a:rPr lang="pt-BR" sz="1600" dirty="0" err="1">
                <a:latin typeface="Abadi" panose="020B0604020104020204" pitchFamily="34" charset="0"/>
              </a:rPr>
              <a:t>array</a:t>
            </a:r>
            <a:r>
              <a:rPr lang="pt-BR" sz="1600" dirty="0">
                <a:latin typeface="Abadi" panose="020B0604020104020204" pitchFamily="34" charset="0"/>
              </a:rPr>
              <a:t> com as médias de cada linha.</a:t>
            </a:r>
          </a:p>
          <a:p>
            <a:endParaRPr lang="pt-BR" sz="1600" dirty="0">
              <a:latin typeface="Abadi" panose="020B0604020104020204" pitchFamily="34" charset="0"/>
            </a:endParaRPr>
          </a:p>
          <a:p>
            <a:r>
              <a:rPr lang="pt-BR" sz="1600" dirty="0">
                <a:latin typeface="Abadi" panose="020B0604020104020204" pitchFamily="34" charset="0"/>
              </a:rPr>
              <a:t>	</a:t>
            </a:r>
            <a:r>
              <a:rPr lang="pt-BR" b="1" dirty="0" err="1">
                <a:latin typeface="Abadi" panose="020B0604020104020204" pitchFamily="34" charset="0"/>
              </a:rPr>
              <a:t>Ex</a:t>
            </a:r>
            <a:r>
              <a:rPr lang="pt-BR" b="1" dirty="0">
                <a:latin typeface="Abadi" panose="020B0604020104020204" pitchFamily="34" charset="0"/>
              </a:rPr>
              <a:t>:  </a:t>
            </a:r>
            <a:r>
              <a:rPr lang="pt-BR" sz="1600" dirty="0">
                <a:latin typeface="Abadi" panose="020B0604020104020204" pitchFamily="34" charset="0"/>
              </a:rPr>
              <a:t>	Se matriz = </a:t>
            </a:r>
            <a:r>
              <a:rPr lang="pt-BR" sz="1600" dirty="0" err="1">
                <a:latin typeface="Abadi" panose="020B0604020104020204" pitchFamily="34" charset="0"/>
              </a:rPr>
              <a:t>np.array</a:t>
            </a:r>
            <a:r>
              <a:rPr lang="pt-BR" sz="1600" dirty="0">
                <a:latin typeface="Abadi" panose="020B0604020104020204" pitchFamily="34" charset="0"/>
              </a:rPr>
              <a:t>([[1, 2, 3],[4, 5, 6],[7, 8, 9]])</a:t>
            </a:r>
          </a:p>
          <a:p>
            <a:r>
              <a:rPr lang="pt-BR" sz="1600" dirty="0">
                <a:latin typeface="Abadi" panose="020B0604020104020204" pitchFamily="34" charset="0"/>
              </a:rPr>
              <a:t>		O resultado de </a:t>
            </a:r>
            <a:r>
              <a:rPr lang="pt-BR" sz="1600" b="1" dirty="0" err="1">
                <a:solidFill>
                  <a:srgbClr val="FF0000"/>
                </a:solidFill>
                <a:latin typeface="Abadi" panose="020B0604020104020204" pitchFamily="34" charset="0"/>
              </a:rPr>
              <a:t>np.mean</a:t>
            </a:r>
            <a:r>
              <a:rPr lang="pt-BR" sz="1600" b="1" dirty="0">
                <a:solidFill>
                  <a:srgbClr val="FF0000"/>
                </a:solidFill>
                <a:latin typeface="Abadi" panose="020B0604020104020204" pitchFamily="34" charset="0"/>
              </a:rPr>
              <a:t>(matriz, </a:t>
            </a:r>
            <a:r>
              <a:rPr lang="pt-BR" sz="1600" b="1" dirty="0" err="1">
                <a:solidFill>
                  <a:srgbClr val="FF0000"/>
                </a:solidFill>
                <a:latin typeface="Abadi" panose="020B0604020104020204" pitchFamily="34" charset="0"/>
              </a:rPr>
              <a:t>axis</a:t>
            </a:r>
            <a:r>
              <a:rPr lang="pt-BR" sz="1600" b="1" dirty="0">
                <a:solidFill>
                  <a:srgbClr val="FF0000"/>
                </a:solidFill>
                <a:latin typeface="Abadi" panose="020B0604020104020204" pitchFamily="34" charset="0"/>
              </a:rPr>
              <a:t>=0) </a:t>
            </a:r>
            <a:r>
              <a:rPr lang="pt-BR" sz="1600" dirty="0">
                <a:latin typeface="Abadi" panose="020B0604020104020204" pitchFamily="34" charset="0"/>
              </a:rPr>
              <a:t>será : </a:t>
            </a:r>
            <a:r>
              <a:rPr lang="pt-BR" sz="1600" dirty="0" err="1">
                <a:latin typeface="Abadi" panose="020B0604020104020204" pitchFamily="34" charset="0"/>
              </a:rPr>
              <a:t>array</a:t>
            </a:r>
            <a:r>
              <a:rPr lang="pt-BR" sz="1600" dirty="0">
                <a:latin typeface="Abadi" panose="020B0604020104020204" pitchFamily="34" charset="0"/>
              </a:rPr>
              <a:t>([4., 5., 6.])</a:t>
            </a:r>
          </a:p>
          <a:p>
            <a:endParaRPr lang="pt-BR" sz="1600" dirty="0">
              <a:latin typeface="Abadi" panose="020B0604020104020204" pitchFamily="34" charset="0"/>
            </a:endParaRPr>
          </a:p>
          <a:p>
            <a:r>
              <a:rPr lang="pt-BR" sz="1600" dirty="0">
                <a:latin typeface="Abadi" panose="020B0604020104020204" pitchFamily="34" charset="0"/>
              </a:rPr>
              <a:t>Podemos usar também para </a:t>
            </a:r>
            <a:r>
              <a:rPr lang="pt-BR" sz="1600" dirty="0" err="1">
                <a:solidFill>
                  <a:srgbClr val="FF0000"/>
                </a:solidFill>
                <a:latin typeface="Abadi" panose="020B0604020104020204" pitchFamily="34" charset="0"/>
              </a:rPr>
              <a:t>np</a:t>
            </a:r>
            <a:r>
              <a:rPr lang="pt-BR" sz="1600" dirty="0">
                <a:solidFill>
                  <a:srgbClr val="FF0000"/>
                </a:solidFill>
                <a:latin typeface="Abadi" panose="020B0604020104020204" pitchFamily="34" charset="0"/>
              </a:rPr>
              <a:t>. </a:t>
            </a:r>
            <a:r>
              <a:rPr lang="pt-BR" sz="1600" dirty="0" err="1">
                <a:solidFill>
                  <a:srgbClr val="FF0000"/>
                </a:solidFill>
                <a:latin typeface="Abadi" panose="020B0604020104020204" pitchFamily="34" charset="0"/>
              </a:rPr>
              <a:t>sum</a:t>
            </a:r>
            <a:r>
              <a:rPr lang="pt-BR" sz="1600" dirty="0" err="1">
                <a:latin typeface="Abadi" panose="020B0604020104020204" pitchFamily="34" charset="0"/>
              </a:rPr>
              <a:t>,</a:t>
            </a:r>
            <a:r>
              <a:rPr lang="pt-BR" sz="1600" dirty="0" err="1">
                <a:solidFill>
                  <a:srgbClr val="FF0000"/>
                </a:solidFill>
                <a:latin typeface="Abadi" panose="020B0604020104020204" pitchFamily="34" charset="0"/>
              </a:rPr>
              <a:t>np.max</a:t>
            </a:r>
            <a:r>
              <a:rPr lang="pt-BR" sz="1600" dirty="0">
                <a:solidFill>
                  <a:srgbClr val="FF0000"/>
                </a:solidFill>
                <a:latin typeface="Abadi" panose="020B0604020104020204" pitchFamily="34" charset="0"/>
              </a:rPr>
              <a:t>, </a:t>
            </a:r>
            <a:r>
              <a:rPr lang="pt-BR" sz="1600" dirty="0" err="1">
                <a:solidFill>
                  <a:srgbClr val="FF0000"/>
                </a:solidFill>
                <a:latin typeface="Abadi" panose="020B0604020104020204" pitchFamily="34" charset="0"/>
              </a:rPr>
              <a:t>np.min</a:t>
            </a:r>
            <a:r>
              <a:rPr lang="pt-BR" sz="1600" dirty="0">
                <a:solidFill>
                  <a:srgbClr val="FF0000"/>
                </a:solidFill>
                <a:latin typeface="Abadi" panose="020B0604020104020204" pitchFamily="34" charset="0"/>
              </a:rPr>
              <a:t>, </a:t>
            </a:r>
            <a:r>
              <a:rPr lang="pt-BR" sz="1600" dirty="0" err="1">
                <a:solidFill>
                  <a:srgbClr val="FF0000"/>
                </a:solidFill>
                <a:latin typeface="Abadi" panose="020B0604020104020204" pitchFamily="34" charset="0"/>
              </a:rPr>
              <a:t>np.std</a:t>
            </a:r>
            <a:r>
              <a:rPr lang="pt-BR" sz="1600" dirty="0">
                <a:solidFill>
                  <a:srgbClr val="FF0000"/>
                </a:solidFill>
                <a:latin typeface="Abadi" panose="020B0604020104020204" pitchFamily="34" charset="0"/>
              </a:rPr>
              <a:t>, etc.</a:t>
            </a:r>
          </a:p>
          <a:p>
            <a:r>
              <a:rPr lang="pt-BR" sz="1400" i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b="1" dirty="0" err="1">
                <a:latin typeface="Abadi" panose="020B0604020104020204" pitchFamily="34" charset="0"/>
              </a:rPr>
              <a:t>Exs</a:t>
            </a:r>
            <a:r>
              <a:rPr lang="pt-BR" b="1" dirty="0">
                <a:latin typeface="Abadi" panose="020B0604020104020204" pitchFamily="34" charset="0"/>
              </a:rPr>
              <a:t> : 	</a:t>
            </a:r>
            <a:r>
              <a:rPr lang="pt-BR" sz="1600" dirty="0">
                <a:latin typeface="Abadi" panose="020B0604020104020204" pitchFamily="34" charset="0"/>
              </a:rPr>
              <a:t>Se matriz = </a:t>
            </a:r>
            <a:r>
              <a:rPr lang="pt-BR" sz="1600" dirty="0" err="1">
                <a:latin typeface="Abadi" panose="020B0604020104020204" pitchFamily="34" charset="0"/>
              </a:rPr>
              <a:t>np.array</a:t>
            </a:r>
            <a:r>
              <a:rPr lang="pt-BR" sz="1600" dirty="0">
                <a:latin typeface="Abadi" panose="020B0604020104020204" pitchFamily="34" charset="0"/>
              </a:rPr>
              <a:t>([[1, 2, 3],[4, 5, 6],[7, 8, 9]])</a:t>
            </a:r>
          </a:p>
          <a:p>
            <a:r>
              <a:rPr lang="pt-BR" sz="1600" dirty="0">
                <a:latin typeface="Abadi" panose="020B0604020104020204" pitchFamily="34" charset="0"/>
              </a:rPr>
              <a:t>		O resultado de </a:t>
            </a:r>
            <a:r>
              <a:rPr lang="pt-BR" sz="1600" dirty="0" err="1">
                <a:latin typeface="Abadi" panose="020B0604020104020204" pitchFamily="34" charset="0"/>
              </a:rPr>
              <a:t>np.min</a:t>
            </a:r>
            <a:r>
              <a:rPr lang="pt-BR" sz="1600" dirty="0">
                <a:latin typeface="Abadi" panose="020B0604020104020204" pitchFamily="34" charset="0"/>
              </a:rPr>
              <a:t>(matriz, </a:t>
            </a:r>
            <a:r>
              <a:rPr lang="pt-BR" sz="1600" dirty="0" err="1">
                <a:latin typeface="Abadi" panose="020B0604020104020204" pitchFamily="34" charset="0"/>
              </a:rPr>
              <a:t>axis</a:t>
            </a:r>
            <a:r>
              <a:rPr lang="pt-BR" sz="1600" dirty="0">
                <a:latin typeface="Abadi" panose="020B0604020104020204" pitchFamily="34" charset="0"/>
              </a:rPr>
              <a:t>=0) será : </a:t>
            </a:r>
            <a:r>
              <a:rPr lang="pt-BR" sz="1600" dirty="0" err="1">
                <a:latin typeface="Abadi" panose="020B0604020104020204" pitchFamily="34" charset="0"/>
              </a:rPr>
              <a:t>array</a:t>
            </a:r>
            <a:r>
              <a:rPr lang="pt-BR" sz="1600" dirty="0">
                <a:latin typeface="Abadi" panose="020B0604020104020204" pitchFamily="34" charset="0"/>
              </a:rPr>
              <a:t>([1, 2, 3])</a:t>
            </a:r>
          </a:p>
          <a:p>
            <a:r>
              <a:rPr lang="pt-BR" sz="1600" dirty="0">
                <a:latin typeface="Abadi" panose="020B0604020104020204" pitchFamily="34" charset="0"/>
              </a:rPr>
              <a:t>		O resultado de </a:t>
            </a:r>
            <a:r>
              <a:rPr lang="pt-BR" sz="1600" dirty="0" err="1">
                <a:latin typeface="Abadi" panose="020B0604020104020204" pitchFamily="34" charset="0"/>
              </a:rPr>
              <a:t>np.min</a:t>
            </a:r>
            <a:r>
              <a:rPr lang="pt-BR" sz="1600" dirty="0">
                <a:latin typeface="Abadi" panose="020B0604020104020204" pitchFamily="34" charset="0"/>
              </a:rPr>
              <a:t>(matriz, </a:t>
            </a:r>
            <a:r>
              <a:rPr lang="pt-BR" sz="1600" dirty="0" err="1">
                <a:latin typeface="Abadi" panose="020B0604020104020204" pitchFamily="34" charset="0"/>
              </a:rPr>
              <a:t>axis</a:t>
            </a:r>
            <a:r>
              <a:rPr lang="pt-BR" sz="1600" dirty="0">
                <a:latin typeface="Abadi" panose="020B0604020104020204" pitchFamily="34" charset="0"/>
              </a:rPr>
              <a:t>=1) será : </a:t>
            </a:r>
            <a:r>
              <a:rPr lang="pt-BR" sz="1600" dirty="0" err="1">
                <a:latin typeface="Abadi" panose="020B0604020104020204" pitchFamily="34" charset="0"/>
              </a:rPr>
              <a:t>array</a:t>
            </a:r>
            <a:r>
              <a:rPr lang="pt-BR" sz="1600" dirty="0">
                <a:latin typeface="Abadi" panose="020B0604020104020204" pitchFamily="34" charset="0"/>
              </a:rPr>
              <a:t>([1, 4, 7])</a:t>
            </a:r>
          </a:p>
          <a:p>
            <a:endParaRPr lang="pt-BR" sz="1600" dirty="0">
              <a:latin typeface="Abadi" panose="020B0604020104020204" pitchFamily="34" charset="0"/>
            </a:endParaRPr>
          </a:p>
          <a:p>
            <a:pPr>
              <a:lnSpc>
                <a:spcPct val="200000"/>
              </a:lnSpc>
            </a:pPr>
            <a:r>
              <a:rPr lang="pt-BR" b="1" dirty="0">
                <a:latin typeface="Abadi" panose="020B0604020104020204" pitchFamily="34" charset="0"/>
              </a:rPr>
              <a:t>		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F0A3C0-79E0-EBF0-1464-D41D9BA371A8}"/>
              </a:ext>
            </a:extLst>
          </p:cNvPr>
          <p:cNvSpPr txBox="1"/>
          <p:nvPr/>
        </p:nvSpPr>
        <p:spPr>
          <a:xfrm>
            <a:off x="311285" y="282102"/>
            <a:ext cx="11089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Definindo cálculos com as linhas e as colunas de um Vetor ou uma  Matriz</a:t>
            </a:r>
          </a:p>
        </p:txBody>
      </p:sp>
    </p:spTree>
    <p:extLst>
      <p:ext uri="{BB962C8B-B14F-4D97-AF65-F5344CB8AC3E}">
        <p14:creationId xmlns:p14="http://schemas.microsoft.com/office/powerpoint/2010/main" val="19125671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F4FCA48-1C65-C1B0-EA14-BA7498CD802F}"/>
              </a:ext>
            </a:extLst>
          </p:cNvPr>
          <p:cNvSpPr txBox="1"/>
          <p:nvPr/>
        </p:nvSpPr>
        <p:spPr>
          <a:xfrm>
            <a:off x="152400" y="1907978"/>
            <a:ext cx="11861260" cy="449353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800" b="1" dirty="0" err="1">
                <a:solidFill>
                  <a:srgbClr val="FF0000"/>
                </a:solidFill>
                <a:latin typeface="Abadi" panose="020B0604020104020204" pitchFamily="34" charset="0"/>
              </a:rPr>
              <a:t>np.argmax</a:t>
            </a:r>
            <a:r>
              <a:rPr lang="pt-BR" sz="1800" b="1" dirty="0">
                <a:solidFill>
                  <a:srgbClr val="FF0000"/>
                </a:solidFill>
                <a:latin typeface="Abadi" panose="020B0604020104020204" pitchFamily="34" charset="0"/>
              </a:rPr>
              <a:t>(</a:t>
            </a:r>
            <a:r>
              <a:rPr lang="pt-BR" b="1" dirty="0">
                <a:solidFill>
                  <a:srgbClr val="FF0000"/>
                </a:solidFill>
                <a:latin typeface="Abadi" panose="020B0604020104020204" pitchFamily="34" charset="0"/>
              </a:rPr>
              <a:t>vetor</a:t>
            </a:r>
            <a:r>
              <a:rPr lang="pt-BR" sz="1800" b="1" dirty="0">
                <a:solidFill>
                  <a:srgbClr val="FF0000"/>
                </a:solidFill>
                <a:latin typeface="Abadi" panose="020B0604020104020204" pitchFamily="34" charset="0"/>
              </a:rPr>
              <a:t>): </a:t>
            </a:r>
            <a:r>
              <a:rPr lang="pt-BR" sz="1800" dirty="0">
                <a:latin typeface="Abadi" panose="020B0604020104020204" pitchFamily="34" charset="0"/>
              </a:rPr>
              <a:t>Encontra o índice de valor máximo no vetor fornecido.</a:t>
            </a:r>
          </a:p>
          <a:p>
            <a:endParaRPr lang="pt-BR" sz="1800" b="1" dirty="0">
              <a:solidFill>
                <a:srgbClr val="FF0000"/>
              </a:solidFill>
              <a:latin typeface="Abadi" panose="020B0604020104020204" pitchFamily="34" charset="0"/>
            </a:endParaRPr>
          </a:p>
          <a:p>
            <a:r>
              <a:rPr lang="pt-BR" sz="1800" b="1" dirty="0">
                <a:latin typeface="Abadi" panose="020B0604020104020204" pitchFamily="34" charset="0"/>
              </a:rPr>
              <a:t>Ex</a:t>
            </a:r>
            <a:r>
              <a:rPr lang="pt-BR" b="1" dirty="0">
                <a:latin typeface="Abadi" panose="020B0604020104020204" pitchFamily="34" charset="0"/>
              </a:rPr>
              <a:t>1 : </a:t>
            </a:r>
            <a:r>
              <a:rPr lang="pt-BR" sz="1600" dirty="0">
                <a:latin typeface="Abadi" panose="020B0604020104020204" pitchFamily="34" charset="0"/>
              </a:rPr>
              <a:t>Encontrar o índice do maior valor do vetor : </a:t>
            </a:r>
            <a:r>
              <a:rPr lang="pt-BR" b="1" dirty="0" err="1">
                <a:solidFill>
                  <a:srgbClr val="0070C0"/>
                </a:solidFill>
                <a:latin typeface="Abadi" panose="020B0604020104020204" pitchFamily="34" charset="0"/>
              </a:rPr>
              <a:t>np.argmax</a:t>
            </a:r>
            <a:r>
              <a:rPr lang="pt-BR" b="1" dirty="0">
                <a:solidFill>
                  <a:srgbClr val="0070C0"/>
                </a:solidFill>
                <a:latin typeface="Abadi" panose="020B0604020104020204" pitchFamily="34" charset="0"/>
              </a:rPr>
              <a:t>([6, 15, 24]) </a:t>
            </a:r>
            <a:r>
              <a:rPr lang="pt-BR" sz="1600" dirty="0">
                <a:latin typeface="Abadi" panose="020B0604020104020204" pitchFamily="34" charset="0"/>
                <a:sym typeface="Wingdings" panose="05000000000000000000" pitchFamily="2" charset="2"/>
              </a:rPr>
              <a:t>  </a:t>
            </a:r>
            <a:r>
              <a:rPr lang="pt-BR" sz="1600" dirty="0">
                <a:latin typeface="Abadi" panose="020B0604020104020204" pitchFamily="34" charset="0"/>
              </a:rPr>
              <a:t>retorna 2, pois o maior valor (24) está na posição 2.</a:t>
            </a:r>
          </a:p>
          <a:p>
            <a:endParaRPr lang="pt-BR" sz="1600" dirty="0">
              <a:solidFill>
                <a:srgbClr val="FF0000"/>
              </a:solidFill>
              <a:latin typeface="Abadi" panose="020B0604020104020204" pitchFamily="34" charset="0"/>
            </a:endParaRPr>
          </a:p>
          <a:p>
            <a:r>
              <a:rPr lang="pt-BR" b="1" dirty="0">
                <a:latin typeface="Abadi" panose="020B0604020104020204" pitchFamily="34" charset="0"/>
              </a:rPr>
              <a:t>Ex2 : </a:t>
            </a:r>
            <a:r>
              <a:rPr lang="pt-BR" sz="1600" dirty="0">
                <a:latin typeface="Abadi" panose="020B0604020104020204" pitchFamily="34" charset="0"/>
              </a:rPr>
              <a:t>Encontrar o índice do maior valor das somas das colunas da matriz </a:t>
            </a:r>
            <a:r>
              <a:rPr lang="pt-BR" sz="1600" dirty="0" err="1">
                <a:latin typeface="Abadi" panose="020B0604020104020204" pitchFamily="34" charset="0"/>
              </a:rPr>
              <a:t>mat</a:t>
            </a:r>
            <a:r>
              <a:rPr lang="pt-BR" sz="1600" dirty="0">
                <a:latin typeface="Abadi" panose="020B0604020104020204" pitchFamily="34" charset="0"/>
              </a:rPr>
              <a:t> =  </a:t>
            </a:r>
            <a:r>
              <a:rPr lang="pt-BR" sz="1600" dirty="0" err="1">
                <a:latin typeface="Abadi" panose="020B0604020104020204" pitchFamily="34" charset="0"/>
              </a:rPr>
              <a:t>np.array</a:t>
            </a:r>
            <a:r>
              <a:rPr lang="pt-BR" sz="1600" dirty="0">
                <a:latin typeface="Abadi" panose="020B0604020104020204" pitchFamily="34" charset="0"/>
              </a:rPr>
              <a:t>([[1, 2, 3], [4, 5, 6],[7, 8, 9]])</a:t>
            </a:r>
          </a:p>
          <a:p>
            <a:r>
              <a:rPr lang="pt-BR" sz="1600" b="1" dirty="0">
                <a:solidFill>
                  <a:srgbClr val="FF0000"/>
                </a:solidFill>
                <a:latin typeface="Abadi" panose="020B0604020104020204" pitchFamily="34" charset="0"/>
              </a:rPr>
              <a:t>		</a:t>
            </a:r>
            <a:r>
              <a:rPr lang="pt-BR" b="1" dirty="0">
                <a:solidFill>
                  <a:srgbClr val="0070C0"/>
                </a:solidFill>
                <a:latin typeface="Abadi" panose="020B0604020104020204" pitchFamily="34" charset="0"/>
              </a:rPr>
              <a:t>índice = </a:t>
            </a:r>
            <a:r>
              <a:rPr lang="pt-BR" b="1" dirty="0" err="1">
                <a:solidFill>
                  <a:srgbClr val="0070C0"/>
                </a:solidFill>
                <a:latin typeface="Abadi" panose="020B0604020104020204" pitchFamily="34" charset="0"/>
              </a:rPr>
              <a:t>np.argmax</a:t>
            </a:r>
            <a:r>
              <a:rPr lang="pt-BR" b="1" dirty="0">
                <a:solidFill>
                  <a:srgbClr val="0070C0"/>
                </a:solidFill>
                <a:latin typeface="Abadi" panose="020B0604020104020204" pitchFamily="34" charset="0"/>
              </a:rPr>
              <a:t>( </a:t>
            </a:r>
            <a:r>
              <a:rPr lang="pt-BR" b="1" dirty="0" err="1">
                <a:solidFill>
                  <a:srgbClr val="0070C0"/>
                </a:solidFill>
                <a:latin typeface="Abadi" panose="020B0604020104020204" pitchFamily="34" charset="0"/>
              </a:rPr>
              <a:t>np.sum</a:t>
            </a:r>
            <a:r>
              <a:rPr lang="pt-BR" b="1" dirty="0">
                <a:solidFill>
                  <a:srgbClr val="0070C0"/>
                </a:solidFill>
                <a:latin typeface="Abadi" panose="020B0604020104020204" pitchFamily="34" charset="0"/>
              </a:rPr>
              <a:t>(</a:t>
            </a:r>
            <a:r>
              <a:rPr lang="pt-BR" b="1" dirty="0" err="1">
                <a:solidFill>
                  <a:srgbClr val="0070C0"/>
                </a:solidFill>
                <a:latin typeface="Abadi" panose="020B0604020104020204" pitchFamily="34" charset="0"/>
              </a:rPr>
              <a:t>mat</a:t>
            </a:r>
            <a:r>
              <a:rPr lang="pt-BR" b="1" dirty="0">
                <a:solidFill>
                  <a:srgbClr val="0070C0"/>
                </a:solidFill>
                <a:latin typeface="Abadi" panose="020B0604020104020204" pitchFamily="34" charset="0"/>
              </a:rPr>
              <a:t>, </a:t>
            </a:r>
            <a:r>
              <a:rPr lang="pt-BR" b="1" dirty="0" err="1">
                <a:solidFill>
                  <a:srgbClr val="0070C0"/>
                </a:solidFill>
                <a:latin typeface="Abadi" panose="020B0604020104020204" pitchFamily="34" charset="0"/>
              </a:rPr>
              <a:t>axis</a:t>
            </a:r>
            <a:r>
              <a:rPr lang="pt-BR" b="1" dirty="0">
                <a:solidFill>
                  <a:srgbClr val="0070C0"/>
                </a:solidFill>
                <a:latin typeface="Abadi" panose="020B0604020104020204" pitchFamily="34" charset="0"/>
              </a:rPr>
              <a:t>=1)) </a:t>
            </a:r>
            <a:r>
              <a:rPr lang="pt-BR" sz="1600" dirty="0">
                <a:latin typeface="Abadi" panose="020B0604020104020204" pitchFamily="34" charset="0"/>
                <a:sym typeface="Wingdings" panose="05000000000000000000" pitchFamily="2" charset="2"/>
              </a:rPr>
              <a:t>  </a:t>
            </a:r>
            <a:r>
              <a:rPr lang="pt-BR" sz="1600" dirty="0">
                <a:latin typeface="Abadi" panose="020B0604020104020204" pitchFamily="34" charset="0"/>
              </a:rPr>
              <a:t>retorna 2, pois o maior valor (24) está na posição 2.</a:t>
            </a:r>
          </a:p>
          <a:p>
            <a:endParaRPr lang="pt-BR" sz="1800" dirty="0">
              <a:solidFill>
                <a:srgbClr val="FF0000"/>
              </a:solidFill>
              <a:latin typeface="Abadi" panose="020B0604020104020204" pitchFamily="34" charset="0"/>
            </a:endParaRPr>
          </a:p>
          <a:p>
            <a:r>
              <a:rPr lang="pt-BR" sz="1800" b="1" dirty="0" err="1">
                <a:solidFill>
                  <a:srgbClr val="FF0000"/>
                </a:solidFill>
                <a:latin typeface="Abadi" panose="020B0604020104020204" pitchFamily="34" charset="0"/>
              </a:rPr>
              <a:t>np.argmin</a:t>
            </a:r>
            <a:r>
              <a:rPr lang="pt-BR" sz="1800" b="1" dirty="0">
                <a:solidFill>
                  <a:srgbClr val="FF0000"/>
                </a:solidFill>
                <a:latin typeface="Abadi" panose="020B0604020104020204" pitchFamily="34" charset="0"/>
              </a:rPr>
              <a:t>(</a:t>
            </a:r>
            <a:r>
              <a:rPr lang="pt-BR" b="1" dirty="0">
                <a:solidFill>
                  <a:srgbClr val="FF0000"/>
                </a:solidFill>
                <a:latin typeface="Abadi" panose="020B0604020104020204" pitchFamily="34" charset="0"/>
              </a:rPr>
              <a:t>vetor</a:t>
            </a:r>
            <a:r>
              <a:rPr lang="pt-BR" sz="1800" b="1" dirty="0">
                <a:solidFill>
                  <a:srgbClr val="FF0000"/>
                </a:solidFill>
                <a:latin typeface="Abadi" panose="020B0604020104020204" pitchFamily="34" charset="0"/>
              </a:rPr>
              <a:t>): </a:t>
            </a:r>
            <a:r>
              <a:rPr lang="pt-BR" sz="1800" dirty="0">
                <a:latin typeface="Abadi" panose="020B0604020104020204" pitchFamily="34" charset="0"/>
              </a:rPr>
              <a:t>Encontra o índice do valor mínimo no vetor fornecido.</a:t>
            </a:r>
          </a:p>
          <a:p>
            <a:endParaRPr lang="pt-BR" dirty="0">
              <a:latin typeface="Abadi" panose="020B0604020104020204" pitchFamily="34" charset="0"/>
            </a:endParaRPr>
          </a:p>
          <a:p>
            <a:r>
              <a:rPr lang="pt-BR" b="1" dirty="0">
                <a:latin typeface="Abadi" panose="020B0604020104020204" pitchFamily="34" charset="0"/>
              </a:rPr>
              <a:t>Ex</a:t>
            </a:r>
            <a:r>
              <a:rPr lang="pt-BR" sz="1600" b="1" dirty="0">
                <a:latin typeface="Abadi" panose="020B0604020104020204" pitchFamily="34" charset="0"/>
              </a:rPr>
              <a:t>1 : </a:t>
            </a:r>
            <a:r>
              <a:rPr lang="pt-BR" sz="1600" dirty="0">
                <a:latin typeface="Abadi" panose="020B0604020104020204" pitchFamily="34" charset="0"/>
              </a:rPr>
              <a:t>Encontrar o índice do menor valor do vetor : </a:t>
            </a:r>
            <a:r>
              <a:rPr lang="pt-BR" sz="1600" b="1" dirty="0" err="1">
                <a:solidFill>
                  <a:srgbClr val="0070C0"/>
                </a:solidFill>
                <a:latin typeface="Abadi" panose="020B0604020104020204" pitchFamily="34" charset="0"/>
              </a:rPr>
              <a:t>np.argmin</a:t>
            </a:r>
            <a:r>
              <a:rPr lang="pt-BR" sz="1600" b="1" dirty="0">
                <a:solidFill>
                  <a:srgbClr val="0070C0"/>
                </a:solidFill>
                <a:latin typeface="Abadi" panose="020B0604020104020204" pitchFamily="34" charset="0"/>
              </a:rPr>
              <a:t>([6, 15, 24]) </a:t>
            </a:r>
            <a:r>
              <a:rPr lang="pt-BR" sz="1600" dirty="0">
                <a:latin typeface="Abadi" panose="020B0604020104020204" pitchFamily="34" charset="0"/>
                <a:sym typeface="Wingdings" panose="05000000000000000000" pitchFamily="2" charset="2"/>
              </a:rPr>
              <a:t>  </a:t>
            </a:r>
            <a:r>
              <a:rPr lang="pt-BR" sz="1600" dirty="0">
                <a:latin typeface="Abadi" panose="020B0604020104020204" pitchFamily="34" charset="0"/>
              </a:rPr>
              <a:t>retorna 0, pois o menor valor (6) está na posição 0.</a:t>
            </a:r>
          </a:p>
          <a:p>
            <a:endParaRPr lang="pt-BR" sz="1800" dirty="0">
              <a:solidFill>
                <a:srgbClr val="FF0000"/>
              </a:solidFill>
              <a:latin typeface="Abadi" panose="020B0604020104020204" pitchFamily="34" charset="0"/>
            </a:endParaRPr>
          </a:p>
          <a:p>
            <a:r>
              <a:rPr lang="pt-BR" b="1" dirty="0">
                <a:latin typeface="Abadi" panose="020B0604020104020204" pitchFamily="34" charset="0"/>
              </a:rPr>
              <a:t>Ex2 : </a:t>
            </a:r>
            <a:r>
              <a:rPr lang="pt-BR" sz="1800" dirty="0">
                <a:latin typeface="Abadi" panose="020B0604020104020204" pitchFamily="34" charset="0"/>
              </a:rPr>
              <a:t>Encontrar o índice do menor valor das somas das colunas da matriz </a:t>
            </a:r>
            <a:r>
              <a:rPr lang="pt-BR" sz="1800" dirty="0" err="1">
                <a:latin typeface="Abadi" panose="020B0604020104020204" pitchFamily="34" charset="0"/>
              </a:rPr>
              <a:t>mat</a:t>
            </a:r>
            <a:r>
              <a:rPr lang="pt-BR" sz="1800" dirty="0">
                <a:latin typeface="Abadi" panose="020B0604020104020204" pitchFamily="34" charset="0"/>
              </a:rPr>
              <a:t> =  </a:t>
            </a:r>
            <a:r>
              <a:rPr lang="pt-BR" sz="1800" dirty="0" err="1">
                <a:latin typeface="Abadi" panose="020B0604020104020204" pitchFamily="34" charset="0"/>
              </a:rPr>
              <a:t>np.array</a:t>
            </a:r>
            <a:r>
              <a:rPr lang="pt-BR" sz="1800" dirty="0">
                <a:latin typeface="Abadi" panose="020B0604020104020204" pitchFamily="34" charset="0"/>
              </a:rPr>
              <a:t>([[1, 2, 3], [4, 5, 6],[7, 8, 9]])</a:t>
            </a:r>
          </a:p>
          <a:p>
            <a:r>
              <a:rPr lang="pt-BR" sz="1800" b="1" dirty="0">
                <a:solidFill>
                  <a:srgbClr val="FF0000"/>
                </a:solidFill>
                <a:latin typeface="Abadi" panose="020B0604020104020204" pitchFamily="34" charset="0"/>
              </a:rPr>
              <a:t>		</a:t>
            </a:r>
            <a:r>
              <a:rPr lang="pt-BR" b="1" dirty="0">
                <a:solidFill>
                  <a:srgbClr val="0070C0"/>
                </a:solidFill>
                <a:latin typeface="Abadi" panose="020B0604020104020204" pitchFamily="34" charset="0"/>
              </a:rPr>
              <a:t>índice = </a:t>
            </a:r>
            <a:r>
              <a:rPr lang="pt-BR" b="1" dirty="0" err="1">
                <a:solidFill>
                  <a:srgbClr val="0070C0"/>
                </a:solidFill>
                <a:latin typeface="Abadi" panose="020B0604020104020204" pitchFamily="34" charset="0"/>
              </a:rPr>
              <a:t>np.argmin</a:t>
            </a:r>
            <a:r>
              <a:rPr lang="pt-BR" b="1" dirty="0">
                <a:solidFill>
                  <a:srgbClr val="0070C0"/>
                </a:solidFill>
                <a:latin typeface="Abadi" panose="020B0604020104020204" pitchFamily="34" charset="0"/>
              </a:rPr>
              <a:t>( </a:t>
            </a:r>
            <a:r>
              <a:rPr lang="pt-BR" b="1" dirty="0" err="1">
                <a:solidFill>
                  <a:srgbClr val="0070C0"/>
                </a:solidFill>
                <a:latin typeface="Abadi" panose="020B0604020104020204" pitchFamily="34" charset="0"/>
              </a:rPr>
              <a:t>np.sum</a:t>
            </a:r>
            <a:r>
              <a:rPr lang="pt-BR" b="1" dirty="0">
                <a:solidFill>
                  <a:srgbClr val="0070C0"/>
                </a:solidFill>
                <a:latin typeface="Abadi" panose="020B0604020104020204" pitchFamily="34" charset="0"/>
              </a:rPr>
              <a:t>(</a:t>
            </a:r>
            <a:r>
              <a:rPr lang="pt-BR" b="1" dirty="0" err="1">
                <a:solidFill>
                  <a:srgbClr val="0070C0"/>
                </a:solidFill>
                <a:latin typeface="Abadi" panose="020B0604020104020204" pitchFamily="34" charset="0"/>
              </a:rPr>
              <a:t>mat</a:t>
            </a:r>
            <a:r>
              <a:rPr lang="pt-BR" b="1" dirty="0">
                <a:solidFill>
                  <a:srgbClr val="0070C0"/>
                </a:solidFill>
                <a:latin typeface="Abadi" panose="020B0604020104020204" pitchFamily="34" charset="0"/>
              </a:rPr>
              <a:t>, </a:t>
            </a:r>
            <a:r>
              <a:rPr lang="pt-BR" b="1" dirty="0" err="1">
                <a:solidFill>
                  <a:srgbClr val="0070C0"/>
                </a:solidFill>
                <a:latin typeface="Abadi" panose="020B0604020104020204" pitchFamily="34" charset="0"/>
              </a:rPr>
              <a:t>axis</a:t>
            </a:r>
            <a:r>
              <a:rPr lang="pt-BR" b="1" dirty="0">
                <a:solidFill>
                  <a:srgbClr val="0070C0"/>
                </a:solidFill>
                <a:latin typeface="Abadi" panose="020B0604020104020204" pitchFamily="34" charset="0"/>
              </a:rPr>
              <a:t>=1)) </a:t>
            </a:r>
            <a:r>
              <a:rPr lang="pt-BR" sz="1800" dirty="0">
                <a:latin typeface="Abadi" panose="020B0604020104020204" pitchFamily="34" charset="0"/>
                <a:sym typeface="Wingdings" panose="05000000000000000000" pitchFamily="2" charset="2"/>
              </a:rPr>
              <a:t>  </a:t>
            </a:r>
            <a:r>
              <a:rPr lang="pt-BR" sz="1800" dirty="0">
                <a:latin typeface="Abadi" panose="020B0604020104020204" pitchFamily="34" charset="0"/>
              </a:rPr>
              <a:t>retorna 0, pois o maior valor (6) está na posição 0.</a:t>
            </a:r>
          </a:p>
          <a:p>
            <a:endParaRPr lang="pt-BR" sz="1800" dirty="0">
              <a:latin typeface="Abadi" panose="020B0604020104020204" pitchFamily="34" charset="0"/>
            </a:endParaRPr>
          </a:p>
          <a:p>
            <a:endParaRPr lang="pt-BR" b="1" dirty="0">
              <a:solidFill>
                <a:srgbClr val="0070C0"/>
              </a:solidFill>
              <a:latin typeface="Abadi" panose="020B0604020104020204" pitchFamily="34" charset="0"/>
            </a:endParaRPr>
          </a:p>
          <a:p>
            <a:endParaRPr lang="pt-BR" sz="1800" dirty="0">
              <a:solidFill>
                <a:srgbClr val="FF0000"/>
              </a:solidFill>
              <a:latin typeface="Abadi" panose="020B0604020104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036C415-572E-215C-7A33-7EC0675FBE43}"/>
              </a:ext>
            </a:extLst>
          </p:cNvPr>
          <p:cNvSpPr txBox="1"/>
          <p:nvPr/>
        </p:nvSpPr>
        <p:spPr>
          <a:xfrm>
            <a:off x="651752" y="676232"/>
            <a:ext cx="113619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rgbClr val="0070C0"/>
                </a:solidFill>
              </a:rPr>
              <a:t>Identificando índices de elementos de um Vetor ou uma Matriz</a:t>
            </a:r>
          </a:p>
        </p:txBody>
      </p:sp>
    </p:spTree>
    <p:extLst>
      <p:ext uri="{BB962C8B-B14F-4D97-AF65-F5344CB8AC3E}">
        <p14:creationId xmlns:p14="http://schemas.microsoft.com/office/powerpoint/2010/main" val="33088276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C72CF19-5D25-28AB-29AD-F0677EB740CF}"/>
              </a:ext>
            </a:extLst>
          </p:cNvPr>
          <p:cNvSpPr txBox="1"/>
          <p:nvPr/>
        </p:nvSpPr>
        <p:spPr>
          <a:xfrm>
            <a:off x="315824" y="247045"/>
            <a:ext cx="11785384" cy="61247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400" dirty="0">
                <a:latin typeface="Abadi" panose="020B0604020104020204" pitchFamily="34" charset="0"/>
              </a:rPr>
              <a:t>Exemplo:  Em uma empresa, os funcionários são avaliados diariamente em suas tarefas. Cada linha da matriz representa um funcionário e cada coluna representa um dia da semana (5 dias úteis). O valor de cada célula é uma pontuação (de 0 a 10) que representa o desempenho do funcionário naquele dia.  Elabore programa que implemente funções para: a)Calcular a média semanal de desempenho de cada </a:t>
            </a:r>
            <a:r>
              <a:rPr lang="pt-BR" sz="1400" dirty="0" err="1">
                <a:latin typeface="Abadi" panose="020B0604020104020204" pitchFamily="34" charset="0"/>
              </a:rPr>
              <a:t>funcionário.b</a:t>
            </a:r>
            <a:r>
              <a:rPr lang="pt-BR" sz="1400" dirty="0">
                <a:latin typeface="Abadi" panose="020B0604020104020204" pitchFamily="34" charset="0"/>
              </a:rPr>
              <a:t>) Identificar o dia em que cada funcionário teve o melhor e o pior desempenho e c)Determinar o funcionário com o maior e o menor desempenho médio na semana.</a:t>
            </a:r>
          </a:p>
          <a:p>
            <a:endParaRPr lang="pt-BR" sz="1400" dirty="0">
              <a:latin typeface="Abadi" panose="020B0604020104020204" pitchFamily="34" charset="0"/>
            </a:endParaRPr>
          </a:p>
          <a:p>
            <a:r>
              <a:rPr lang="pt-BR" sz="1400" dirty="0" err="1">
                <a:latin typeface="Abadi" panose="020B0604020104020204" pitchFamily="34" charset="0"/>
              </a:rPr>
              <a:t>import</a:t>
            </a:r>
            <a:r>
              <a:rPr lang="pt-BR" sz="1400" dirty="0">
                <a:latin typeface="Abadi" panose="020B0604020104020204" pitchFamily="34" charset="0"/>
              </a:rPr>
              <a:t> </a:t>
            </a:r>
            <a:r>
              <a:rPr lang="pt-BR" sz="1400" dirty="0" err="1">
                <a:latin typeface="Abadi" panose="020B0604020104020204" pitchFamily="34" charset="0"/>
              </a:rPr>
              <a:t>numpy</a:t>
            </a:r>
            <a:r>
              <a:rPr lang="pt-BR" sz="1400" dirty="0">
                <a:latin typeface="Abadi" panose="020B0604020104020204" pitchFamily="34" charset="0"/>
              </a:rPr>
              <a:t> as </a:t>
            </a:r>
            <a:r>
              <a:rPr lang="pt-BR" sz="1400" dirty="0" err="1">
                <a:latin typeface="Abadi" panose="020B0604020104020204" pitchFamily="34" charset="0"/>
              </a:rPr>
              <a:t>np</a:t>
            </a:r>
            <a:endParaRPr lang="pt-BR" sz="1400" dirty="0">
              <a:latin typeface="Abadi" panose="020B0604020104020204" pitchFamily="34" charset="0"/>
            </a:endParaRPr>
          </a:p>
          <a:p>
            <a:r>
              <a:rPr lang="pt-BR" sz="1400" dirty="0">
                <a:latin typeface="Abadi" panose="020B0604020104020204" pitchFamily="34" charset="0"/>
              </a:rPr>
              <a:t># Criando a matriz de desempenho de funcionários</a:t>
            </a:r>
          </a:p>
          <a:p>
            <a:r>
              <a:rPr lang="pt-BR" sz="1400" dirty="0" err="1">
                <a:latin typeface="Abadi" panose="020B0604020104020204" pitchFamily="34" charset="0"/>
              </a:rPr>
              <a:t>funcionarios</a:t>
            </a:r>
            <a:r>
              <a:rPr lang="pt-BR" sz="1400" dirty="0">
                <a:latin typeface="Abadi" panose="020B0604020104020204" pitchFamily="34" charset="0"/>
              </a:rPr>
              <a:t> = </a:t>
            </a:r>
            <a:r>
              <a:rPr lang="pt-BR" sz="1400" dirty="0" err="1">
                <a:latin typeface="Abadi" panose="020B0604020104020204" pitchFamily="34" charset="0"/>
              </a:rPr>
              <a:t>int</a:t>
            </a:r>
            <a:r>
              <a:rPr lang="pt-BR" sz="1400" dirty="0">
                <a:latin typeface="Abadi" panose="020B0604020104020204" pitchFamily="34" charset="0"/>
              </a:rPr>
              <a:t>(input("Quantos funcionários? "))</a:t>
            </a:r>
          </a:p>
          <a:p>
            <a:r>
              <a:rPr lang="pt-BR" sz="1400" dirty="0">
                <a:latin typeface="Abadi" panose="020B0604020104020204" pitchFamily="34" charset="0"/>
              </a:rPr>
              <a:t>dias = 5</a:t>
            </a:r>
          </a:p>
          <a:p>
            <a:r>
              <a:rPr lang="pt-BR" sz="1400" dirty="0" err="1">
                <a:latin typeface="Abadi" panose="020B0604020104020204" pitchFamily="34" charset="0"/>
              </a:rPr>
              <a:t>matriz_desempenho</a:t>
            </a:r>
            <a:r>
              <a:rPr lang="pt-BR" sz="1400" dirty="0">
                <a:latin typeface="Abadi" panose="020B0604020104020204" pitchFamily="34" charset="0"/>
              </a:rPr>
              <a:t> = </a:t>
            </a:r>
            <a:r>
              <a:rPr lang="pt-BR" sz="1400" dirty="0" err="1">
                <a:latin typeface="Abadi" panose="020B0604020104020204" pitchFamily="34" charset="0"/>
              </a:rPr>
              <a:t>np.random.randint</a:t>
            </a:r>
            <a:r>
              <a:rPr lang="pt-BR" sz="1400" dirty="0">
                <a:latin typeface="Abadi" panose="020B0604020104020204" pitchFamily="34" charset="0"/>
              </a:rPr>
              <a:t>(0, 11, </a:t>
            </a:r>
            <a:r>
              <a:rPr lang="pt-BR" sz="1400" dirty="0" err="1">
                <a:latin typeface="Abadi" panose="020B0604020104020204" pitchFamily="34" charset="0"/>
              </a:rPr>
              <a:t>size</a:t>
            </a:r>
            <a:r>
              <a:rPr lang="pt-BR" sz="1400" dirty="0">
                <a:latin typeface="Abadi" panose="020B0604020104020204" pitchFamily="34" charset="0"/>
              </a:rPr>
              <a:t>=(</a:t>
            </a:r>
            <a:r>
              <a:rPr lang="pt-BR" sz="1400" dirty="0" err="1">
                <a:latin typeface="Abadi" panose="020B0604020104020204" pitchFamily="34" charset="0"/>
              </a:rPr>
              <a:t>funcionarios</a:t>
            </a:r>
            <a:r>
              <a:rPr lang="pt-BR" sz="1400" dirty="0">
                <a:latin typeface="Abadi" panose="020B0604020104020204" pitchFamily="34" charset="0"/>
              </a:rPr>
              <a:t>, dias))</a:t>
            </a:r>
          </a:p>
          <a:p>
            <a:endParaRPr lang="pt-BR" sz="1400" dirty="0">
              <a:latin typeface="Abadi" panose="020B0604020104020204" pitchFamily="34" charset="0"/>
            </a:endParaRPr>
          </a:p>
          <a:p>
            <a:r>
              <a:rPr lang="pt-BR" sz="1400" dirty="0" err="1">
                <a:latin typeface="Abadi" panose="020B0604020104020204" pitchFamily="34" charset="0"/>
              </a:rPr>
              <a:t>def</a:t>
            </a:r>
            <a:r>
              <a:rPr lang="pt-BR" sz="1400" dirty="0">
                <a:latin typeface="Abadi" panose="020B0604020104020204" pitchFamily="34" charset="0"/>
              </a:rPr>
              <a:t> </a:t>
            </a:r>
            <a:r>
              <a:rPr lang="pt-BR" sz="1400" dirty="0" err="1">
                <a:latin typeface="Abadi" panose="020B0604020104020204" pitchFamily="34" charset="0"/>
              </a:rPr>
              <a:t>media_desempenho</a:t>
            </a:r>
            <a:r>
              <a:rPr lang="pt-BR" sz="1400" dirty="0">
                <a:latin typeface="Abadi" panose="020B0604020104020204" pitchFamily="34" charset="0"/>
              </a:rPr>
              <a:t>(</a:t>
            </a:r>
            <a:r>
              <a:rPr lang="pt-BR" sz="1400" dirty="0" err="1">
                <a:latin typeface="Abadi" panose="020B0604020104020204" pitchFamily="34" charset="0"/>
              </a:rPr>
              <a:t>funcionarios</a:t>
            </a:r>
            <a:r>
              <a:rPr lang="pt-BR" sz="1400" dirty="0">
                <a:latin typeface="Abadi" panose="020B0604020104020204" pitchFamily="34" charset="0"/>
              </a:rPr>
              <a:t>):</a:t>
            </a:r>
          </a:p>
          <a:p>
            <a:r>
              <a:rPr lang="pt-BR" sz="1400" dirty="0">
                <a:latin typeface="Abadi" panose="020B0604020104020204" pitchFamily="34" charset="0"/>
              </a:rPr>
              <a:t>    </a:t>
            </a:r>
            <a:r>
              <a:rPr lang="pt-BR" sz="1400" dirty="0" err="1">
                <a:latin typeface="Abadi" panose="020B0604020104020204" pitchFamily="34" charset="0"/>
              </a:rPr>
              <a:t>return</a:t>
            </a:r>
            <a:r>
              <a:rPr lang="pt-BR" sz="1400" dirty="0">
                <a:latin typeface="Abadi" panose="020B0604020104020204" pitchFamily="34" charset="0"/>
              </a:rPr>
              <a:t> </a:t>
            </a:r>
            <a:r>
              <a:rPr lang="pt-BR" sz="1400" dirty="0" err="1">
                <a:latin typeface="Abadi" panose="020B0604020104020204" pitchFamily="34" charset="0"/>
              </a:rPr>
              <a:t>np.mean</a:t>
            </a:r>
            <a:r>
              <a:rPr lang="pt-BR" sz="1400" dirty="0">
                <a:latin typeface="Abadi" panose="020B0604020104020204" pitchFamily="34" charset="0"/>
              </a:rPr>
              <a:t>(</a:t>
            </a:r>
            <a:r>
              <a:rPr lang="pt-BR" sz="1400" dirty="0" err="1">
                <a:latin typeface="Abadi" panose="020B0604020104020204" pitchFamily="34" charset="0"/>
              </a:rPr>
              <a:t>matriz_desempenho</a:t>
            </a:r>
            <a:r>
              <a:rPr lang="pt-BR" sz="1400" dirty="0">
                <a:latin typeface="Abadi" panose="020B0604020104020204" pitchFamily="34" charset="0"/>
              </a:rPr>
              <a:t>, </a:t>
            </a:r>
            <a:r>
              <a:rPr lang="pt-BR" sz="1400" dirty="0" err="1">
                <a:latin typeface="Abadi" panose="020B0604020104020204" pitchFamily="34" charset="0"/>
              </a:rPr>
              <a:t>axis</a:t>
            </a:r>
            <a:r>
              <a:rPr lang="pt-BR" sz="1400" dirty="0">
                <a:latin typeface="Abadi" panose="020B0604020104020204" pitchFamily="34" charset="0"/>
              </a:rPr>
              <a:t>=1)</a:t>
            </a:r>
          </a:p>
          <a:p>
            <a:r>
              <a:rPr lang="pt-BR" sz="1400" dirty="0" err="1">
                <a:latin typeface="Abadi" panose="020B0604020104020204" pitchFamily="34" charset="0"/>
              </a:rPr>
              <a:t>def</a:t>
            </a:r>
            <a:r>
              <a:rPr lang="pt-BR" sz="1400" dirty="0">
                <a:latin typeface="Abadi" panose="020B0604020104020204" pitchFamily="34" charset="0"/>
              </a:rPr>
              <a:t> </a:t>
            </a:r>
            <a:r>
              <a:rPr lang="pt-BR" sz="1400" dirty="0" err="1">
                <a:latin typeface="Abadi" panose="020B0604020104020204" pitchFamily="34" charset="0"/>
              </a:rPr>
              <a:t>funcionario_melhor_desempenho</a:t>
            </a:r>
            <a:r>
              <a:rPr lang="pt-BR" sz="1400" dirty="0">
                <a:latin typeface="Abadi" panose="020B0604020104020204" pitchFamily="34" charset="0"/>
              </a:rPr>
              <a:t>(matriz):</a:t>
            </a:r>
          </a:p>
          <a:p>
            <a:r>
              <a:rPr lang="pt-BR" sz="1400" dirty="0">
                <a:latin typeface="Abadi" panose="020B0604020104020204" pitchFamily="34" charset="0"/>
              </a:rPr>
              <a:t>    </a:t>
            </a:r>
            <a:r>
              <a:rPr lang="pt-BR" sz="1400" dirty="0" err="1">
                <a:latin typeface="Abadi" panose="020B0604020104020204" pitchFamily="34" charset="0"/>
              </a:rPr>
              <a:t>return</a:t>
            </a:r>
            <a:r>
              <a:rPr lang="pt-BR" sz="1400" dirty="0">
                <a:latin typeface="Abadi" panose="020B0604020104020204" pitchFamily="34" charset="0"/>
              </a:rPr>
              <a:t> </a:t>
            </a:r>
            <a:r>
              <a:rPr lang="pt-BR" sz="1400" dirty="0" err="1">
                <a:latin typeface="Abadi" panose="020B0604020104020204" pitchFamily="34" charset="0"/>
              </a:rPr>
              <a:t>np.argmax</a:t>
            </a:r>
            <a:r>
              <a:rPr lang="pt-BR" sz="1400" dirty="0">
                <a:latin typeface="Abadi" panose="020B0604020104020204" pitchFamily="34" charset="0"/>
              </a:rPr>
              <a:t>(</a:t>
            </a:r>
            <a:r>
              <a:rPr lang="pt-BR" sz="1400" dirty="0" err="1">
                <a:latin typeface="Abadi" panose="020B0604020104020204" pitchFamily="34" charset="0"/>
              </a:rPr>
              <a:t>np.max</a:t>
            </a:r>
            <a:r>
              <a:rPr lang="pt-BR" sz="1400" dirty="0">
                <a:latin typeface="Abadi" panose="020B0604020104020204" pitchFamily="34" charset="0"/>
              </a:rPr>
              <a:t>(matriz, </a:t>
            </a:r>
            <a:r>
              <a:rPr lang="pt-BR" sz="1400" dirty="0" err="1">
                <a:latin typeface="Abadi" panose="020B0604020104020204" pitchFamily="34" charset="0"/>
              </a:rPr>
              <a:t>axis</a:t>
            </a:r>
            <a:r>
              <a:rPr lang="pt-BR" sz="1400" dirty="0">
                <a:latin typeface="Abadi" panose="020B0604020104020204" pitchFamily="34" charset="0"/>
              </a:rPr>
              <a:t>=1)) + 1  # Funcionários começam de 1</a:t>
            </a:r>
          </a:p>
          <a:p>
            <a:r>
              <a:rPr lang="pt-BR" sz="1400" dirty="0" err="1">
                <a:latin typeface="Abadi" panose="020B0604020104020204" pitchFamily="34" charset="0"/>
              </a:rPr>
              <a:t>def</a:t>
            </a:r>
            <a:r>
              <a:rPr lang="pt-BR" sz="1400" dirty="0">
                <a:latin typeface="Abadi" panose="020B0604020104020204" pitchFamily="34" charset="0"/>
              </a:rPr>
              <a:t> </a:t>
            </a:r>
            <a:r>
              <a:rPr lang="pt-BR" sz="1400" dirty="0" err="1">
                <a:latin typeface="Abadi" panose="020B0604020104020204" pitchFamily="34" charset="0"/>
              </a:rPr>
              <a:t>dia_melhor_desempenho</a:t>
            </a:r>
            <a:r>
              <a:rPr lang="pt-BR" sz="1400" dirty="0">
                <a:latin typeface="Abadi" panose="020B0604020104020204" pitchFamily="34" charset="0"/>
              </a:rPr>
              <a:t>(matriz):</a:t>
            </a:r>
          </a:p>
          <a:p>
            <a:r>
              <a:rPr lang="pt-BR" sz="1400" dirty="0">
                <a:latin typeface="Abadi" panose="020B0604020104020204" pitchFamily="34" charset="0"/>
              </a:rPr>
              <a:t>    </a:t>
            </a:r>
            <a:r>
              <a:rPr lang="pt-BR" sz="1400" dirty="0" err="1">
                <a:latin typeface="Abadi" panose="020B0604020104020204" pitchFamily="34" charset="0"/>
              </a:rPr>
              <a:t>return</a:t>
            </a:r>
            <a:r>
              <a:rPr lang="pt-BR" sz="1400" dirty="0">
                <a:latin typeface="Abadi" panose="020B0604020104020204" pitchFamily="34" charset="0"/>
              </a:rPr>
              <a:t> </a:t>
            </a:r>
            <a:r>
              <a:rPr lang="pt-BR" sz="1400" dirty="0" err="1">
                <a:latin typeface="Abadi" panose="020B0604020104020204" pitchFamily="34" charset="0"/>
              </a:rPr>
              <a:t>np.argmax</a:t>
            </a:r>
            <a:r>
              <a:rPr lang="pt-BR" sz="1400" dirty="0">
                <a:latin typeface="Abadi" panose="020B0604020104020204" pitchFamily="34" charset="0"/>
              </a:rPr>
              <a:t>(</a:t>
            </a:r>
            <a:r>
              <a:rPr lang="pt-BR" sz="1400" dirty="0" err="1">
                <a:latin typeface="Abadi" panose="020B0604020104020204" pitchFamily="34" charset="0"/>
              </a:rPr>
              <a:t>np.max</a:t>
            </a:r>
            <a:r>
              <a:rPr lang="pt-BR" sz="1400" dirty="0">
                <a:latin typeface="Abadi" panose="020B0604020104020204" pitchFamily="34" charset="0"/>
              </a:rPr>
              <a:t>(matriz, </a:t>
            </a:r>
            <a:r>
              <a:rPr lang="pt-BR" sz="1400" dirty="0" err="1">
                <a:latin typeface="Abadi" panose="020B0604020104020204" pitchFamily="34" charset="0"/>
              </a:rPr>
              <a:t>axis</a:t>
            </a:r>
            <a:r>
              <a:rPr lang="pt-BR" sz="1400" dirty="0">
                <a:latin typeface="Abadi" panose="020B0604020104020204" pitchFamily="34" charset="0"/>
              </a:rPr>
              <a:t>=0)) + 1  # Dias começam de 1</a:t>
            </a:r>
          </a:p>
          <a:p>
            <a:r>
              <a:rPr lang="pt-BR" sz="1400" dirty="0" err="1">
                <a:latin typeface="Abadi" panose="020B0604020104020204" pitchFamily="34" charset="0"/>
              </a:rPr>
              <a:t>def</a:t>
            </a:r>
            <a:r>
              <a:rPr lang="pt-BR" sz="1400" dirty="0">
                <a:latin typeface="Abadi" panose="020B0604020104020204" pitchFamily="34" charset="0"/>
              </a:rPr>
              <a:t> </a:t>
            </a:r>
            <a:r>
              <a:rPr lang="pt-BR" sz="1400" dirty="0" err="1">
                <a:latin typeface="Abadi" panose="020B0604020104020204" pitchFamily="34" charset="0"/>
              </a:rPr>
              <a:t>funcionario_maior_media</a:t>
            </a:r>
            <a:r>
              <a:rPr lang="pt-BR" sz="1400" dirty="0">
                <a:latin typeface="Abadi" panose="020B0604020104020204" pitchFamily="34" charset="0"/>
              </a:rPr>
              <a:t>(matriz):</a:t>
            </a:r>
          </a:p>
          <a:p>
            <a:r>
              <a:rPr lang="pt-BR" sz="1400" dirty="0">
                <a:latin typeface="Abadi" panose="020B0604020104020204" pitchFamily="34" charset="0"/>
              </a:rPr>
              <a:t>    </a:t>
            </a:r>
            <a:r>
              <a:rPr lang="pt-BR" sz="1400" dirty="0" err="1">
                <a:latin typeface="Abadi" panose="020B0604020104020204" pitchFamily="34" charset="0"/>
              </a:rPr>
              <a:t>return</a:t>
            </a:r>
            <a:r>
              <a:rPr lang="pt-BR" sz="1400" dirty="0">
                <a:latin typeface="Abadi" panose="020B0604020104020204" pitchFamily="34" charset="0"/>
              </a:rPr>
              <a:t> </a:t>
            </a:r>
            <a:r>
              <a:rPr lang="pt-BR" sz="1400" dirty="0" err="1">
                <a:latin typeface="Abadi" panose="020B0604020104020204" pitchFamily="34" charset="0"/>
              </a:rPr>
              <a:t>np.argmax</a:t>
            </a:r>
            <a:r>
              <a:rPr lang="pt-BR" sz="1400" dirty="0">
                <a:latin typeface="Abadi" panose="020B0604020104020204" pitchFamily="34" charset="0"/>
              </a:rPr>
              <a:t>(</a:t>
            </a:r>
            <a:r>
              <a:rPr lang="pt-BR" sz="1400" dirty="0" err="1">
                <a:latin typeface="Abadi" panose="020B0604020104020204" pitchFamily="34" charset="0"/>
              </a:rPr>
              <a:t>np.mean</a:t>
            </a:r>
            <a:r>
              <a:rPr lang="pt-BR" sz="1400" dirty="0">
                <a:latin typeface="Abadi" panose="020B0604020104020204" pitchFamily="34" charset="0"/>
              </a:rPr>
              <a:t>(matriz, </a:t>
            </a:r>
            <a:r>
              <a:rPr lang="pt-BR" sz="1400" dirty="0" err="1">
                <a:latin typeface="Abadi" panose="020B0604020104020204" pitchFamily="34" charset="0"/>
              </a:rPr>
              <a:t>axis</a:t>
            </a:r>
            <a:r>
              <a:rPr lang="pt-BR" sz="1400" dirty="0">
                <a:latin typeface="Abadi" panose="020B0604020104020204" pitchFamily="34" charset="0"/>
              </a:rPr>
              <a:t>=1)) + 1  # Funcionários começam de 1</a:t>
            </a:r>
          </a:p>
          <a:p>
            <a:r>
              <a:rPr lang="pt-BR" sz="1400" dirty="0" err="1">
                <a:latin typeface="Abadi" panose="020B0604020104020204" pitchFamily="34" charset="0"/>
              </a:rPr>
              <a:t>def</a:t>
            </a:r>
            <a:r>
              <a:rPr lang="pt-BR" sz="1400" dirty="0">
                <a:latin typeface="Abadi" panose="020B0604020104020204" pitchFamily="34" charset="0"/>
              </a:rPr>
              <a:t> </a:t>
            </a:r>
            <a:r>
              <a:rPr lang="pt-BR" sz="1400" dirty="0" err="1">
                <a:latin typeface="Abadi" panose="020B0604020104020204" pitchFamily="34" charset="0"/>
              </a:rPr>
              <a:t>funcionario_menor_media</a:t>
            </a:r>
            <a:r>
              <a:rPr lang="pt-BR" sz="1400" dirty="0">
                <a:latin typeface="Abadi" panose="020B0604020104020204" pitchFamily="34" charset="0"/>
              </a:rPr>
              <a:t>(matriz):</a:t>
            </a:r>
          </a:p>
          <a:p>
            <a:r>
              <a:rPr lang="pt-BR" sz="1400" dirty="0">
                <a:latin typeface="Abadi" panose="020B0604020104020204" pitchFamily="34" charset="0"/>
              </a:rPr>
              <a:t>    </a:t>
            </a:r>
            <a:r>
              <a:rPr lang="pt-BR" sz="1400" dirty="0" err="1">
                <a:latin typeface="Abadi" panose="020B0604020104020204" pitchFamily="34" charset="0"/>
              </a:rPr>
              <a:t>return</a:t>
            </a:r>
            <a:r>
              <a:rPr lang="pt-BR" sz="1400" dirty="0">
                <a:latin typeface="Abadi" panose="020B0604020104020204" pitchFamily="34" charset="0"/>
              </a:rPr>
              <a:t> </a:t>
            </a:r>
            <a:r>
              <a:rPr lang="pt-BR" sz="1400" dirty="0" err="1">
                <a:latin typeface="Abadi" panose="020B0604020104020204" pitchFamily="34" charset="0"/>
              </a:rPr>
              <a:t>np.argmin</a:t>
            </a:r>
            <a:r>
              <a:rPr lang="pt-BR" sz="1400" dirty="0">
                <a:latin typeface="Abadi" panose="020B0604020104020204" pitchFamily="34" charset="0"/>
              </a:rPr>
              <a:t>(</a:t>
            </a:r>
            <a:r>
              <a:rPr lang="pt-BR" sz="1400" dirty="0" err="1">
                <a:latin typeface="Abadi" panose="020B0604020104020204" pitchFamily="34" charset="0"/>
              </a:rPr>
              <a:t>np.mean</a:t>
            </a:r>
            <a:r>
              <a:rPr lang="pt-BR" sz="1400" dirty="0">
                <a:latin typeface="Abadi" panose="020B0604020104020204" pitchFamily="34" charset="0"/>
              </a:rPr>
              <a:t>(matriz, </a:t>
            </a:r>
            <a:r>
              <a:rPr lang="pt-BR" sz="1400" dirty="0" err="1">
                <a:latin typeface="Abadi" panose="020B0604020104020204" pitchFamily="34" charset="0"/>
              </a:rPr>
              <a:t>axis</a:t>
            </a:r>
            <a:r>
              <a:rPr lang="pt-BR" sz="1400" dirty="0">
                <a:latin typeface="Abadi" panose="020B0604020104020204" pitchFamily="34" charset="0"/>
              </a:rPr>
              <a:t>=1)) + 1  # Funcionários começam de 1</a:t>
            </a:r>
          </a:p>
          <a:p>
            <a:endParaRPr lang="pt-BR" sz="1400" dirty="0">
              <a:latin typeface="Abadi" panose="020B0604020104020204" pitchFamily="34" charset="0"/>
            </a:endParaRPr>
          </a:p>
          <a:p>
            <a:r>
              <a:rPr lang="pt-BR" sz="1400" dirty="0">
                <a:latin typeface="Abadi" panose="020B0604020104020204" pitchFamily="34" charset="0"/>
              </a:rPr>
              <a:t># Exibindo resultados</a:t>
            </a:r>
          </a:p>
          <a:p>
            <a:r>
              <a:rPr lang="pt-BR" sz="1400" dirty="0">
                <a:latin typeface="Abadi" panose="020B0604020104020204" pitchFamily="34" charset="0"/>
              </a:rPr>
              <a:t>print(</a:t>
            </a:r>
            <a:r>
              <a:rPr lang="pt-BR" sz="1400" dirty="0" err="1">
                <a:latin typeface="Abadi" panose="020B0604020104020204" pitchFamily="34" charset="0"/>
              </a:rPr>
              <a:t>f"Média</a:t>
            </a:r>
            <a:r>
              <a:rPr lang="pt-BR" sz="1400" dirty="0">
                <a:latin typeface="Abadi" panose="020B0604020104020204" pitchFamily="34" charset="0"/>
              </a:rPr>
              <a:t> semanal de desempenho por funcionário: {</a:t>
            </a:r>
            <a:r>
              <a:rPr lang="pt-BR" sz="1400" dirty="0" err="1">
                <a:latin typeface="Abadi" panose="020B0604020104020204" pitchFamily="34" charset="0"/>
              </a:rPr>
              <a:t>media_desempenho</a:t>
            </a:r>
            <a:r>
              <a:rPr lang="pt-BR" sz="1400" dirty="0">
                <a:latin typeface="Abadi" panose="020B0604020104020204" pitchFamily="34" charset="0"/>
              </a:rPr>
              <a:t>(</a:t>
            </a:r>
            <a:r>
              <a:rPr lang="pt-BR" sz="1400" dirty="0" err="1">
                <a:latin typeface="Abadi" panose="020B0604020104020204" pitchFamily="34" charset="0"/>
              </a:rPr>
              <a:t>matriz_desempenho</a:t>
            </a:r>
            <a:r>
              <a:rPr lang="pt-BR" sz="1400" dirty="0">
                <a:latin typeface="Abadi" panose="020B0604020104020204" pitchFamily="34" charset="0"/>
              </a:rPr>
              <a:t>)}")</a:t>
            </a:r>
          </a:p>
          <a:p>
            <a:r>
              <a:rPr lang="pt-BR" sz="1400" dirty="0">
                <a:latin typeface="Abadi" panose="020B0604020104020204" pitchFamily="34" charset="0"/>
              </a:rPr>
              <a:t>print(</a:t>
            </a:r>
            <a:r>
              <a:rPr lang="pt-BR" sz="1400" dirty="0" err="1">
                <a:latin typeface="Abadi" panose="020B0604020104020204" pitchFamily="34" charset="0"/>
              </a:rPr>
              <a:t>f"Funcionário</a:t>
            </a:r>
            <a:r>
              <a:rPr lang="pt-BR" sz="1400" dirty="0">
                <a:latin typeface="Abadi" panose="020B0604020104020204" pitchFamily="34" charset="0"/>
              </a:rPr>
              <a:t> com maior desempenho médio: {</a:t>
            </a:r>
            <a:r>
              <a:rPr lang="pt-BR" sz="1400" dirty="0" err="1">
                <a:latin typeface="Abadi" panose="020B0604020104020204" pitchFamily="34" charset="0"/>
              </a:rPr>
              <a:t>funcionario_maior_media</a:t>
            </a:r>
            <a:r>
              <a:rPr lang="pt-BR" sz="1400" dirty="0">
                <a:latin typeface="Abadi" panose="020B0604020104020204" pitchFamily="34" charset="0"/>
              </a:rPr>
              <a:t>(</a:t>
            </a:r>
            <a:r>
              <a:rPr lang="pt-BR" sz="1400" dirty="0" err="1">
                <a:latin typeface="Abadi" panose="020B0604020104020204" pitchFamily="34" charset="0"/>
              </a:rPr>
              <a:t>matriz_desempenho</a:t>
            </a:r>
            <a:r>
              <a:rPr lang="pt-BR" sz="1400" dirty="0">
                <a:latin typeface="Abadi" panose="020B0604020104020204" pitchFamily="34" charset="0"/>
              </a:rPr>
              <a:t>)}")</a:t>
            </a:r>
          </a:p>
          <a:p>
            <a:r>
              <a:rPr lang="pt-BR" sz="1400" dirty="0">
                <a:latin typeface="Abadi" panose="020B0604020104020204" pitchFamily="34" charset="0"/>
              </a:rPr>
              <a:t>print(</a:t>
            </a:r>
            <a:r>
              <a:rPr lang="pt-BR" sz="1400" dirty="0" err="1">
                <a:latin typeface="Abadi" panose="020B0604020104020204" pitchFamily="34" charset="0"/>
              </a:rPr>
              <a:t>f"Funcionário</a:t>
            </a:r>
            <a:r>
              <a:rPr lang="pt-BR" sz="1400" dirty="0">
                <a:latin typeface="Abadi" panose="020B0604020104020204" pitchFamily="34" charset="0"/>
              </a:rPr>
              <a:t> com menor desempenho médio: {</a:t>
            </a:r>
            <a:r>
              <a:rPr lang="pt-BR" sz="1400" dirty="0" err="1">
                <a:latin typeface="Abadi" panose="020B0604020104020204" pitchFamily="34" charset="0"/>
              </a:rPr>
              <a:t>funcionario_menor_media</a:t>
            </a:r>
            <a:r>
              <a:rPr lang="pt-BR" sz="1400" dirty="0">
                <a:latin typeface="Abadi" panose="020B0604020104020204" pitchFamily="34" charset="0"/>
              </a:rPr>
              <a:t>(</a:t>
            </a:r>
            <a:r>
              <a:rPr lang="pt-BR" sz="1400" dirty="0" err="1">
                <a:latin typeface="Abadi" panose="020B0604020104020204" pitchFamily="34" charset="0"/>
              </a:rPr>
              <a:t>matriz_desempenho</a:t>
            </a:r>
            <a:r>
              <a:rPr lang="pt-BR" sz="1400" dirty="0">
                <a:latin typeface="Abadi" panose="020B0604020104020204" pitchFamily="34" charset="0"/>
              </a:rPr>
              <a:t>)}")</a:t>
            </a:r>
          </a:p>
          <a:p>
            <a:r>
              <a:rPr lang="pt-BR" sz="1400" dirty="0">
                <a:latin typeface="Abadi" panose="020B0604020104020204" pitchFamily="34" charset="0"/>
              </a:rPr>
              <a:t>print(</a:t>
            </a:r>
            <a:r>
              <a:rPr lang="pt-BR" sz="1400" dirty="0" err="1">
                <a:latin typeface="Abadi" panose="020B0604020104020204" pitchFamily="34" charset="0"/>
              </a:rPr>
              <a:t>f"Dia</a:t>
            </a:r>
            <a:r>
              <a:rPr lang="pt-BR" sz="1400" dirty="0">
                <a:latin typeface="Abadi" panose="020B0604020104020204" pitchFamily="34" charset="0"/>
              </a:rPr>
              <a:t> de melhor desempenho: {</a:t>
            </a:r>
            <a:r>
              <a:rPr lang="pt-BR" sz="1400" dirty="0" err="1">
                <a:latin typeface="Abadi" panose="020B0604020104020204" pitchFamily="34" charset="0"/>
              </a:rPr>
              <a:t>dia_melhor_desempenho</a:t>
            </a:r>
            <a:r>
              <a:rPr lang="pt-BR" sz="1400" dirty="0">
                <a:latin typeface="Abadi" panose="020B0604020104020204" pitchFamily="34" charset="0"/>
              </a:rPr>
              <a:t>(</a:t>
            </a:r>
            <a:r>
              <a:rPr lang="pt-BR" sz="1400" dirty="0" err="1">
                <a:latin typeface="Abadi" panose="020B0604020104020204" pitchFamily="34" charset="0"/>
              </a:rPr>
              <a:t>matriz_desempenho</a:t>
            </a:r>
            <a:r>
              <a:rPr lang="pt-BR" sz="1400" dirty="0">
                <a:latin typeface="Abadi" panose="020B0604020104020204" pitchFamily="34" charset="0"/>
              </a:rPr>
              <a:t>)}")</a:t>
            </a:r>
          </a:p>
        </p:txBody>
      </p:sp>
    </p:spTree>
    <p:extLst>
      <p:ext uri="{BB962C8B-B14F-4D97-AF65-F5344CB8AC3E}">
        <p14:creationId xmlns:p14="http://schemas.microsoft.com/office/powerpoint/2010/main" val="1987387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10546" y="0"/>
            <a:ext cx="11664893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 err="1">
                <a:solidFill>
                  <a:srgbClr val="FF0000"/>
                </a:solidFill>
              </a:rPr>
              <a:t>Exercicio</a:t>
            </a:r>
            <a:r>
              <a:rPr lang="pt-BR" sz="3200" b="1" dirty="0">
                <a:solidFill>
                  <a:srgbClr val="FF0000"/>
                </a:solidFill>
              </a:rPr>
              <a:t> 21</a:t>
            </a:r>
          </a:p>
          <a:p>
            <a:endParaRPr lang="pt-BR" sz="1600" dirty="0">
              <a:latin typeface="Abadi" panose="020B0604020104020204" pitchFamily="34" charset="0"/>
            </a:endParaRPr>
          </a:p>
          <a:p>
            <a:r>
              <a:rPr lang="pt-BR" sz="1600" dirty="0">
                <a:latin typeface="Abadi" panose="020B0604020104020204" pitchFamily="34" charset="0"/>
              </a:rPr>
              <a:t> 1 - Escreva um programa que leia o numero de elementos de tamanho de todas as posições de uma matriz 5x5. O programa deve então exibir o número de posições não nulas na matriz.</a:t>
            </a:r>
          </a:p>
          <a:p>
            <a:endParaRPr lang="pt-BR" sz="16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600" dirty="0">
                <a:latin typeface="Abadi" panose="020B0604020104020204" pitchFamily="34" charset="0"/>
              </a:rPr>
              <a:t>2 - Elabore um programa em Python que :</a:t>
            </a:r>
          </a:p>
          <a:p>
            <a:pPr marL="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latin typeface="Abadi" panose="020B0604020104020204" pitchFamily="34" charset="0"/>
              </a:rPr>
              <a:t>Leia uma matriz1 de dimensão 3,3.  e Leia uma matriz2 de dimensão 3,3</a:t>
            </a:r>
          </a:p>
          <a:p>
            <a:pPr marL="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latin typeface="Abadi" panose="020B0604020104020204" pitchFamily="34" charset="0"/>
              </a:rPr>
              <a:t>Apresente um menu para escolher a operação a ser realizada:</a:t>
            </a:r>
          </a:p>
          <a:p>
            <a:pPr marL="0" lvl="3">
              <a:lnSpc>
                <a:spcPct val="150000"/>
              </a:lnSpc>
            </a:pPr>
            <a:r>
              <a:rPr lang="pt-BR" sz="1600" dirty="0">
                <a:latin typeface="Abadi" panose="020B0604020104020204" pitchFamily="34" charset="0"/>
              </a:rPr>
              <a:t>   a) - Imprima as matrizes matriz1 e matriz2.</a:t>
            </a:r>
          </a:p>
          <a:p>
            <a:pPr marL="0" lvl="3">
              <a:lnSpc>
                <a:spcPct val="150000"/>
              </a:lnSpc>
            </a:pPr>
            <a:r>
              <a:rPr lang="pt-BR" sz="1600" dirty="0">
                <a:latin typeface="Abadi" panose="020B0604020104020204" pitchFamily="34" charset="0"/>
              </a:rPr>
              <a:t>   b) - Calcule e imprima a soma de todos os elementos da matriz1 com a matriz2</a:t>
            </a:r>
          </a:p>
          <a:p>
            <a:pPr marL="0" lvl="3">
              <a:lnSpc>
                <a:spcPct val="150000"/>
              </a:lnSpc>
            </a:pPr>
            <a:r>
              <a:rPr lang="pt-BR" sz="1600" dirty="0">
                <a:latin typeface="Abadi" panose="020B0604020104020204" pitchFamily="34" charset="0"/>
              </a:rPr>
              <a:t>    c) -  Calcule e imprima a multiplicação dos elementos da  matriz1 com matriz2</a:t>
            </a:r>
          </a:p>
          <a:p>
            <a:pPr marL="0" lvl="3">
              <a:lnSpc>
                <a:spcPct val="150000"/>
              </a:lnSpc>
            </a:pPr>
            <a:r>
              <a:rPr lang="pt-BR" sz="1600" dirty="0">
                <a:latin typeface="Abadi" panose="020B0604020104020204" pitchFamily="34" charset="0"/>
              </a:rPr>
              <a:t>    d) – Calcula e imprima a subtração dos elementos da de matriz1 com matriz2</a:t>
            </a:r>
          </a:p>
          <a:p>
            <a:pPr marL="0" lvl="3">
              <a:lnSpc>
                <a:spcPct val="150000"/>
              </a:lnSpc>
            </a:pPr>
            <a:endParaRPr lang="pt-BR" sz="1600" dirty="0">
              <a:latin typeface="Abadi" panose="020B0604020104020204" pitchFamily="34" charset="0"/>
            </a:endParaRPr>
          </a:p>
          <a:p>
            <a:r>
              <a:rPr lang="pt-BR" sz="1600" dirty="0">
                <a:latin typeface="Abadi" panose="020B0604020104020204" pitchFamily="34" charset="0"/>
              </a:rPr>
              <a:t>3 : Monitoramento de Consumo de Energia - Imagine que você trabalha em uma empresa de energia e precisa monitorar o consumo de energia em diferentes bairros de uma cidade ao longo de uma semana. Crie uma matriz onde cada linha representa um dia da semana (7 dias) e cada coluna representa um bairro. O valor de cada célula indica o consumo de energia em kilowatts/hora para um bairro específico em um determinado dia. </a:t>
            </a:r>
          </a:p>
          <a:p>
            <a:endParaRPr lang="pt-BR" sz="1600" dirty="0">
              <a:latin typeface="Abadi" panose="020B0604020104020204" pitchFamily="34" charset="0"/>
            </a:endParaRPr>
          </a:p>
          <a:p>
            <a:r>
              <a:rPr lang="pt-BR" sz="1600" dirty="0">
                <a:latin typeface="Abadi" panose="020B0604020104020204" pitchFamily="34" charset="0"/>
              </a:rPr>
              <a:t>Implemente funções para:</a:t>
            </a:r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Abadi" panose="020B0604020104020204" pitchFamily="34" charset="0"/>
              </a:rPr>
              <a:t>Calcular o consumo médio semanal de cada bairro.</a:t>
            </a:r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Abadi" panose="020B0604020104020204" pitchFamily="34" charset="0"/>
              </a:rPr>
              <a:t>Identificar o dia de maior consumo para cada bairro.</a:t>
            </a:r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Abadi" panose="020B0604020104020204" pitchFamily="34" charset="0"/>
              </a:rPr>
              <a:t>Determinar o bairro com maior e menor consumo ao longo da semana.</a:t>
            </a:r>
          </a:p>
        </p:txBody>
      </p:sp>
    </p:spTree>
    <p:extLst>
      <p:ext uri="{BB962C8B-B14F-4D97-AF65-F5344CB8AC3E}">
        <p14:creationId xmlns:p14="http://schemas.microsoft.com/office/powerpoint/2010/main" val="36546198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8CAC73C1-BE50-6D58-7CC8-1CF4F5349D1B}"/>
              </a:ext>
            </a:extLst>
          </p:cNvPr>
          <p:cNvSpPr txBox="1"/>
          <p:nvPr/>
        </p:nvSpPr>
        <p:spPr>
          <a:xfrm>
            <a:off x="308042" y="1274564"/>
            <a:ext cx="11575915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buFont typeface="Arial" panose="020B0604020202020204" pitchFamily="34" charset="0"/>
              <a:buChar char="•"/>
            </a:pPr>
            <a:endParaRPr lang="pt-BR" sz="1600" dirty="0">
              <a:latin typeface="Abadi" panose="020B0604020104020204" pitchFamily="34" charset="0"/>
            </a:endParaRPr>
          </a:p>
          <a:p>
            <a:r>
              <a:rPr lang="pt-BR" sz="1600" dirty="0">
                <a:latin typeface="Abadi" panose="020B0604020104020204" pitchFamily="34" charset="0"/>
              </a:rPr>
              <a:t>4 : Análise de Desempenho de Vendas - Uma loja possui uma matriz de vendas diárias de diferentes produtos durante um mês (30 dias). </a:t>
            </a:r>
          </a:p>
          <a:p>
            <a:r>
              <a:rPr lang="pt-BR" sz="1600" dirty="0">
                <a:latin typeface="Abadi" panose="020B0604020104020204" pitchFamily="34" charset="0"/>
              </a:rPr>
              <a:t>Cada linha representa um dia e cada coluna representa um produto. O valor de cada célula representa  o número de unidades vendidas de um produto específico em um determinado dia. Implemente funções para:</a:t>
            </a:r>
          </a:p>
          <a:p>
            <a:endParaRPr lang="pt-BR" sz="1600" dirty="0">
              <a:latin typeface="Abadi" panose="020B0604020104020204" pitchFamily="34" charset="0"/>
            </a:endParaRPr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Abadi" panose="020B0604020104020204" pitchFamily="34" charset="0"/>
              </a:rPr>
              <a:t>Calcular o total de vendas mensais por produto.</a:t>
            </a:r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Abadi" panose="020B0604020104020204" pitchFamily="34" charset="0"/>
              </a:rPr>
              <a:t>Encontrar o produto mais vendido e o menos vendido.</a:t>
            </a:r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Abadi" panose="020B0604020104020204" pitchFamily="34" charset="0"/>
              </a:rPr>
              <a:t>Determinar o dia com maior volume total de vendas.</a:t>
            </a:r>
          </a:p>
          <a:p>
            <a:endParaRPr lang="pt-BR" sz="1600" dirty="0">
              <a:latin typeface="Abadi" panose="020B0604020104020204" pitchFamily="34" charset="0"/>
            </a:endParaRPr>
          </a:p>
          <a:p>
            <a:r>
              <a:rPr lang="pt-BR" sz="1600" dirty="0">
                <a:latin typeface="Abadi" panose="020B0604020104020204" pitchFamily="34" charset="0"/>
              </a:rPr>
              <a:t>5: Controle de Produção em uma Fábrica - Uma fábrica monitora a quantidade de itens produzidos por turno (manhã, tarde e noite) durante uma semana. Crie uma matriz onde cada linha representa um dia da semana e cada coluna representa um turno. O valor de cada célula é o número de itens produzidos em um determinado turno. Implemente funções para:</a:t>
            </a:r>
          </a:p>
          <a:p>
            <a:endParaRPr lang="pt-BR" dirty="0"/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Abadi" panose="020B0604020104020204" pitchFamily="34" charset="0"/>
              </a:rPr>
              <a:t>Calcular a produção total semanal por turno.</a:t>
            </a:r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Abadi" panose="020B0604020104020204" pitchFamily="34" charset="0"/>
              </a:rPr>
              <a:t>Identificar o turno com a maior produção total na semana.</a:t>
            </a:r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Abadi" panose="020B0604020104020204" pitchFamily="34" charset="0"/>
              </a:rPr>
              <a:t>Determinar o dia com a menor produção total e o dia com a maior produção total.</a:t>
            </a:r>
            <a:endParaRPr lang="pt-BR" sz="1400" dirty="0">
              <a:latin typeface="Abadi" panose="020B0604020104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354D9EB-AE5F-31B0-382C-AA1A3028111E}"/>
              </a:ext>
            </a:extLst>
          </p:cNvPr>
          <p:cNvSpPr txBox="1"/>
          <p:nvPr/>
        </p:nvSpPr>
        <p:spPr>
          <a:xfrm>
            <a:off x="419802" y="22681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 err="1">
                <a:solidFill>
                  <a:srgbClr val="FF0000"/>
                </a:solidFill>
              </a:rPr>
              <a:t>Exercicio</a:t>
            </a:r>
            <a:r>
              <a:rPr lang="pt-BR" sz="2800" b="1" dirty="0">
                <a:solidFill>
                  <a:srgbClr val="FF0000"/>
                </a:solidFill>
              </a:rPr>
              <a:t> 21(</a:t>
            </a:r>
            <a:r>
              <a:rPr lang="pt-BR" sz="2800" b="1" dirty="0" err="1">
                <a:solidFill>
                  <a:srgbClr val="FF0000"/>
                </a:solidFill>
              </a:rPr>
              <a:t>Cont</a:t>
            </a:r>
            <a:r>
              <a:rPr lang="pt-BR" sz="2800" b="1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176596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ACE1523-FAAF-DC37-B414-A885A9410B1A}"/>
              </a:ext>
            </a:extLst>
          </p:cNvPr>
          <p:cNvSpPr txBox="1"/>
          <p:nvPr/>
        </p:nvSpPr>
        <p:spPr>
          <a:xfrm>
            <a:off x="331821" y="1621218"/>
            <a:ext cx="1173155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latin typeface="Abadi" panose="020B0604020104020204" pitchFamily="34" charset="0"/>
              </a:rPr>
              <a:t>6: Análise de Desempenho de Atletas em uma Competição - Uma equipe de atletas está participando de uma competição com várias modalidades. </a:t>
            </a:r>
          </a:p>
          <a:p>
            <a:r>
              <a:rPr lang="pt-BR" sz="1400" dirty="0">
                <a:latin typeface="Abadi" panose="020B0604020104020204" pitchFamily="34" charset="0"/>
              </a:rPr>
              <a:t>Cada atleta participa de uma modalidade diferente em cada dia, e os resultados são armazenados em uma matriz onde cada linha representa um atleta e cada coluna representa uma modalidade. Cada célula da matriz contém a pontuação de um atleta em uma modalidade. Implemente funções para:</a:t>
            </a:r>
          </a:p>
          <a:p>
            <a:endParaRPr lang="pt-BR" sz="1400" dirty="0">
              <a:latin typeface="Abadi" panose="020B0604020104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Abadi" panose="020B0604020104020204" pitchFamily="34" charset="0"/>
              </a:rPr>
              <a:t>Calcular a média de pontuação de cada atleta.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Abadi" panose="020B0604020104020204" pitchFamily="34" charset="0"/>
              </a:rPr>
              <a:t>Encontrar o atleta com a maior pontuação em cada modalidade.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Abadi" panose="020B0604020104020204" pitchFamily="34" charset="0"/>
              </a:rPr>
              <a:t>Determinar a modalidade com a maior e a menor média de pontuação.</a:t>
            </a:r>
          </a:p>
          <a:p>
            <a:endParaRPr lang="pt-BR" sz="1400" dirty="0">
              <a:latin typeface="Abadi" panose="020B0604020104020204" pitchFamily="34" charset="0"/>
            </a:endParaRPr>
          </a:p>
          <a:p>
            <a:endParaRPr lang="pt-BR" sz="1400" dirty="0">
              <a:latin typeface="Abadi" panose="020B0604020104020204" pitchFamily="34" charset="0"/>
            </a:endParaRPr>
          </a:p>
          <a:p>
            <a:r>
              <a:rPr lang="pt-BR" sz="1400" dirty="0">
                <a:latin typeface="Abadi" panose="020B0604020104020204" pitchFamily="34" charset="0"/>
              </a:rPr>
              <a:t>7: Monitoramento de Qualidade da Água em Reservatórios -  Uma empresa monitora a qualidade da água em diferentes reservatórios de uma cidade ao longo de um mês. Crie uma matriz onde cada linha representa um dia e cada coluna representa um reservatório. O valor de cada célula indica o nível de pureza da água (em porcentagem) em um determinado reservatório em um dia específico. Implemente funções para:</a:t>
            </a:r>
          </a:p>
          <a:p>
            <a:endParaRPr lang="pt-BR" sz="1400" dirty="0">
              <a:latin typeface="Abadi" panose="020B0604020104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Abadi" panose="020B0604020104020204" pitchFamily="34" charset="0"/>
              </a:rPr>
              <a:t>Calcular o nível médio de pureza da água de cada reservatório durante o mês.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Abadi" panose="020B0604020104020204" pitchFamily="34" charset="0"/>
              </a:rPr>
              <a:t>Encontrar o dia com a melhor e a pior qualidade de água em cada reservatório.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Abadi" panose="020B0604020104020204" pitchFamily="34" charset="0"/>
              </a:rPr>
              <a:t>Identificar o reservatório com o maior e o menor nível médio de pureza no mês.</a:t>
            </a:r>
          </a:p>
          <a:p>
            <a:endParaRPr lang="pt-BR" sz="1400" dirty="0">
              <a:latin typeface="Abadi" panose="020B0604020104020204" pitchFamily="34" charset="0"/>
            </a:endParaRPr>
          </a:p>
          <a:p>
            <a:endParaRPr lang="pt-BR" sz="1400" dirty="0">
              <a:latin typeface="Abadi" panose="020B0604020104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9E80557-9D28-44CC-D2E4-2D35928E5FEB}"/>
              </a:ext>
            </a:extLst>
          </p:cNvPr>
          <p:cNvSpPr txBox="1"/>
          <p:nvPr/>
        </p:nvSpPr>
        <p:spPr>
          <a:xfrm>
            <a:off x="331821" y="20649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 err="1">
                <a:solidFill>
                  <a:srgbClr val="FF0000"/>
                </a:solidFill>
              </a:rPr>
              <a:t>Exercicio</a:t>
            </a:r>
            <a:r>
              <a:rPr lang="pt-BR" sz="2400" b="1" dirty="0">
                <a:solidFill>
                  <a:srgbClr val="FF0000"/>
                </a:solidFill>
              </a:rPr>
              <a:t> 21(</a:t>
            </a:r>
            <a:r>
              <a:rPr lang="pt-BR" sz="2400" b="1" dirty="0" err="1">
                <a:solidFill>
                  <a:srgbClr val="FF0000"/>
                </a:solidFill>
              </a:rPr>
              <a:t>Cont</a:t>
            </a:r>
            <a:r>
              <a:rPr lang="pt-BR" sz="2400" b="1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207315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04799" y="203200"/>
            <a:ext cx="1161142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FF0000"/>
                </a:solidFill>
              </a:rPr>
              <a:t>Exercícios 22 – Elabore os seguintes programas </a:t>
            </a:r>
          </a:p>
          <a:p>
            <a:endParaRPr lang="pt-BR" dirty="0"/>
          </a:p>
          <a:p>
            <a:r>
              <a:rPr lang="pt-BR" dirty="0"/>
              <a:t>1 - Escreva um programa que leia 10 números inteiros e os armazene em um vetor. Imprima o vetor, o maior elemento e a posição que ele se encontra. </a:t>
            </a:r>
          </a:p>
          <a:p>
            <a:endParaRPr lang="pt-BR" dirty="0"/>
          </a:p>
          <a:p>
            <a:r>
              <a:rPr lang="pt-BR" dirty="0"/>
              <a:t>2 - Elabore um programa para ler a nota da prova de 15 alunos e armazene num vetor, calcule e imprima a media geral.</a:t>
            </a:r>
          </a:p>
          <a:p>
            <a:endParaRPr lang="pt-BR" dirty="0"/>
          </a:p>
          <a:p>
            <a:r>
              <a:rPr lang="pt-BR" dirty="0"/>
              <a:t>3 - Elabore um programa que preencha um vetor com 10 números reais, calcule e mostre a quantidade de números negativos e a soma dos números positivos desse vetor.</a:t>
            </a:r>
          </a:p>
          <a:p>
            <a:endParaRPr lang="pt-BR" dirty="0"/>
          </a:p>
          <a:p>
            <a:r>
              <a:rPr lang="pt-BR" dirty="0"/>
              <a:t>4 - Fazer um programa para ler 5 valores e, em seguida, mostrar a posição onde se encontram o maior e o menor valor.</a:t>
            </a:r>
          </a:p>
          <a:p>
            <a:endParaRPr lang="pt" dirty="0"/>
          </a:p>
          <a:p>
            <a:r>
              <a:rPr lang="pt-BR" dirty="0"/>
              <a:t>5 - Faca um programa que leia um vetor de 10 posições e verifique se existem valores iguais e os escreva na tela.</a:t>
            </a:r>
          </a:p>
          <a:p>
            <a:endParaRPr lang="pt-BR" dirty="0"/>
          </a:p>
          <a:p>
            <a:r>
              <a:rPr lang="pt-BR" dirty="0"/>
              <a:t>6 -  Leia um vetor com 20 números inteiros. Escreva os elementos do vetor eliminando elementos repetidos.</a:t>
            </a:r>
          </a:p>
          <a:p>
            <a:endParaRPr lang="pt-BR" dirty="0"/>
          </a:p>
          <a:p>
            <a:r>
              <a:rPr lang="pt-BR" dirty="0"/>
              <a:t>7 - Faca um programa que leia um vetor de 5 posições para números reais e, depois, um código inteiro. Se o código for zero, finalize o programa; se for 1, mostre o vetor na ordem direta; se for 2, mostre o vetor na ordem inversa. Caso, o código for diferente de 1 e 2 escreva uma mensagem informando que o código e invalido. </a:t>
            </a:r>
          </a:p>
          <a:p>
            <a:endParaRPr lang="pt-BR" dirty="0"/>
          </a:p>
          <a:p>
            <a:r>
              <a:rPr lang="pt-BR" dirty="0"/>
              <a:t>8 - Leia um vetor de 10 posições e atribua valor 0 para todos os elementos que possuírem valores negativos.</a:t>
            </a:r>
          </a:p>
        </p:txBody>
      </p:sp>
    </p:spTree>
    <p:extLst>
      <p:ext uri="{BB962C8B-B14F-4D97-AF65-F5344CB8AC3E}">
        <p14:creationId xmlns:p14="http://schemas.microsoft.com/office/powerpoint/2010/main" val="10331438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04799" y="203200"/>
            <a:ext cx="1188720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>
                <a:solidFill>
                  <a:srgbClr val="FF0000"/>
                </a:solidFill>
              </a:rPr>
              <a:t>Exercícios 2</a:t>
            </a:r>
            <a:r>
              <a:rPr lang="pt-BR" sz="3600" b="1" dirty="0">
                <a:solidFill>
                  <a:srgbClr val="FF0000"/>
                </a:solidFill>
              </a:rPr>
              <a:t>2</a:t>
            </a:r>
            <a:r>
              <a:rPr lang="pt-BR" sz="3600" b="1">
                <a:solidFill>
                  <a:srgbClr val="FF0000"/>
                </a:solidFill>
              </a:rPr>
              <a:t> </a:t>
            </a:r>
            <a:r>
              <a:rPr lang="pt-BR" sz="3600" b="1" dirty="0">
                <a:solidFill>
                  <a:srgbClr val="FF0000"/>
                </a:solidFill>
              </a:rPr>
              <a:t>– Elabore os seguintes programas (cont.) </a:t>
            </a:r>
          </a:p>
          <a:p>
            <a:endParaRPr lang="pt-BR" dirty="0"/>
          </a:p>
          <a:p>
            <a:r>
              <a:rPr lang="pt-BR" dirty="0"/>
              <a:t>9 - Faça um programa que leia um vetor de 10 números. Leia um número  x. Conte os múltiplos de um número inteiro  x num vetor e mostre-os na tela.</a:t>
            </a:r>
          </a:p>
          <a:p>
            <a:endParaRPr lang="pt-BR" dirty="0"/>
          </a:p>
          <a:p>
            <a:r>
              <a:rPr lang="pt-BR" dirty="0"/>
              <a:t>10. Faça um vetor de tamanho 50 preenchendo-o cada elemento o seguinte valor: (i+ 5 ∗ i)%(i+ 1), sendo i a </a:t>
            </a:r>
            <a:r>
              <a:rPr lang="pt-BR" dirty="0" err="1"/>
              <a:t>posicao</a:t>
            </a:r>
            <a:r>
              <a:rPr lang="pt-BR" dirty="0"/>
              <a:t> do elemento no vetor. Em seguida imprima o vetor na tela. ˜</a:t>
            </a:r>
          </a:p>
          <a:p>
            <a:endParaRPr lang="pt-BR" dirty="0"/>
          </a:p>
          <a:p>
            <a:r>
              <a:rPr lang="pt-BR" dirty="0"/>
              <a:t>11. Escreva um programa que leia números inteiros no intervalo [0,50] e os armazene em um vetor com 10 </a:t>
            </a:r>
            <a:r>
              <a:rPr lang="pt-BR" dirty="0" err="1"/>
              <a:t>posicoes</a:t>
            </a:r>
            <a:r>
              <a:rPr lang="pt-BR" dirty="0"/>
              <a:t>. Preencha um segundo vetor apenas com os números ımpares do primeiro vetor. Imprima os dois vetores, 2 elementos por linha.</a:t>
            </a:r>
          </a:p>
          <a:p>
            <a:endParaRPr lang="pt-BR" dirty="0"/>
          </a:p>
          <a:p>
            <a:r>
              <a:rPr lang="pt-BR" dirty="0"/>
              <a:t>12. Faca um programa que receba do usuário dois vetores A e B com 10 números inteiros cada. Crie um novo vetor denominado C calculando C = A - B. Mostre na tela os dados do vetor C.</a:t>
            </a:r>
          </a:p>
          <a:p>
            <a:endParaRPr lang="pt-BR" dirty="0"/>
          </a:p>
          <a:p>
            <a:r>
              <a:rPr lang="pt-BR" dirty="0"/>
              <a:t>13. Faca um programa que leia dois vetores de 10 posições e calcule outro vetor contendo, nas posições pares os valores do primeiro e nas </a:t>
            </a:r>
            <a:r>
              <a:rPr lang="pt-BR" dirty="0" err="1"/>
              <a:t>posicoes</a:t>
            </a:r>
            <a:r>
              <a:rPr lang="pt-BR" dirty="0"/>
              <a:t> impares os valores do segundo.</a:t>
            </a:r>
          </a:p>
          <a:p>
            <a:endParaRPr lang="pt-BR" dirty="0"/>
          </a:p>
          <a:p>
            <a:r>
              <a:rPr lang="pt-BR" dirty="0"/>
              <a:t>14. Faca um programa que leia dez conjuntos de dois valores, o primeiro representando o numero do aluno e o segundo representando a sua altura em metros. Encontre o aluno mais baixo e o mais alto. Mostre o numero do aluno mais baixo e do mais alto, juntamente com suas alturas.</a:t>
            </a:r>
          </a:p>
        </p:txBody>
      </p:sp>
    </p:spTree>
    <p:extLst>
      <p:ext uri="{BB962C8B-B14F-4D97-AF65-F5344CB8AC3E}">
        <p14:creationId xmlns:p14="http://schemas.microsoft.com/office/powerpoint/2010/main" val="9253797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AC541FF-2680-B80C-8254-6B3F5141FA01}"/>
              </a:ext>
            </a:extLst>
          </p:cNvPr>
          <p:cNvSpPr txBox="1"/>
          <p:nvPr/>
        </p:nvSpPr>
        <p:spPr>
          <a:xfrm>
            <a:off x="751840" y="243277"/>
            <a:ext cx="8717280" cy="5951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3600" b="1" kern="100" dirty="0" err="1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Try-Except</a:t>
            </a:r>
            <a:r>
              <a:rPr lang="pt-BR" sz="36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em Python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pt-BR" sz="3600" kern="100" dirty="0">
              <a:solidFill>
                <a:srgbClr val="C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pt-BR" sz="2000" b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Visão Geral</a:t>
            </a:r>
            <a:endParaRPr lang="pt-BR" sz="1800" kern="100" dirty="0">
              <a:solidFill>
                <a:srgbClr val="00206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try-except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é usado em Python para tratar erros em tempo de execução, 	permitindo que seu programa continue rodando mesmo quando um erro 	ocorre.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pt-BR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pt-BR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15000"/>
              </a:lnSpc>
              <a:spcAft>
                <a:spcPts val="800"/>
              </a:spcAft>
            </a:pPr>
            <a:r>
              <a:rPr lang="pt-BR" sz="2000" b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Fluxo de Controle com </a:t>
            </a:r>
            <a:r>
              <a:rPr lang="pt-BR" sz="2000" b="1" kern="100" dirty="0" err="1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Try-Except</a:t>
            </a:r>
            <a:endParaRPr lang="pt-BR" kern="100" dirty="0">
              <a:solidFill>
                <a:srgbClr val="00206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Try</a:t>
            </a:r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Block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Contém o código que pode gerar a exceção.</a:t>
            </a:r>
          </a:p>
          <a:p>
            <a:pPr marL="1257300" lvl="2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Except</a:t>
            </a:r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Block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Executa caso uma exceção ocorra no bloco </a:t>
            </a:r>
            <a:r>
              <a:rPr lang="pt-BR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try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1257300" lvl="2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Else Block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(opcional): Executa se nenhum erro ocorrer.</a:t>
            </a:r>
          </a:p>
          <a:p>
            <a:pPr marL="1257300" lvl="2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Finally</a:t>
            </a:r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Block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(opcional): Sempre executa, erro ou não.</a:t>
            </a:r>
          </a:p>
        </p:txBody>
      </p:sp>
    </p:spTree>
    <p:extLst>
      <p:ext uri="{BB962C8B-B14F-4D97-AF65-F5344CB8AC3E}">
        <p14:creationId xmlns:p14="http://schemas.microsoft.com/office/powerpoint/2010/main" val="10078544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AB5881A-9112-041C-8A8B-1460D07AB90D}"/>
              </a:ext>
            </a:extLst>
          </p:cNvPr>
          <p:cNvSpPr txBox="1"/>
          <p:nvPr/>
        </p:nvSpPr>
        <p:spPr>
          <a:xfrm>
            <a:off x="4155440" y="132614"/>
            <a:ext cx="5933440" cy="2308324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pt-BR" dirty="0" err="1"/>
              <a:t>try</a:t>
            </a:r>
            <a:r>
              <a:rPr lang="pt-BR" dirty="0"/>
              <a:t>:</a:t>
            </a:r>
          </a:p>
          <a:p>
            <a:r>
              <a:rPr lang="pt-BR" dirty="0"/>
              <a:t>    # Código que pode causar exceção</a:t>
            </a:r>
          </a:p>
          <a:p>
            <a:r>
              <a:rPr lang="pt-BR" dirty="0" err="1"/>
              <a:t>except</a:t>
            </a:r>
            <a:r>
              <a:rPr lang="pt-BR" dirty="0"/>
              <a:t> </a:t>
            </a:r>
            <a:r>
              <a:rPr lang="pt-BR" dirty="0" err="1"/>
              <a:t>ExceptionType</a:t>
            </a:r>
            <a:r>
              <a:rPr lang="pt-BR" dirty="0"/>
              <a:t> as e:</a:t>
            </a:r>
          </a:p>
          <a:p>
            <a:r>
              <a:rPr lang="pt-BR" dirty="0"/>
              <a:t>    # Tratamento da exceção</a:t>
            </a:r>
          </a:p>
          <a:p>
            <a:r>
              <a:rPr lang="pt-BR" dirty="0" err="1"/>
              <a:t>else</a:t>
            </a:r>
            <a:r>
              <a:rPr lang="pt-BR" dirty="0"/>
              <a:t>:</a:t>
            </a:r>
          </a:p>
          <a:p>
            <a:r>
              <a:rPr lang="pt-BR" dirty="0"/>
              <a:t>    # Código executado se não houver exceção</a:t>
            </a:r>
          </a:p>
          <a:p>
            <a:r>
              <a:rPr lang="pt-BR" dirty="0" err="1"/>
              <a:t>finally</a:t>
            </a:r>
            <a:r>
              <a:rPr lang="pt-BR" dirty="0"/>
              <a:t>:</a:t>
            </a:r>
          </a:p>
          <a:p>
            <a:r>
              <a:rPr lang="pt-BR" dirty="0"/>
              <a:t>    # Limpeza de recursos (sempre executado)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27AB69-C159-AEF0-C5F6-CA60C3F1156A}"/>
              </a:ext>
            </a:extLst>
          </p:cNvPr>
          <p:cNvSpPr txBox="1"/>
          <p:nvPr/>
        </p:nvSpPr>
        <p:spPr>
          <a:xfrm>
            <a:off x="304800" y="132614"/>
            <a:ext cx="3738880" cy="630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32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Estrutura Básica</a:t>
            </a:r>
            <a:endParaRPr lang="pt-BR" sz="3200" kern="100" dirty="0">
              <a:solidFill>
                <a:srgbClr val="0070C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BC36381-A943-53DD-E5E0-C5F8E826D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530" y="3090624"/>
            <a:ext cx="6404989" cy="341995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BC01211E-0F25-D6FD-CF2F-AE788653FB38}"/>
              </a:ext>
            </a:extLst>
          </p:cNvPr>
          <p:cNvSpPr txBox="1"/>
          <p:nvPr/>
        </p:nvSpPr>
        <p:spPr>
          <a:xfrm>
            <a:off x="467360" y="3922294"/>
            <a:ext cx="6096000" cy="630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32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Fluxo</a:t>
            </a:r>
            <a:endParaRPr lang="pt-BR" sz="3200" kern="100" dirty="0">
              <a:solidFill>
                <a:srgbClr val="0070C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3418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A0AA31E-DC37-31C7-5DEB-C95309A6EF3A}"/>
              </a:ext>
            </a:extLst>
          </p:cNvPr>
          <p:cNvSpPr txBox="1"/>
          <p:nvPr/>
        </p:nvSpPr>
        <p:spPr>
          <a:xfrm>
            <a:off x="508000" y="240715"/>
            <a:ext cx="60960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rgbClr val="0070C0"/>
                </a:solidFill>
              </a:rPr>
              <a:t>Exemplos Práticos</a:t>
            </a:r>
          </a:p>
          <a:p>
            <a:pPr>
              <a:buNone/>
            </a:pPr>
            <a:endParaRPr lang="pt-BR" sz="2800" b="1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pt-BR" b="1" dirty="0"/>
              <a:t>Exemplo 1: Tratamento de Divisão por Zero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CEF9BBC-0D14-6209-323E-748CC5154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088" y="1601250"/>
            <a:ext cx="7516458" cy="510629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803003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D919A89-3CC0-93BC-7203-4FBC65907BCF}"/>
              </a:ext>
            </a:extLst>
          </p:cNvPr>
          <p:cNvSpPr txBox="1"/>
          <p:nvPr/>
        </p:nvSpPr>
        <p:spPr>
          <a:xfrm>
            <a:off x="568094" y="389374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Exemplo 2: Tratamento de Erro de Conversão de Tipo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E209785-6852-79E5-20C2-394356158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442" y="1279540"/>
            <a:ext cx="9803032" cy="491344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461255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50ACC12-BB83-C919-80D0-302FEE1D6B40}"/>
              </a:ext>
            </a:extLst>
          </p:cNvPr>
          <p:cNvSpPr txBox="1"/>
          <p:nvPr/>
        </p:nvSpPr>
        <p:spPr>
          <a:xfrm>
            <a:off x="579120" y="31825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70C0"/>
                </a:solidFill>
              </a:rPr>
              <a:t>Exemplo 3: Tratamento de Divisão por Zero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8AE1D7-323D-71C8-425E-AF2C452C1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151" y="1176018"/>
            <a:ext cx="9711356" cy="482467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303331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2B3658C-C516-FE8C-6400-31F4BFF9A9C9}"/>
              </a:ext>
            </a:extLst>
          </p:cNvPr>
          <p:cNvSpPr txBox="1"/>
          <p:nvPr/>
        </p:nvSpPr>
        <p:spPr>
          <a:xfrm>
            <a:off x="203200" y="314960"/>
            <a:ext cx="11064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C00000"/>
                </a:solidFill>
              </a:rPr>
              <a:t>EXERCICIOS 23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C415EC7-C202-5322-DBB2-F3590D83101D}"/>
              </a:ext>
            </a:extLst>
          </p:cNvPr>
          <p:cNvSpPr txBox="1"/>
          <p:nvPr/>
        </p:nvSpPr>
        <p:spPr>
          <a:xfrm>
            <a:off x="843280" y="842804"/>
            <a:ext cx="10495280" cy="55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Elaborar programas em </a:t>
            </a:r>
            <a:r>
              <a:rPr lang="pt-BR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Pythom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que implemente as estruturas TRY-EXCEPT descritas abaixo: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Calculadora de Divisão Segura</a:t>
            </a:r>
            <a:endParaRPr lang="pt-B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Implemente uma função de calculadora que peça ao usuário dois números e divida o primeiro pelo segundo. Use </a:t>
            </a:r>
            <a:r>
              <a:rPr lang="pt-BR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try-except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para capturar erros de divisão por zero e valores de entrada inválidos. Certifique-se de que a função retorne um resultado válido ou uma mensagem explicativa em caso de erro.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Leitura de Arquivo com Tratamento de Erros</a:t>
            </a:r>
            <a:endParaRPr lang="pt-B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Escreva um programa que peça ao usuário o nome de um arquivo e tente abrir e ler seu conteúdo. Utilize </a:t>
            </a:r>
            <a:r>
              <a:rPr lang="pt-BR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try-except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para tratar erros como </a:t>
            </a:r>
            <a:r>
              <a:rPr lang="pt-BR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FileNotFoundError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 o arquivo não existir e </a:t>
            </a:r>
            <a:r>
              <a:rPr lang="pt-BR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IOError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para erros de leitura. Informe ao usuário o status da operação, independentemente do sucesso ou falha.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Conversão Segura de Entrada do Usuário</a:t>
            </a:r>
            <a:endParaRPr lang="pt-B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Crie um script que solicite ao usuário um número inteiro e tente converter a entrada usando </a:t>
            </a:r>
            <a:r>
              <a:rPr lang="pt-BR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(). Utilize </a:t>
            </a:r>
            <a:r>
              <a:rPr lang="pt-BR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try-except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para manejar </a:t>
            </a:r>
            <a:r>
              <a:rPr lang="pt-BR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ValueError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garantindo que o programa continue pedindo um número válido até o usuário fornecer um valor correto. Mantenha um contador de tentativas e informe o usuário sobre a quantidade de tentativas efetuadas.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Processamento Seguro de Dados em Lista</a:t>
            </a:r>
            <a:endParaRPr lang="pt-B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Desenvolva um programa que itere sobre uma lista de números fornecida pelo usuário e calcule a soma e o produto dos elementos. Use </a:t>
            </a:r>
            <a:r>
              <a:rPr lang="pt-BR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try-except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para tratar entradas inválidas (não numéricas), pulando aqueles elementos que não podem ser convertidos para números. No final, exiba a soma e o produto calculados.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Consulta de Dicionário com Tratamento de Erros</a:t>
            </a:r>
            <a:endParaRPr lang="pt-B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Escreva uma aplicação que armazene um pequeno dicionário de palavras e seus significados. Peça ao usuário que insira uma palavra para procurar o seu significado no dicionário. Use </a:t>
            </a:r>
            <a:r>
              <a:rPr lang="pt-BR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try-except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para capturar </a:t>
            </a:r>
            <a:r>
              <a:rPr lang="pt-BR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KeyError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quando a palavra não existir, e retorne uma mensagem adequada. Ofereça ao usuário a opção de adicionar novas palavras ao dicionário caso a busca não tenha sucesso.</a:t>
            </a:r>
          </a:p>
        </p:txBody>
      </p:sp>
    </p:spTree>
    <p:extLst>
      <p:ext uri="{BB962C8B-B14F-4D97-AF65-F5344CB8AC3E}">
        <p14:creationId xmlns:p14="http://schemas.microsoft.com/office/powerpoint/2010/main" val="28026970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6169</TotalTime>
  <Words>8817</Words>
  <Application>Microsoft Office PowerPoint</Application>
  <PresentationFormat>Widescreen</PresentationFormat>
  <Paragraphs>810</Paragraphs>
  <Slides>58</Slides>
  <Notes>2</Notes>
  <HiddenSlides>0</HiddenSlides>
  <MMClips>0</MMClips>
  <ScaleCrop>false</ScaleCrop>
  <HeadingPairs>
    <vt:vector size="8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58</vt:i4>
      </vt:variant>
    </vt:vector>
  </HeadingPairs>
  <TitlesOfParts>
    <vt:vector size="70" baseType="lpstr">
      <vt:lpstr>Abadi</vt:lpstr>
      <vt:lpstr>Aptos</vt:lpstr>
      <vt:lpstr>Arial</vt:lpstr>
      <vt:lpstr>Arial</vt:lpstr>
      <vt:lpstr>Arial Black</vt:lpstr>
      <vt:lpstr>Calibri</vt:lpstr>
      <vt:lpstr>Calibri Light</vt:lpstr>
      <vt:lpstr>Courier New</vt:lpstr>
      <vt:lpstr>verdana</vt:lpstr>
      <vt:lpstr>Wingdings</vt:lpstr>
      <vt:lpstr>Tema do Office</vt:lpstr>
      <vt:lpstr>Planilha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Heraclito Amancio Pereira Junior</dc:creator>
  <cp:lastModifiedBy>Heraclito Amancio Pereira Junior</cp:lastModifiedBy>
  <cp:revision>265</cp:revision>
  <dcterms:created xsi:type="dcterms:W3CDTF">2022-09-04T13:14:36Z</dcterms:created>
  <dcterms:modified xsi:type="dcterms:W3CDTF">2025-10-04T21:09:30Z</dcterms:modified>
</cp:coreProperties>
</file>